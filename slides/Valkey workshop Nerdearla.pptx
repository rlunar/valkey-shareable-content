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embeddedFontLst>
    <p:embeddedFont>
      <p:font typeface="Century Gothic" panose="020B0502020202020204" pitchFamily="34" charset="0"/>
      <p:regular r:id="rId26"/>
      <p:bold r:id="rId27"/>
      <p:italic r:id="rId28"/>
      <p:boldItalic r:id="rId29"/>
    </p:embeddedFont>
    <p:embeddedFont>
      <p:font typeface="Play" pitchFamily="2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General" id="{955B2512-A0E9-004C-A974-F37B9108860F}">
          <p14:sldIdLst>
            <p14:sldId id="256"/>
            <p14:sldId id="277"/>
            <p14:sldId id="257"/>
            <p14:sldId id="258"/>
            <p14:sldId id="259"/>
            <p14:sldId id="260"/>
            <p14:sldId id="261"/>
          </p14:sldIdLst>
        </p14:section>
        <p14:section name="Features" id="{B6C2DFD3-F7BC-E445-8136-6E30FB47F7B9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Template examples" id="{899405CC-6E1E-4C49-BD4C-AAB5EBF02875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gBjwdw4Z9xz+EjAItyouivSXpb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19"/>
    <p:restoredTop sz="87192"/>
  </p:normalViewPr>
  <p:slideViewPr>
    <p:cSldViewPr snapToGrid="0">
      <p:cViewPr varScale="1">
        <p:scale>
          <a:sx n="105" d="100"/>
          <a:sy n="105" d="100"/>
        </p:scale>
        <p:origin x="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65" d="100"/>
          <a:sy n="165" d="100"/>
        </p:scale>
        <p:origin x="5296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56" Type="http://customschemas.google.com/relationships/presentationmetadata" Target="meta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60A7F18-A111-AB6A-97B8-B13BD21983D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721FC1-A360-DBB8-0D4E-F8382AEAEE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8BFF4-3DC3-D34C-B801-A1856919C1BB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CAE0C6-45D2-84B2-2F94-5D3078BB1B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69EAEC-8756-8E23-D948-BCAD92B39E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76D86-3DF6-9345-A4E1-DF218D723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166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3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3048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228600" algn="l" rtl="0">
              <a:spcBef>
                <a:spcPts val="30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sldNum" idx="12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endParaRPr sz="1000" b="0" i="0" u="none" strike="noStrike" cap="non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  <p:extLst>
    <p:ext uri="{620B2872-D7B9-4A21-9093-7833F8D536E1}">
      <p15:sldGuideLst xmlns:p15="http://schemas.microsoft.com/office/powerpoint/2012/main">
        <p15:guide id="1" pos="2160">
          <p15:clr>
            <a:srgbClr val="F26B43"/>
          </p15:clr>
        </p15:guide>
        <p15:guide id="2" orient="horz" pos="2880">
          <p15:clr>
            <a:srgbClr val="F26B43"/>
          </p15:clr>
        </p15:guide>
        <p15:guide id="3" pos="264">
          <p15:clr>
            <a:srgbClr val="F26B43"/>
          </p15:clr>
        </p15:guide>
        <p15:guide id="4" pos="4056">
          <p15:clr>
            <a:srgbClr val="F26B43"/>
          </p15:clr>
        </p15:guide>
        <p15:guide id="5" orient="horz" pos="288">
          <p15:clr>
            <a:srgbClr val="F26B43"/>
          </p15:clr>
        </p15:guide>
        <p15:guide id="6" orient="horz" pos="2640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lkey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2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Title is an assertion, not a label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lkey Title B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77200" y="0"/>
            <a:ext cx="4114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valkey-stacked-whi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4673" y="2628900"/>
            <a:ext cx="1859853" cy="1600200"/>
          </a:xfrm>
          <a:prstGeom prst="rect">
            <a:avLst/>
          </a:prstGeom>
        </p:spPr>
      </p:pic>
      <p:sp>
        <p:nvSpPr>
          <p:cNvPr id="4" name="Title"/>
          <p:cNvSpPr>
            <a:spLocks noGrp="1"/>
          </p:cNvSpPr>
          <p:nvPr>
            <p:ph type="ctrTitle" hasCustomPrompt="1"/>
          </p:nvPr>
        </p:nvSpPr>
        <p:spPr>
          <a:xfrm>
            <a:off x="609600" y="2360930"/>
            <a:ext cx="6781800" cy="15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40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5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09600" y="3160000"/>
            <a:ext cx="67818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A single line that sets up the talk</a:t>
            </a:r>
          </a:p>
        </p:txBody>
      </p:sp>
      <p:sp>
        <p:nvSpPr>
          <p:cNvPr id="6" name="Speaker"/>
          <p:cNvSpPr>
            <a:spLocks noGrp="1"/>
          </p:cNvSpPr>
          <p:nvPr>
            <p:ph type="body" idx="2" hasCustomPrompt="1"/>
          </p:nvPr>
        </p:nvSpPr>
        <p:spPr>
          <a:xfrm>
            <a:off x="609600" y="4000000"/>
            <a:ext cx="4000000" cy="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Madelyn Olson</a:t>
            </a:r>
          </a:p>
        </p:txBody>
      </p:sp>
      <p:sp>
        <p:nvSpPr>
          <p:cNvPr id="7" name="Speaker role"/>
          <p:cNvSpPr>
            <a:spLocks noGrp="1"/>
          </p:cNvSpPr>
          <p:nvPr>
            <p:ph type="body" idx="3" hasCustomPrompt="1"/>
          </p:nvPr>
        </p:nvSpPr>
        <p:spPr>
          <a:xfrm>
            <a:off x="609600" y="4330000"/>
            <a:ext cx="4000000" cy="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Valkey Maintainer and Engineer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lkey Title Top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828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2000" cy="73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valkey-horizontal-whi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7792" y="548640"/>
            <a:ext cx="2164608" cy="731520"/>
          </a:xfrm>
          <a:prstGeom prst="rect">
            <a:avLst/>
          </a:prstGeom>
        </p:spPr>
      </p:pic>
      <p:sp>
        <p:nvSpPr>
          <p:cNvPr id="5" name="Title"/>
          <p:cNvSpPr>
            <a:spLocks noGrp="1"/>
          </p:cNvSpPr>
          <p:nvPr>
            <p:ph type="ctrTitle" hasCustomPrompt="1"/>
          </p:nvPr>
        </p:nvSpPr>
        <p:spPr>
          <a:xfrm>
            <a:off x="609600" y="2700000"/>
            <a:ext cx="9800000" cy="16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44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09600" y="3700000"/>
            <a:ext cx="98000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A single line that sets up the talk</a:t>
            </a:r>
          </a:p>
        </p:txBody>
      </p:sp>
      <p:sp>
        <p:nvSpPr>
          <p:cNvPr id="7" name="Speaker"/>
          <p:cNvSpPr>
            <a:spLocks noGrp="1"/>
          </p:cNvSpPr>
          <p:nvPr>
            <p:ph type="body" idx="2" hasCustomPrompt="1"/>
          </p:nvPr>
        </p:nvSpPr>
        <p:spPr>
          <a:xfrm>
            <a:off x="609600" y="4600000"/>
            <a:ext cx="5000000" cy="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Madelyn Olson</a:t>
            </a:r>
          </a:p>
        </p:txBody>
      </p:sp>
      <p:sp>
        <p:nvSpPr>
          <p:cNvPr id="8" name="Speaker role"/>
          <p:cNvSpPr>
            <a:spLocks noGrp="1"/>
          </p:cNvSpPr>
          <p:nvPr>
            <p:ph type="body" idx="3" hasCustomPrompt="1"/>
          </p:nvPr>
        </p:nvSpPr>
        <p:spPr>
          <a:xfrm>
            <a:off x="609600" y="4930000"/>
            <a:ext cx="5000000" cy="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Valkey Maintainer and Engineer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lkey Title Bottom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669280"/>
            <a:ext cx="12192000" cy="1188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valkey-horizontal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7832" y="1100000"/>
            <a:ext cx="2976336" cy="1005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38800" y="3560000"/>
            <a:ext cx="9144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itle"/>
          <p:cNvSpPr>
            <a:spLocks noGrp="1"/>
          </p:cNvSpPr>
          <p:nvPr>
            <p:ph type="ctrTitle" hasCustomPrompt="1"/>
          </p:nvPr>
        </p:nvSpPr>
        <p:spPr>
          <a:xfrm>
            <a:off x="609600" y="2600000"/>
            <a:ext cx="11062800" cy="1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40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09600" y="3900000"/>
            <a:ext cx="110628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A single line that sets up the talk</a:t>
            </a:r>
          </a:p>
        </p:txBody>
      </p:sp>
      <p:sp>
        <p:nvSpPr>
          <p:cNvPr id="7" name="Speaker"/>
          <p:cNvSpPr>
            <a:spLocks noGrp="1"/>
          </p:cNvSpPr>
          <p:nvPr>
            <p:ph type="body" idx="2" hasCustomPrompt="1"/>
          </p:nvPr>
        </p:nvSpPr>
        <p:spPr>
          <a:xfrm>
            <a:off x="609600" y="6069280"/>
            <a:ext cx="110628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 i="0">
                <a:solidFill>
                  <a:schemeClr val="lt1"/>
                </a:solidFill>
                <a:latin typeface="Arial"/>
              </a:defRPr>
            </a:lvl1pPr>
          </a:lstStyle>
          <a:p>
            <a:r>
              <a:rPr lang="en-US" dirty="0"/>
              <a:t>Madelyn Olson</a:t>
            </a:r>
          </a:p>
        </p:txBody>
      </p:sp>
      <p:sp>
        <p:nvSpPr>
          <p:cNvPr id="8" name="Speaker role"/>
          <p:cNvSpPr>
            <a:spLocks noGrp="1"/>
          </p:cNvSpPr>
          <p:nvPr>
            <p:ph type="body" idx="3" hasCustomPrompt="1"/>
          </p:nvPr>
        </p:nvSpPr>
        <p:spPr>
          <a:xfrm>
            <a:off x="609600" y="6449280"/>
            <a:ext cx="11062800" cy="3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0" i="0">
                <a:solidFill>
                  <a:schemeClr val="lt1"/>
                </a:solidFill>
                <a:latin typeface="Arial"/>
              </a:defRPr>
            </a:lvl1pPr>
          </a:lstStyle>
          <a:p>
            <a:r>
              <a:rPr lang="en-US" dirty="0"/>
              <a:t>Valkey Maintainer and Engineer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lkey Ins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200000"/>
            <a:ext cx="1371600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Statement"/>
          <p:cNvSpPr>
            <a:spLocks noGrp="1"/>
          </p:cNvSpPr>
          <p:nvPr>
            <p:ph type="body" idx="1" hasCustomPrompt="1"/>
          </p:nvPr>
        </p:nvSpPr>
        <p:spPr>
          <a:xfrm>
            <a:off x="609600" y="2500000"/>
            <a:ext cx="9144000" cy="18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4999"/>
              </a:lnSpc>
              <a:buNone/>
              <a:defRPr sz="40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Steady state is a lie. The peak is the only number that matters.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2" hasCustomPrompt="1"/>
          </p:nvPr>
        </p:nvSpPr>
        <p:spPr>
          <a:xfrm>
            <a:off x="609600" y="4400000"/>
            <a:ext cx="91440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Optional caption. Delete it if the line stands alone.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lkey Insight B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valkey-horizontal-whi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2716" y="5943597"/>
            <a:ext cx="1311447" cy="443198"/>
          </a:xfrm>
          <a:prstGeom prst="rect">
            <a:avLst/>
          </a:prstGeom>
        </p:spPr>
      </p:pic>
      <p:sp>
        <p:nvSpPr>
          <p:cNvPr id="4" name="Statement"/>
          <p:cNvSpPr>
            <a:spLocks noGrp="1"/>
          </p:cNvSpPr>
          <p:nvPr>
            <p:ph type="body" idx="1" hasCustomPrompt="1"/>
          </p:nvPr>
        </p:nvSpPr>
        <p:spPr>
          <a:xfrm>
            <a:off x="609600" y="2600000"/>
            <a:ext cx="11062800" cy="18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4999"/>
              </a:lnSpc>
              <a:buNone/>
              <a:defRPr sz="4000" b="1" i="0">
                <a:solidFill>
                  <a:schemeClr val="lt1"/>
                </a:solidFill>
                <a:latin typeface="Arial"/>
              </a:defRPr>
            </a:lvl1pPr>
          </a:lstStyle>
          <a:p>
            <a:r>
              <a:rPr lang="en-US" dirty="0"/>
              <a:t>You cannot provision your way out of a workload that moves.</a:t>
            </a:r>
          </a:p>
        </p:txBody>
      </p:sp>
      <p:sp>
        <p:nvSpPr>
          <p:cNvPr id="5" name="Caption"/>
          <p:cNvSpPr>
            <a:spLocks noGrp="1"/>
          </p:cNvSpPr>
          <p:nvPr>
            <p:ph type="body" idx="2" hasCustomPrompt="1"/>
          </p:nvPr>
        </p:nvSpPr>
        <p:spPr>
          <a:xfrm>
            <a:off x="609600" y="4500000"/>
            <a:ext cx="110628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lt1"/>
                </a:solidFill>
                <a:latin typeface="Arial"/>
              </a:defRPr>
            </a:lvl1pPr>
          </a:lstStyle>
          <a:p>
            <a:r>
              <a:rPr lang="en-US" dirty="0"/>
              <a:t>Optional caption.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lkey 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"/>
          <p:cNvSpPr>
            <a:spLocks noGrp="1"/>
          </p:cNvSpPr>
          <p:nvPr>
            <p:ph type="body" idx="1" hasCustomPrompt="1"/>
          </p:nvPr>
        </p:nvSpPr>
        <p:spPr>
          <a:xfrm>
            <a:off x="609600" y="1800000"/>
            <a:ext cx="11062800" cy="21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3000" b="1" i="0">
                <a:solidFill>
                  <a:schemeClr val="accent1"/>
                </a:solidFill>
                <a:latin typeface="Arial"/>
              </a:defRPr>
            </a:lvl1pPr>
          </a:lstStyle>
          <a:p>
            <a:r>
              <a:rPr lang="en-US" dirty="0"/>
              <a:t>3x</a:t>
            </a:r>
          </a:p>
        </p:txBody>
      </p:sp>
      <p:sp>
        <p:nvSpPr>
          <p:cNvPr id="3" name="Label"/>
          <p:cNvSpPr>
            <a:spLocks noGrp="1"/>
          </p:cNvSpPr>
          <p:nvPr>
            <p:ph type="body" idx="2" hasCustomPrompt="1"/>
          </p:nvPr>
        </p:nvSpPr>
        <p:spPr>
          <a:xfrm>
            <a:off x="609600" y="3950000"/>
            <a:ext cx="11062800" cy="5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28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throughput on the same hardware</a:t>
            </a:r>
          </a:p>
        </p:txBody>
      </p:sp>
      <p:sp>
        <p:nvSpPr>
          <p:cNvPr id="4" name="Source"/>
          <p:cNvSpPr>
            <a:spLocks noGrp="1"/>
          </p:cNvSpPr>
          <p:nvPr>
            <p:ph type="body" idx="3" hasCustomPrompt="1"/>
          </p:nvPr>
        </p:nvSpPr>
        <p:spPr>
          <a:xfrm>
            <a:off x="609600" y="4560000"/>
            <a:ext cx="110628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Source: valkey.io/blog/...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lkey List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2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Title is an assertion, not a label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w 1"/>
          <p:cNvSpPr>
            <a:spLocks noGrp="1"/>
          </p:cNvSpPr>
          <p:nvPr>
            <p:ph type="body" idx="1" hasCustomPrompt="1"/>
          </p:nvPr>
        </p:nvSpPr>
        <p:spPr>
          <a:xfrm>
            <a:off x="682752" y="1445931"/>
            <a:ext cx="1098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marL="0" indent="0" algn="l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09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w 2"/>
          <p:cNvSpPr>
            <a:spLocks noGrp="1"/>
          </p:cNvSpPr>
          <p:nvPr>
            <p:ph type="body" idx="2" hasCustomPrompt="1"/>
          </p:nvPr>
        </p:nvSpPr>
        <p:spPr>
          <a:xfrm>
            <a:off x="682752" y="2095931"/>
            <a:ext cx="1098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marL="0" indent="0" algn="l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4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w 3"/>
          <p:cNvSpPr>
            <a:spLocks noGrp="1"/>
          </p:cNvSpPr>
          <p:nvPr>
            <p:ph type="body" idx="3" hasCustomPrompt="1"/>
          </p:nvPr>
        </p:nvSpPr>
        <p:spPr>
          <a:xfrm>
            <a:off x="682752" y="2745931"/>
            <a:ext cx="1098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marL="0" indent="0" algn="l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39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w 4"/>
          <p:cNvSpPr>
            <a:spLocks noGrp="1"/>
          </p:cNvSpPr>
          <p:nvPr>
            <p:ph type="body" idx="4" hasCustomPrompt="1"/>
          </p:nvPr>
        </p:nvSpPr>
        <p:spPr>
          <a:xfrm>
            <a:off x="682752" y="3395931"/>
            <a:ext cx="1098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marL="0" indent="0" algn="l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04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w 5"/>
          <p:cNvSpPr>
            <a:spLocks noGrp="1"/>
          </p:cNvSpPr>
          <p:nvPr>
            <p:ph type="body" idx="5" hasCustomPrompt="1"/>
          </p:nvPr>
        </p:nvSpPr>
        <p:spPr>
          <a:xfrm>
            <a:off x="682752" y="4045931"/>
            <a:ext cx="10989648" cy="520000"/>
          </a:xfrm>
          <a:prstGeom prst="rect">
            <a:avLst/>
          </a:prstGeom>
          <a:solidFill>
            <a:schemeClr val="lt2"/>
          </a:solidFill>
        </p:spPr>
        <p:txBody>
          <a:bodyPr wrap="square" lIns="182880" tIns="0" rIns="182880" bIns="0" anchor="ctr">
            <a:normAutofit/>
          </a:bodyPr>
          <a:lstStyle>
            <a:lvl1pPr marL="0" indent="0" algn="l">
              <a:buNone/>
              <a:defRPr sz="1800" b="0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One idea, one line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lkey Two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2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Title is an assertion, not a label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5431400" cy="39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vertical-scal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2480" y="1628811"/>
            <a:ext cx="1097280" cy="1097280"/>
          </a:xfrm>
          <a:prstGeom prst="rect">
            <a:avLst/>
          </a:prstGeom>
        </p:spPr>
      </p:pic>
      <p:sp>
        <p:nvSpPr>
          <p:cNvPr id="5" name="Heading 1"/>
          <p:cNvSpPr>
            <a:spLocks noGrp="1"/>
          </p:cNvSpPr>
          <p:nvPr>
            <p:ph type="body" idx="1" hasCustomPrompt="1"/>
          </p:nvPr>
        </p:nvSpPr>
        <p:spPr>
          <a:xfrm>
            <a:off x="792480" y="2863251"/>
            <a:ext cx="5065640" cy="40011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Heading one</a:t>
            </a:r>
          </a:p>
        </p:txBody>
      </p:sp>
      <p:sp>
        <p:nvSpPr>
          <p:cNvPr id="6" name="Body 1"/>
          <p:cNvSpPr>
            <a:spLocks noGrp="1"/>
          </p:cNvSpPr>
          <p:nvPr>
            <p:ph type="body" idx="2" hasCustomPrompt="1"/>
          </p:nvPr>
        </p:nvSpPr>
        <p:spPr>
          <a:xfrm>
            <a:off x="792480" y="3309081"/>
            <a:ext cx="5065640" cy="185397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1300" b="0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Replace this with one supporting sentence. Keep it to a single idea so the card stays scannable from the back of the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1000" y="1445931"/>
            <a:ext cx="5431400" cy="390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horizontal-scal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3880" y="1628811"/>
            <a:ext cx="1097280" cy="1097280"/>
          </a:xfrm>
          <a:prstGeom prst="rect">
            <a:avLst/>
          </a:prstGeom>
        </p:spPr>
      </p:pic>
      <p:sp>
        <p:nvSpPr>
          <p:cNvPr id="9" name="Heading 2"/>
          <p:cNvSpPr>
            <a:spLocks noGrp="1"/>
          </p:cNvSpPr>
          <p:nvPr>
            <p:ph type="body" idx="3" hasCustomPrompt="1"/>
          </p:nvPr>
        </p:nvSpPr>
        <p:spPr>
          <a:xfrm>
            <a:off x="6423880" y="2863251"/>
            <a:ext cx="5065640" cy="40011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Heading two</a:t>
            </a:r>
          </a:p>
        </p:txBody>
      </p:sp>
      <p:sp>
        <p:nvSpPr>
          <p:cNvPr id="10" name="Body 2"/>
          <p:cNvSpPr>
            <a:spLocks noGrp="1"/>
          </p:cNvSpPr>
          <p:nvPr>
            <p:ph type="body" idx="4" hasCustomPrompt="1"/>
          </p:nvPr>
        </p:nvSpPr>
        <p:spPr>
          <a:xfrm>
            <a:off x="6423880" y="3309081"/>
            <a:ext cx="5065640" cy="185397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1300" b="0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Replace this with one supporting sentence. Keep it to a single idea so the card stays scannable from the back of the room.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lkey Thre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609600" y="400019"/>
            <a:ext cx="11062800" cy="443198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2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Title is an assertion, not a label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erform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2480" y="1628811"/>
            <a:ext cx="1097280" cy="1097280"/>
          </a:xfrm>
          <a:prstGeom prst="rect">
            <a:avLst/>
          </a:prstGeom>
        </p:spPr>
      </p:pic>
      <p:sp>
        <p:nvSpPr>
          <p:cNvPr id="5" name="Heading 1"/>
          <p:cNvSpPr>
            <a:spLocks noGrp="1"/>
          </p:cNvSpPr>
          <p:nvPr>
            <p:ph type="body" idx="1" hasCustomPrompt="1"/>
          </p:nvPr>
        </p:nvSpPr>
        <p:spPr>
          <a:xfrm>
            <a:off x="792480" y="2863251"/>
            <a:ext cx="3188506" cy="40011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Heading one</a:t>
            </a:r>
          </a:p>
        </p:txBody>
      </p:sp>
      <p:sp>
        <p:nvSpPr>
          <p:cNvPr id="6" name="Body 1"/>
          <p:cNvSpPr>
            <a:spLocks noGrp="1"/>
          </p:cNvSpPr>
          <p:nvPr>
            <p:ph type="body" idx="2" hasCustomPrompt="1"/>
          </p:nvPr>
        </p:nvSpPr>
        <p:spPr>
          <a:xfrm>
            <a:off x="792480" y="3309081"/>
            <a:ext cx="3188506" cy="185397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1300" b="0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Replace this with one supporting sentence. Keep it to a single idea so the card stays scannable from the back of the room.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3866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secur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6746" y="1628811"/>
            <a:ext cx="1097280" cy="1097280"/>
          </a:xfrm>
          <a:prstGeom prst="rect">
            <a:avLst/>
          </a:prstGeom>
        </p:spPr>
      </p:pic>
      <p:sp>
        <p:nvSpPr>
          <p:cNvPr id="9" name="Heading 2"/>
          <p:cNvSpPr>
            <a:spLocks noGrp="1"/>
          </p:cNvSpPr>
          <p:nvPr>
            <p:ph type="body" idx="3" hasCustomPrompt="1"/>
          </p:nvPr>
        </p:nvSpPr>
        <p:spPr>
          <a:xfrm>
            <a:off x="4546746" y="2863251"/>
            <a:ext cx="3188506" cy="40011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Heading two</a:t>
            </a:r>
          </a:p>
        </p:txBody>
      </p:sp>
      <p:sp>
        <p:nvSpPr>
          <p:cNvPr id="10" name="Body 2"/>
          <p:cNvSpPr>
            <a:spLocks noGrp="1"/>
          </p:cNvSpPr>
          <p:nvPr>
            <p:ph type="body" idx="4" hasCustomPrompt="1"/>
          </p:nvPr>
        </p:nvSpPr>
        <p:spPr>
          <a:xfrm>
            <a:off x="4546746" y="3309081"/>
            <a:ext cx="3188506" cy="185397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1300" b="0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Replace this with one supporting sentence. Keep it to a single idea so the card stays scannable from the back of the room.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8132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relia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1012" y="1628811"/>
            <a:ext cx="1097280" cy="1097280"/>
          </a:xfrm>
          <a:prstGeom prst="rect">
            <a:avLst/>
          </a:prstGeom>
        </p:spPr>
      </p:pic>
      <p:sp>
        <p:nvSpPr>
          <p:cNvPr id="13" name="Heading 3"/>
          <p:cNvSpPr>
            <a:spLocks noGrp="1"/>
          </p:cNvSpPr>
          <p:nvPr>
            <p:ph type="body" idx="5" hasCustomPrompt="1"/>
          </p:nvPr>
        </p:nvSpPr>
        <p:spPr>
          <a:xfrm>
            <a:off x="8301012" y="2863251"/>
            <a:ext cx="3188506" cy="40011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Heading three</a:t>
            </a:r>
          </a:p>
        </p:txBody>
      </p:sp>
      <p:sp>
        <p:nvSpPr>
          <p:cNvPr id="14" name="Body 3"/>
          <p:cNvSpPr>
            <a:spLocks noGrp="1"/>
          </p:cNvSpPr>
          <p:nvPr>
            <p:ph type="body" idx="6" hasCustomPrompt="1"/>
          </p:nvPr>
        </p:nvSpPr>
        <p:spPr>
          <a:xfrm>
            <a:off x="8301012" y="3309081"/>
            <a:ext cx="3188506" cy="185397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buNone/>
              <a:defRPr sz="1300" b="0" i="0">
                <a:solidFill>
                  <a:schemeClr val="accent2"/>
                </a:solidFill>
                <a:latin typeface="Arial"/>
              </a:defRPr>
            </a:lvl1pPr>
          </a:lstStyle>
          <a:p>
            <a:r>
              <a:rPr lang="en-US" dirty="0"/>
              <a:t>Replace this with one supporting sentence. Keep it to a single idea so the card stays scannable from the back of the room.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lkey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669280"/>
            <a:ext cx="12192000" cy="1188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100000"/>
            <a:ext cx="1371600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valkey-horizontal-whi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94080" y="5958840"/>
            <a:ext cx="1803840" cy="609600"/>
          </a:xfrm>
          <a:prstGeom prst="rect">
            <a:avLst/>
          </a:prstGeom>
        </p:spPr>
      </p:pic>
      <p:sp>
        <p:nvSpPr>
          <p:cNvPr id="5" name="Closing"/>
          <p:cNvSpPr>
            <a:spLocks noGrp="1"/>
          </p:cNvSpPr>
          <p:nvPr>
            <p:ph type="body" idx="1" hasCustomPrompt="1"/>
          </p:nvPr>
        </p:nvSpPr>
        <p:spPr>
          <a:xfrm>
            <a:off x="609600" y="1900000"/>
            <a:ext cx="11062800" cy="10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54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6" name="Speaker"/>
          <p:cNvSpPr>
            <a:spLocks noGrp="1"/>
          </p:cNvSpPr>
          <p:nvPr>
            <p:ph type="body" idx="2" hasCustomPrompt="1"/>
          </p:nvPr>
        </p:nvSpPr>
        <p:spPr>
          <a:xfrm>
            <a:off x="609600" y="3400000"/>
            <a:ext cx="6000000" cy="40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 i="0">
                <a:solidFill>
                  <a:schemeClr val="dk1"/>
                </a:solidFill>
                <a:latin typeface="Arial"/>
              </a:defRPr>
            </a:lvl1pPr>
          </a:lstStyle>
          <a:p>
            <a:r>
              <a:rPr lang="en-US" dirty="0"/>
              <a:t>Madelyn Olson</a:t>
            </a:r>
          </a:p>
        </p:txBody>
      </p:sp>
      <p:sp>
        <p:nvSpPr>
          <p:cNvPr id="7" name="Contact 1"/>
          <p:cNvSpPr>
            <a:spLocks noGrp="1"/>
          </p:cNvSpPr>
          <p:nvPr>
            <p:ph type="body" idx="3" hasCustomPrompt="1"/>
          </p:nvPr>
        </p:nvSpPr>
        <p:spPr>
          <a:xfrm>
            <a:off x="609600" y="3820000"/>
            <a:ext cx="6000000" cy="3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@reconditerose</a:t>
            </a:r>
          </a:p>
        </p:txBody>
      </p:sp>
      <p:sp>
        <p:nvSpPr>
          <p:cNvPr id="8" name="Contact 2"/>
          <p:cNvSpPr>
            <a:spLocks noGrp="1"/>
          </p:cNvSpPr>
          <p:nvPr>
            <p:ph type="body" idx="4" hasCustomPrompt="1"/>
          </p:nvPr>
        </p:nvSpPr>
        <p:spPr>
          <a:xfrm>
            <a:off x="609600" y="4160000"/>
            <a:ext cx="6000000" cy="3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0" i="0">
                <a:solidFill>
                  <a:schemeClr val="dk2"/>
                </a:solidFill>
                <a:latin typeface="Arial"/>
              </a:defRPr>
            </a:lvl1pPr>
          </a:lstStyle>
          <a:p>
            <a:r>
              <a:rPr lang="en-US" dirty="0"/>
              <a:t>github.com/madolson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38"/>
          <p:cNvSpPr txBox="1">
            <a:spLocks noGrp="1"/>
          </p:cNvSpPr>
          <p:nvPr>
            <p:ph type="title"/>
          </p:nvPr>
        </p:nvSpPr>
        <p:spPr>
          <a:xfrm>
            <a:off x="609600" y="914403"/>
            <a:ext cx="109728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8" name="Google Shape;8;p38"/>
          <p:cNvSpPr txBox="1">
            <a:spLocks noGrp="1"/>
          </p:cNvSpPr>
          <p:nvPr>
            <p:ph type="body" idx="1"/>
          </p:nvPr>
        </p:nvSpPr>
        <p:spPr>
          <a:xfrm>
            <a:off x="609600" y="1718985"/>
            <a:ext cx="10972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entury Gothic"/>
              <a:buNone/>
              <a:defRPr sz="2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20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  <a:defRPr sz="18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entury Gothic"/>
              <a:buNone/>
              <a:defRPr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Char char="•"/>
              <a:defRPr sz="1800" b="0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>
            <a:endParaRPr dirty="0"/>
          </a:p>
        </p:txBody>
      </p:sp>
      <p:pic>
        <p:nvPicPr>
          <p:cNvPr id="9" name="Google Shape;9;p38" descr="pasted-movi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389732" y="5943597"/>
            <a:ext cx="1434431" cy="44319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+mj-lt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+mn-lt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Century Gothic"/>
        <a:defRPr sz="1400" b="0" i="0" u="none" strike="noStrike" cap="none">
          <a:solidFill>
            <a:srgbClr val="000000"/>
          </a:solidFill>
          <a:latin typeface="Century Gothic"/>
          <a:ea typeface="Century Gothic"/>
          <a:cs typeface="Century Gothic"/>
          <a:sym typeface="Century Gothic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6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1080">
          <p15:clr>
            <a:srgbClr val="F26B43"/>
          </p15:clr>
        </p15:guide>
        <p15:guide id="6" orient="horz" pos="5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12.sv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7.svg"/><Relationship Id="rId3" Type="http://schemas.openxmlformats.org/officeDocument/2006/relationships/image" Target="../media/image15.svg"/><Relationship Id="rId7" Type="http://schemas.openxmlformats.org/officeDocument/2006/relationships/image" Target="../media/image20.svg"/><Relationship Id="rId12" Type="http://schemas.openxmlformats.org/officeDocument/2006/relationships/image" Target="../media/image13.svg"/><Relationship Id="rId17" Type="http://schemas.openxmlformats.org/officeDocument/2006/relationships/image" Target="../media/image5.svg"/><Relationship Id="rId2" Type="http://schemas.openxmlformats.org/officeDocument/2006/relationships/image" Target="../media/image16.svg"/><Relationship Id="rId16" Type="http://schemas.openxmlformats.org/officeDocument/2006/relationships/image" Target="../media/image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11" Type="http://schemas.openxmlformats.org/officeDocument/2006/relationships/image" Target="../media/image21.svg"/><Relationship Id="rId5" Type="http://schemas.openxmlformats.org/officeDocument/2006/relationships/image" Target="../media/image18.svg"/><Relationship Id="rId15" Type="http://schemas.openxmlformats.org/officeDocument/2006/relationships/image" Target="../media/image12.svg"/><Relationship Id="rId10" Type="http://schemas.openxmlformats.org/officeDocument/2006/relationships/image" Target="../media/image11.svg"/><Relationship Id="rId4" Type="http://schemas.openxmlformats.org/officeDocument/2006/relationships/image" Target="../media/image17.svg"/><Relationship Id="rId9" Type="http://schemas.openxmlformats.org/officeDocument/2006/relationships/image" Target="../media/image6.svg"/><Relationship Id="rId14" Type="http://schemas.openxmlformats.org/officeDocument/2006/relationships/image" Target="../media/image9.sv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Caching workshop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Nerdearla</a:t>
            </a:r>
            <a:r>
              <a:rPr lang="en-US" dirty="0"/>
              <a:t> Argentina 🇦🇷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Roberto Luna Rojas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dirty="0" err="1"/>
              <a:t>Valkey</a:t>
            </a:r>
            <a:r>
              <a:rPr dirty="0"/>
              <a:t> </a:t>
            </a:r>
            <a:r>
              <a:rPr lang="en-US" dirty="0"/>
              <a:t>Contributor</a:t>
            </a:r>
            <a:r>
              <a:rPr dirty="0"/>
              <a:t> and </a:t>
            </a:r>
            <a:r>
              <a:rPr lang="en-US" dirty="0"/>
              <a:t>Developer Advocate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9D326-DC33-7D7D-6309-35FD7AFA86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tinyurl.com</a:t>
            </a:r>
            <a:r>
              <a:rPr lang="en-US" dirty="0"/>
              <a:t>/valkey-nerdearla26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91E4E-F92F-D718-4EEB-34052981612F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4595CD-F3DA-71FC-3EDC-1C003931CE4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844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The host looks idle. The main thread is full.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650000"/>
            <a:ext cx="5286400" cy="3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9600" y="1910000"/>
            <a:ext cx="46864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chemeClr val="dk2"/>
                </a:solidFill>
                <a:latin typeface="Arial"/>
              </a:rPr>
              <a:t>host CPU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9600" y="2550000"/>
            <a:ext cx="46864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chemeClr val="dk2"/>
                </a:solidFill>
                <a:latin typeface="Arial"/>
              </a:rPr>
              <a:t>200%</a:t>
            </a:r>
            <a:r>
              <a:rPr sz="1800" b="0">
                <a:solidFill>
                  <a:schemeClr val="dk2"/>
                </a:solidFill>
                <a:latin typeface="Arial"/>
              </a:rPr>
              <a:t> of 400%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600" y="3510000"/>
            <a:ext cx="14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4 cores pinned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409600" y="3550000"/>
            <a:ext cx="222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09600" y="3550000"/>
            <a:ext cx="1113200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96000" y="3510000"/>
            <a:ext cx="8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200%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600" y="4570000"/>
            <a:ext cx="46864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dk2"/>
                </a:solidFill>
                <a:latin typeface="Arial"/>
              </a:rPr>
              <a:t>Half the machine is doing nothing.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6000" y="1650000"/>
            <a:ext cx="5286400" cy="34000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96000" y="1910000"/>
            <a:ext cx="46864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chemeClr val="accent1"/>
                </a:solidFill>
                <a:latin typeface="Arial"/>
              </a:rPr>
              <a:t>used_active_main_thread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6000" y="2510000"/>
            <a:ext cx="8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main thread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6000" y="2550000"/>
            <a:ext cx="27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46000" y="2550000"/>
            <a:ext cx="2748636" cy="2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82400" y="2510000"/>
            <a:ext cx="8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chemeClr val="dk1"/>
                </a:solidFill>
                <a:latin typeface="Arial"/>
              </a:rPr>
              <a:t>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6000" y="3020000"/>
            <a:ext cx="8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io thread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6000" y="3060000"/>
            <a:ext cx="27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546000" y="3060000"/>
            <a:ext cx="999504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82400" y="3020000"/>
            <a:ext cx="8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36%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6000" y="3530000"/>
            <a:ext cx="8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io thread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6000" y="3570000"/>
            <a:ext cx="27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46000" y="3570000"/>
            <a:ext cx="943976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82400" y="3530000"/>
            <a:ext cx="8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34%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6000" y="4040000"/>
            <a:ext cx="8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io thread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6000" y="4080000"/>
            <a:ext cx="27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46000" y="4080000"/>
            <a:ext cx="860684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82400" y="4040000"/>
            <a:ext cx="8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31%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6000" y="4570000"/>
            <a:ext cx="46864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dk2"/>
                </a:solidFill>
                <a:latin typeface="Arial"/>
              </a:rPr>
              <a:t>One core, and it is full. That is the ceiling.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SLOT-STATS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650000"/>
            <a:ext cx="5286400" cy="3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9600" y="1910000"/>
            <a:ext cx="46864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chemeClr val="dk2"/>
                </a:solidFill>
                <a:latin typeface="Arial"/>
              </a:rPr>
              <a:t>key-count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9600" y="2510000"/>
            <a:ext cx="8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12703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859600" y="255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59600" y="2550000"/>
            <a:ext cx="2676400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96000" y="2510000"/>
            <a:ext cx="9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20,450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600" y="3020000"/>
            <a:ext cx="8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4488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9600" y="306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59600" y="3060000"/>
            <a:ext cx="2614888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6000" y="3020000"/>
            <a:ext cx="9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19,980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600" y="3530000"/>
            <a:ext cx="8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9021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59600" y="357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859600" y="3570000"/>
            <a:ext cx="2658077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96000" y="3530000"/>
            <a:ext cx="9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20,310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600" y="4040000"/>
            <a:ext cx="8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15330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59600" y="408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59600" y="4080000"/>
            <a:ext cx="2583478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96000" y="4040000"/>
            <a:ext cx="9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19,740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600" y="4550000"/>
            <a:ext cx="8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702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59600" y="459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859600" y="4590000"/>
            <a:ext cx="2633211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96000" y="4550000"/>
            <a:ext cx="9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20,120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600" y="4970000"/>
            <a:ext cx="46864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dk2"/>
                </a:solidFill>
                <a:latin typeface="Arial"/>
              </a:rPr>
              <a:t>On by default. Every slot looks the same.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96000" y="1650000"/>
            <a:ext cx="5286400" cy="380000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96000" y="1910000"/>
            <a:ext cx="46864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chemeClr val="accent1"/>
                </a:solidFill>
                <a:latin typeface="Arial"/>
              </a:rPr>
              <a:t>cpu-usec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96000" y="2510000"/>
            <a:ext cx="8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12703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46000" y="255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46000" y="2550000"/>
            <a:ext cx="2676400" cy="2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82400" y="2510000"/>
            <a:ext cx="9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>
                <a:solidFill>
                  <a:schemeClr val="dk1"/>
                </a:solidFill>
                <a:latin typeface="Arial"/>
              </a:rPr>
              <a:t>41,200 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6000" y="3020000"/>
            <a:ext cx="8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4488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46000" y="306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546000" y="3060000"/>
            <a:ext cx="636619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82400" y="3020000"/>
            <a:ext cx="9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9,800 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96000" y="3530000"/>
            <a:ext cx="8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9021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46000" y="357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546000" y="3570000"/>
            <a:ext cx="526185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382400" y="3530000"/>
            <a:ext cx="9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8,100 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96000" y="4040000"/>
            <a:ext cx="8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15330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46000" y="408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546000" y="4080000"/>
            <a:ext cx="480712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82400" y="4040000"/>
            <a:ext cx="9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7,400 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6000" y="4550000"/>
            <a:ext cx="85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chemeClr val="dk2"/>
                </a:solidFill>
                <a:latin typeface="Arial"/>
              </a:rPr>
              <a:t>slot 702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46000" y="4590000"/>
            <a:ext cx="2676400" cy="2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546000" y="4590000"/>
            <a:ext cx="448232" cy="26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382400" y="4550000"/>
            <a:ext cx="900000" cy="3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0">
                <a:solidFill>
                  <a:schemeClr val="dk2"/>
                </a:solidFill>
                <a:latin typeface="Arial"/>
              </a:rPr>
              <a:t>6,900 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96000" y="4970000"/>
            <a:ext cx="46864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chemeClr val="dk2"/>
                </a:solidFill>
                <a:latin typeface="Arial"/>
              </a:rPr>
              <a:t>Needs cluster-slot-stats-enabled yes.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Standalone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87240" y="3200000"/>
            <a:ext cx="1400000" cy="40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87240" y="3200000"/>
            <a:ext cx="14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Clients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747240" y="3400000"/>
            <a:ext cx="9800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87240" y="2850000"/>
            <a:ext cx="3017520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87240" y="3100000"/>
            <a:ext cx="30175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Primary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87240" y="3420000"/>
            <a:ext cx="301752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all 16384 slots</a:t>
            </a:r>
          </a:p>
        </p:txBody>
      </p:sp>
      <p:pic>
        <p:nvPicPr>
          <p:cNvPr id="9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04049" y="2960000"/>
            <a:ext cx="190711" cy="22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Replication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3200000"/>
            <a:ext cx="1400000" cy="40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3200000"/>
            <a:ext cx="14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Clients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9600" y="3400000"/>
            <a:ext cx="12804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09600" y="3000000"/>
            <a:ext cx="19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writes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50000" y="2850000"/>
            <a:ext cx="3017520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50000" y="3100000"/>
            <a:ext cx="30175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Primary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0000" y="3420000"/>
            <a:ext cx="301752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accepts writes</a:t>
            </a:r>
          </a:p>
        </p:txBody>
      </p:sp>
      <p:pic>
        <p:nvPicPr>
          <p:cNvPr id="10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66809" y="2960000"/>
            <a:ext cx="190711" cy="22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067520" y="2850000"/>
            <a:ext cx="3017520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67520" y="3100000"/>
            <a:ext cx="301752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Replica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7520" y="3420000"/>
            <a:ext cx="301752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serves reads</a:t>
            </a:r>
          </a:p>
        </p:txBody>
      </p:sp>
      <p:pic>
        <p:nvPicPr>
          <p:cNvPr id="14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84329" y="2960000"/>
            <a:ext cx="190711" cy="220000"/>
          </a:xfrm>
          <a:prstGeom prst="rect">
            <a:avLst/>
          </a:prstGeom>
        </p:spPr>
      </p:pic>
      <p:cxnSp>
        <p:nvCxnSpPr>
          <p:cNvPr id="15" name="Connector 14"/>
          <p:cNvCxnSpPr/>
          <p:nvPr/>
        </p:nvCxnSpPr>
        <p:spPr>
          <a:xfrm>
            <a:off x="6687520" y="3400000"/>
            <a:ext cx="12600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67520" y="3000000"/>
            <a:ext cx="15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replicates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3390933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chemeClr val="dk2"/>
                </a:solidFill>
                <a:latin typeface="Arial"/>
              </a:rPr>
              <a:t>slots 0 – 5460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19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2170000"/>
            <a:ext cx="3390933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Primary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90000"/>
            <a:ext cx="3390933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shard 1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99822" y="203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9600" y="34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3670000"/>
            <a:ext cx="3390933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Replica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990000"/>
            <a:ext cx="3390933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read + failover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99822" y="3530000"/>
            <a:ext cx="190711" cy="22000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2305066" y="3080000"/>
            <a:ext cx="0" cy="280000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060533" y="2470000"/>
            <a:ext cx="280000" cy="0"/>
          </a:xfrm>
          <a:prstGeom prst="line">
            <a:avLst/>
          </a:prstGeom>
          <a:ln w="15875">
            <a:solidFill>
              <a:schemeClr val="dk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00533" y="1450000"/>
            <a:ext cx="3390933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chemeClr val="dk2"/>
                </a:solidFill>
                <a:latin typeface="Arial"/>
              </a:rPr>
              <a:t>slots 5461 – 10922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0533" y="19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00533" y="2170000"/>
            <a:ext cx="3390933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Primary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0533" y="2490000"/>
            <a:ext cx="3390933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shard 2</a:t>
            </a:r>
          </a:p>
        </p:txBody>
      </p:sp>
      <p:pic>
        <p:nvPicPr>
          <p:cNvPr id="18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0755" y="2030000"/>
            <a:ext cx="190711" cy="220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400533" y="34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00533" y="3670000"/>
            <a:ext cx="3390933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Replica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0533" y="3990000"/>
            <a:ext cx="3390933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read + failover</a:t>
            </a:r>
          </a:p>
        </p:txBody>
      </p:sp>
      <p:pic>
        <p:nvPicPr>
          <p:cNvPr id="22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0755" y="3530000"/>
            <a:ext cx="190711" cy="220000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6095999" y="3080000"/>
            <a:ext cx="0" cy="280000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51466" y="2470000"/>
            <a:ext cx="280000" cy="0"/>
          </a:xfrm>
          <a:prstGeom prst="line">
            <a:avLst/>
          </a:prstGeom>
          <a:ln w="15875">
            <a:solidFill>
              <a:schemeClr val="dk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191466" y="1450000"/>
            <a:ext cx="3390933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chemeClr val="dk2"/>
                </a:solidFill>
                <a:latin typeface="Arial"/>
              </a:rPr>
              <a:t>slots 10923 – 16383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91466" y="19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91466" y="2170000"/>
            <a:ext cx="3390933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Primary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466" y="2490000"/>
            <a:ext cx="3390933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shard 3</a:t>
            </a:r>
          </a:p>
        </p:txBody>
      </p:sp>
      <p:pic>
        <p:nvPicPr>
          <p:cNvPr id="29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81688" y="2030000"/>
            <a:ext cx="190711" cy="2200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8191466" y="3420000"/>
            <a:ext cx="3390933" cy="11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91466" y="3670000"/>
            <a:ext cx="3390933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Replica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1466" y="3990000"/>
            <a:ext cx="3390933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read + failover</a:t>
            </a:r>
          </a:p>
        </p:txBody>
      </p:sp>
      <p:pic>
        <p:nvPicPr>
          <p:cNvPr id="33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81688" y="3530000"/>
            <a:ext cx="190711" cy="220000"/>
          </a:xfrm>
          <a:prstGeom prst="rect">
            <a:avLst/>
          </a:prstGeom>
        </p:spPr>
      </p:pic>
      <p:cxnSp>
        <p:nvCxnSpPr>
          <p:cNvPr id="34" name="Connector 33"/>
          <p:cNvCxnSpPr/>
          <p:nvPr/>
        </p:nvCxnSpPr>
        <p:spPr>
          <a:xfrm>
            <a:off x="9886932" y="3080000"/>
            <a:ext cx="0" cy="280000"/>
          </a:xfrm>
          <a:prstGeom prst="line">
            <a:avLst/>
          </a:prstGeom>
          <a:ln w="15875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SETSLOT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 5461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MIGRATING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IMPORTING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one key per MIGRATE, clients follow -ASK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IMPORTING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MIGRATING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GETKEYSINSLOT + MIGRATE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NODE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SETSLOT STABLE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 5461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still owns the slot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holds keys it does not own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640000" y="2725000"/>
            <a:ext cx="2912000" cy="0"/>
          </a:xfrm>
          <a:prstGeom prst="line">
            <a:avLst/>
          </a:prstGeom>
          <a:ln w="19050">
            <a:solidFill>
              <a:srgbClr val="D3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keys must be moved back by hand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IMPORTING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MIGRATING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GETKEYSINSLOT + MIGRATE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SETSLOT NODE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MIGRATESLOTS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slots 5461 – 10922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still owns the slots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Arial"/>
              </a:rPr>
              <a:t>staging area created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slot migration link established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Initializing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Snapshotting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Streaming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Finalized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SYNCSLOTS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slots 5461 – 10922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still owns the slots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chemeClr val="dk1"/>
                </a:solidFill>
                <a:latin typeface="Arial"/>
              </a:rPr>
              <a:t>staging area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snapshot, then live stream of mutations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Initializing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Snapshotting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Streaming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Finalized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SYNCSLOTS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slots 5461 – 10922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paused, then drops its copy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owns the slots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chemeClr val="accent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caught up, ownership handed over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Initializing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Snapshotting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Streaming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Finalized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CANCELSLOTMIGRATIONS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slots 5461 – 10922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never stopped owning them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staging area discarded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rgbClr val="D3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transfer abandoned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Initializing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Snapshotting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Streaming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Failed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CLUSTER CANCELSLOTMIGRATIONS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450000"/>
            <a:ext cx="10972800" cy="3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chemeClr val="accent1"/>
                </a:solidFill>
                <a:latin typeface="Arial"/>
              </a:rPr>
              <a:t>slots 5461 – 10922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0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00000" y="2425000"/>
            <a:ext cx="3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2745000"/>
            <a:ext cx="32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source</a:t>
            </a:r>
          </a:p>
        </p:txBody>
      </p:sp>
      <p:pic>
        <p:nvPicPr>
          <p:cNvPr id="7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99289" y="2260000"/>
            <a:ext cx="190711" cy="22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92000" y="2150000"/>
            <a:ext cx="3200000" cy="115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92000" y="2425000"/>
            <a:ext cx="3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chemeClr val="dk1"/>
                </a:solidFill>
                <a:latin typeface="Arial"/>
              </a:rPr>
              <a:t>Shard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2000" y="2745000"/>
            <a:ext cx="320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target</a:t>
            </a:r>
          </a:p>
        </p:txBody>
      </p:sp>
      <p:pic>
        <p:nvPicPr>
          <p:cNvPr id="11" name="valkey-mark-col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91289" y="2260000"/>
            <a:ext cx="190711" cy="220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00000" y="346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never stopped owning them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92000" y="3460000"/>
            <a:ext cx="3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chemeClr val="lt1"/>
                </a:solidFill>
                <a:latin typeface="Arial"/>
              </a:rPr>
              <a:t>staging area discarded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40000" y="2725000"/>
            <a:ext cx="2912000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40000" y="2285000"/>
            <a:ext cx="291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transfer abandoned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6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Initializing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878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78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Snapshotting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60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0">
                <a:solidFill>
                  <a:schemeClr val="dk2"/>
                </a:solidFill>
                <a:latin typeface="Arial"/>
              </a:rPr>
              <a:t>Streaming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4200" y="5200000"/>
            <a:ext cx="180000" cy="0"/>
          </a:xfrm>
          <a:prstGeom prst="line">
            <a:avLst/>
          </a:prstGeom>
          <a:ln w="12700">
            <a:solidFill>
              <a:schemeClr val="dk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64200" y="5000000"/>
            <a:ext cx="25182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chemeClr val="lt1"/>
                </a:solidFill>
                <a:latin typeface="Arial"/>
              </a:rPr>
              <a:t>Failed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Valkey 8.0 (September 2024)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144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5632" y="1445931"/>
            <a:ext cx="10623888" cy="5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3x</a:t>
            </a:r>
            <a:r>
              <a:rPr sz="1800" b="0">
                <a:solidFill>
                  <a:schemeClr val="dk1"/>
                </a:solidFill>
                <a:latin typeface="Arial"/>
              </a:rPr>
              <a:t> throughput with multi-threaded I/O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09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09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5632" y="2095931"/>
            <a:ext cx="10623888" cy="5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25%+</a:t>
            </a:r>
            <a:r>
              <a:rPr sz="1800" b="0">
                <a:solidFill>
                  <a:schemeClr val="dk1"/>
                </a:solidFill>
                <a:latin typeface="Arial"/>
              </a:rPr>
              <a:t> memory reduction with embedded hashtable entries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274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274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5632" y="2745931"/>
            <a:ext cx="10623888" cy="5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1M+</a:t>
            </a:r>
            <a:r>
              <a:rPr sz="1800" b="0">
                <a:solidFill>
                  <a:schemeClr val="dk1"/>
                </a:solidFill>
                <a:latin typeface="Arial"/>
              </a:rPr>
              <a:t> RPS on a single node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39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" y="339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5632" y="3395931"/>
            <a:ext cx="10623888" cy="5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Dual-channel replication for faster failovers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404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404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5632" y="4045931"/>
            <a:ext cx="10623888" cy="5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Improved cluster bus reliability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4695931"/>
            <a:ext cx="11062800" cy="5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600" y="4695931"/>
            <a:ext cx="73152" cy="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5632" y="4695931"/>
            <a:ext cx="10623888" cy="5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Enhanced observability with per-slot metrics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943597"/>
            <a:ext cx="110628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chemeClr val="dk1"/>
                </a:solidFill>
                <a:latin typeface="Arial"/>
              </a:rPr>
              <a:t>Source: valkey.io/blog/valkey-8-0-ga/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Valkey 8.0 (September 2024)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55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600" y="1445931"/>
            <a:ext cx="8500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chemeClr val="accent1"/>
                </a:solidFill>
                <a:latin typeface="Arial"/>
              </a:rPr>
              <a:t>3x</a:t>
            </a:r>
            <a:r>
              <a:rPr sz="2000" b="0">
                <a:solidFill>
                  <a:schemeClr val="dk2"/>
                </a:solidFill>
                <a:latin typeface="Arial"/>
              </a:rPr>
              <a:t> throughput with multi-threaded I/O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17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9600" y="2065931"/>
            <a:ext cx="8500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chemeClr val="accent1"/>
                </a:solidFill>
                <a:latin typeface="Arial"/>
              </a:rPr>
              <a:t>25%+</a:t>
            </a:r>
            <a:r>
              <a:rPr sz="2000" b="0">
                <a:solidFill>
                  <a:schemeClr val="dk2"/>
                </a:solidFill>
                <a:latin typeface="Arial"/>
              </a:rPr>
              <a:t> memory reduction with embedded hashtable entries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9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600" y="2685931"/>
            <a:ext cx="8500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chemeClr val="accent1"/>
                </a:solidFill>
                <a:latin typeface="Arial"/>
              </a:rPr>
              <a:t>1M+</a:t>
            </a:r>
            <a:r>
              <a:rPr sz="2000" b="0">
                <a:solidFill>
                  <a:schemeClr val="dk2"/>
                </a:solidFill>
                <a:latin typeface="Arial"/>
              </a:rPr>
              <a:t> RPS on a single node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41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600" y="3305931"/>
            <a:ext cx="8500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chemeClr val="dk2"/>
                </a:solidFill>
                <a:latin typeface="Arial"/>
              </a:rPr>
              <a:t>Dual-channel replication for faster failovers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03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600" y="3925931"/>
            <a:ext cx="8500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chemeClr val="dk2"/>
                </a:solidFill>
                <a:latin typeface="Arial"/>
              </a:rPr>
              <a:t>Improved cluster bus reliability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4650931"/>
            <a:ext cx="110000" cy="1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9600" y="4545931"/>
            <a:ext cx="8500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chemeClr val="dk2"/>
                </a:solidFill>
                <a:latin typeface="Arial"/>
              </a:rPr>
              <a:t>Enhanced observability with per-slot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943597"/>
            <a:ext cx="110628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chemeClr val="dk1"/>
                </a:solidFill>
                <a:latin typeface="Arial"/>
              </a:rPr>
              <a:t>Source: valkey.io/blog/valkey-8-0-ga/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Valkey 8.0 (September 2024)</a:t>
            </a:r>
          </a:p>
        </p:txBody>
      </p:sp>
      <p:pic>
        <p:nvPicPr>
          <p:cNvPr id="3" name="perform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465931"/>
            <a:ext cx="520000" cy="52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69600" y="1445931"/>
            <a:ext cx="103028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3x</a:t>
            </a:r>
            <a:r>
              <a:rPr sz="1800" b="0">
                <a:solidFill>
                  <a:schemeClr val="dk1"/>
                </a:solidFill>
                <a:latin typeface="Arial"/>
              </a:rPr>
              <a:t> throughput with multi-threaded I/O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2045931"/>
            <a:ext cx="11062800" cy="1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" name="memory-efficienc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2105931"/>
            <a:ext cx="520000" cy="52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69600" y="2085931"/>
            <a:ext cx="103028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25%+</a:t>
            </a:r>
            <a:r>
              <a:rPr sz="1800" b="0">
                <a:solidFill>
                  <a:schemeClr val="dk1"/>
                </a:solidFill>
                <a:latin typeface="Arial"/>
              </a:rPr>
              <a:t> memory reduction with embedded hashtable entries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85931"/>
            <a:ext cx="11062800" cy="1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" name="vertical-scal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2745931"/>
            <a:ext cx="520000" cy="52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69600" y="2725931"/>
            <a:ext cx="103028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chemeClr val="accent1"/>
                </a:solidFill>
                <a:latin typeface="Arial"/>
              </a:rPr>
              <a:t>1M+</a:t>
            </a:r>
            <a:r>
              <a:rPr sz="1800" b="0">
                <a:solidFill>
                  <a:schemeClr val="dk1"/>
                </a:solidFill>
                <a:latin typeface="Arial"/>
              </a:rPr>
              <a:t> RPS on a single node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325931"/>
            <a:ext cx="11062800" cy="1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replic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" y="3385931"/>
            <a:ext cx="520000" cy="52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69600" y="3365931"/>
            <a:ext cx="103028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Dual-channel replication for faster failovers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3965931"/>
            <a:ext cx="11062800" cy="1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relia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" y="4025931"/>
            <a:ext cx="520000" cy="52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69600" y="4005931"/>
            <a:ext cx="103028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Improved cluster bus reliability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4605931"/>
            <a:ext cx="11062800" cy="1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observa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" y="4665931"/>
            <a:ext cx="520000" cy="52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69600" y="4645931"/>
            <a:ext cx="10302800" cy="5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>
                <a:solidFill>
                  <a:schemeClr val="dk1"/>
                </a:solidFill>
                <a:latin typeface="Arial"/>
              </a:rPr>
              <a:t>Enhanced observability with per-slot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5943597"/>
            <a:ext cx="110628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chemeClr val="dk1"/>
                </a:solidFill>
                <a:latin typeface="Arial"/>
              </a:rPr>
              <a:t>Source: valkey.io/blog/valkey-8-0-ga/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Two ways to grow (calmer palette)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5431400" cy="39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vertical-scal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2480" y="1628811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480" y="2863251"/>
            <a:ext cx="50656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Vertical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309081"/>
            <a:ext cx="5065640" cy="1853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Add CPU and memory to one node. Simple to operate, bounded by the largest instance you can buy, and a bigger blast radius when it fails.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1000" y="1445931"/>
            <a:ext cx="5431400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horizontal-scal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3880" y="1628811"/>
            <a:ext cx="109728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23880" y="2863251"/>
            <a:ext cx="50656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Horizontal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3880" y="3309081"/>
            <a:ext cx="5065640" cy="1853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Shard the keyspace across nodes. Scales past any single machine, at the cost of more moving parts and less headroom for bursts.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Two ways to grow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5431400" cy="390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vertical-scal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2480" y="1628811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480" y="2863251"/>
            <a:ext cx="50656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Vertical scaling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309081"/>
            <a:ext cx="5065640" cy="1853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Add CPU and memory to one node. Simple to operate, bounded by the largest instance you can buy, and a bigger blast radius when it fails.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1000" y="1445931"/>
            <a:ext cx="5431400" cy="390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horizontal-scal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3880" y="1628811"/>
            <a:ext cx="109728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23880" y="2863251"/>
            <a:ext cx="506564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Horizontal scaling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3880" y="3309081"/>
            <a:ext cx="5065640" cy="1853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Shard the keyspace across nodes. Scales past any single machine, at the cost of more moving parts and less headroom for bursts.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What we optimize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" name="perform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2480" y="1628811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2480" y="2863251"/>
            <a:ext cx="3188506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" y="3309081"/>
            <a:ext cx="3188506" cy="1853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Throughput per core, and predictable tail latency under load.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63866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harden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6746" y="1628811"/>
            <a:ext cx="109728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46746" y="2863251"/>
            <a:ext cx="3188506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Hardening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6746" y="3309081"/>
            <a:ext cx="3188506" cy="1853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Safe defaults, fuzzing, and a shrinking surface area for untrusted input.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8132" y="1445931"/>
            <a:ext cx="3554266" cy="39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2" name="cost-efficienc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1012" y="1628811"/>
            <a:ext cx="1097280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01012" y="2863251"/>
            <a:ext cx="3188506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chemeClr val="accent2"/>
                </a:solidFill>
                <a:latin typeface="Arial"/>
              </a:rPr>
              <a:t>Cost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1012" y="3309081"/>
            <a:ext cx="3188506" cy="1853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chemeClr val="accent2"/>
                </a:solidFill>
                <a:latin typeface="Arial"/>
              </a:rPr>
              <a:t>Same workload on smaller hardware means a smaller bill.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Icon library</a:t>
            </a:r>
          </a:p>
        </p:txBody>
      </p:sp>
      <p:pic>
        <p:nvPicPr>
          <p:cNvPr id="3" name="commun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6281" y="1206446"/>
            <a:ext cx="629837" cy="6298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1927723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Community</a:t>
            </a:r>
          </a:p>
        </p:txBody>
      </p:sp>
      <p:pic>
        <p:nvPicPr>
          <p:cNvPr id="5" name="cost-efficienc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9481" y="1206446"/>
            <a:ext cx="629837" cy="6298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52800" y="1927723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Cost efficiency</a:t>
            </a:r>
          </a:p>
        </p:txBody>
      </p:sp>
      <p:pic>
        <p:nvPicPr>
          <p:cNvPr id="7" name="data-has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2681" y="1206446"/>
            <a:ext cx="629837" cy="6298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0" y="1927723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Hashes</a:t>
            </a:r>
          </a:p>
        </p:txBody>
      </p:sp>
      <p:pic>
        <p:nvPicPr>
          <p:cNvPr id="9" name="data-lis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5881" y="1206446"/>
            <a:ext cx="629837" cy="629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39200" y="1927723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Lists</a:t>
            </a:r>
          </a:p>
        </p:txBody>
      </p:sp>
      <p:pic>
        <p:nvPicPr>
          <p:cNvPr id="11" name="dura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6281" y="2347723"/>
            <a:ext cx="629837" cy="629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3069000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Durability</a:t>
            </a:r>
          </a:p>
        </p:txBody>
      </p:sp>
      <p:pic>
        <p:nvPicPr>
          <p:cNvPr id="13" name="general-scal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09481" y="2347723"/>
            <a:ext cx="629837" cy="6298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52800" y="3069000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Scaling</a:t>
            </a:r>
          </a:p>
        </p:txBody>
      </p:sp>
      <p:pic>
        <p:nvPicPr>
          <p:cNvPr id="15" name="harden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52681" y="2347723"/>
            <a:ext cx="629837" cy="62983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0" y="3069000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Hardening</a:t>
            </a:r>
          </a:p>
        </p:txBody>
      </p:sp>
      <p:pic>
        <p:nvPicPr>
          <p:cNvPr id="17" name="horizontal-scal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95881" y="2347723"/>
            <a:ext cx="629837" cy="62983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39200" y="3069000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Horizontal scaling</a:t>
            </a:r>
          </a:p>
        </p:txBody>
      </p:sp>
      <p:pic>
        <p:nvPicPr>
          <p:cNvPr id="19" name="memory-efficienc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66281" y="3489000"/>
            <a:ext cx="629837" cy="6298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210277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Memory efficiency</a:t>
            </a:r>
          </a:p>
        </p:txBody>
      </p:sp>
      <p:pic>
        <p:nvPicPr>
          <p:cNvPr id="21" name="migr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09481" y="3489000"/>
            <a:ext cx="629837" cy="62983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352800" y="4210277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Migration</a:t>
            </a:r>
          </a:p>
        </p:txBody>
      </p:sp>
      <p:pic>
        <p:nvPicPr>
          <p:cNvPr id="23" name="observa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52681" y="3489000"/>
            <a:ext cx="629837" cy="62983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0" y="4210277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Observability</a:t>
            </a:r>
          </a:p>
        </p:txBody>
      </p:sp>
      <p:pic>
        <p:nvPicPr>
          <p:cNvPr id="25" name="performa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95881" y="3489000"/>
            <a:ext cx="629837" cy="62983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839200" y="4210277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Performance</a:t>
            </a:r>
          </a:p>
        </p:txBody>
      </p:sp>
      <p:pic>
        <p:nvPicPr>
          <p:cNvPr id="27" name="reliabil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66281" y="4630277"/>
            <a:ext cx="629837" cy="62983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09600" y="5351554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Reliability</a:t>
            </a:r>
          </a:p>
        </p:txBody>
      </p:sp>
      <p:pic>
        <p:nvPicPr>
          <p:cNvPr id="29" name="replic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09481" y="4630277"/>
            <a:ext cx="629837" cy="629837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352800" y="5351554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Replication</a:t>
            </a:r>
          </a:p>
        </p:txBody>
      </p:sp>
      <p:pic>
        <p:nvPicPr>
          <p:cNvPr id="31" name="secur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52681" y="4630277"/>
            <a:ext cx="629837" cy="62983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96000" y="5351554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Security</a:t>
            </a:r>
          </a:p>
        </p:txBody>
      </p:sp>
      <p:pic>
        <p:nvPicPr>
          <p:cNvPr id="33" name="vertical-scal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895881" y="4630277"/>
            <a:ext cx="629837" cy="62983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39200" y="5351554"/>
            <a:ext cx="27432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chemeClr val="dk2"/>
                </a:solidFill>
                <a:latin typeface="Arial"/>
              </a:rPr>
              <a:t>Vertical scaling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Madelyn Olson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@reconditerose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r>
              <a:t>github.com/madolson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AI Holdings">
  <a:themeElements>
    <a:clrScheme name="Valkey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6983FF"/>
      </a:accent1>
      <a:accent2>
        <a:srgbClr val="1A2026"/>
      </a:accent2>
      <a:accent3>
        <a:srgbClr val="632637"/>
      </a:accent3>
      <a:accent4>
        <a:srgbClr val="30176E"/>
      </a:accent4>
      <a:accent5>
        <a:srgbClr val="BCB5E7"/>
      </a:accent5>
      <a:accent6>
        <a:srgbClr val="E0A2AF"/>
      </a:accent6>
      <a:hlink>
        <a:srgbClr val="6983FF"/>
      </a:hlink>
      <a:folHlink>
        <a:srgbClr val="6983FF"/>
      </a:folHlink>
    </a:clrScheme>
    <a:fontScheme name="Office">
      <a:majorFont>
        <a:latin typeface="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Office">
      <a:majorFont>
        <a:latin typeface="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15742</TotalTime>
  <Words>763</Words>
  <Application>Microsoft Macintosh PowerPoint</Application>
  <PresentationFormat>Widescreen</PresentationFormat>
  <Paragraphs>227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Play</vt:lpstr>
      <vt:lpstr>Century Gothic</vt:lpstr>
      <vt:lpstr>Arial</vt:lpstr>
      <vt:lpstr>AWS AI Holdings</vt:lpstr>
      <vt:lpstr>Caching workshop</vt:lpstr>
      <vt:lpstr>https://tinyurl.com/valkey-nerdearla26</vt:lpstr>
      <vt:lpstr>The host looks idle. The main thread is full.</vt:lpstr>
      <vt:lpstr>CLUSTER SLOT-STATS</vt:lpstr>
      <vt:lpstr>Standalone</vt:lpstr>
      <vt:lpstr>Replication</vt:lpstr>
      <vt:lpstr>Clustering</vt:lpstr>
      <vt:lpstr>CLUSTER SETSLOT</vt:lpstr>
      <vt:lpstr>CLUSTER SETSLOT STABLE</vt:lpstr>
      <vt:lpstr>CLUSTER MIGRATESLOTS</vt:lpstr>
      <vt:lpstr>CLUSTER SYNCSLOTS</vt:lpstr>
      <vt:lpstr>CLUSTER SYNCSLOTS</vt:lpstr>
      <vt:lpstr>CLUSTER CANCELSLOTMIGRATIONS</vt:lpstr>
      <vt:lpstr>CLUSTER CANCELSLOTMIGRATIONS</vt:lpstr>
      <vt:lpstr>Valkey 8.0 (September 2024)</vt:lpstr>
      <vt:lpstr>Valkey 8.0 (September 2024)</vt:lpstr>
      <vt:lpstr>Valkey 8.0 (September 2024)</vt:lpstr>
      <vt:lpstr>Two ways to grow (calmer palette)</vt:lpstr>
      <vt:lpstr>Two ways to grow</vt:lpstr>
      <vt:lpstr>What we optimize for</vt:lpstr>
      <vt:lpstr>Icon library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Olson, Madelyn</dc:creator>
  <cp:lastModifiedBy>Luna Rojas, Roberto</cp:lastModifiedBy>
  <cp:revision>29</cp:revision>
  <dcterms:created xsi:type="dcterms:W3CDTF">2025-04-15T18:05:46Z</dcterms:created>
  <dcterms:modified xsi:type="dcterms:W3CDTF">2026-09-23T15:26:39Z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2025-10-13T18:50:11Z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b81c3afb-3afe-4c07-b9bf-69177ff0e214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
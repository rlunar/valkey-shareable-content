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7.svg" ContentType="image/svg+xml"/>
  <Override PartName="/ppt/media/image9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</p:sldIdLst>
  <p:sldSz cx="12192000" cy="6858000"/>
  <p:notesSz cx="6858000" cy="9144000"/>
  <p:embeddedFontLs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Play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General" id="{955B2512-A0E9-004C-A974-F37B9108860F}">
          <p14:sldIdLst>
            <p14:sldId id="320"/>
            <p14:sldId id="307"/>
            <p14:sldId id="258"/>
            <p14:sldId id="259"/>
            <p14:sldId id="260"/>
            <p14:sldId id="261"/>
            <p14:sldId id="310"/>
            <p14:sldId id="311"/>
            <p14:sldId id="312"/>
            <p14:sldId id="313"/>
            <p14:sldId id="314"/>
            <p14:sldId id="278"/>
            <p14:sldId id="309"/>
            <p14:sldId id="271"/>
            <p14:sldId id="316"/>
            <p14:sldId id="274"/>
            <p14:sldId id="275"/>
            <p14:sldId id="276"/>
          </p14:sldIdLst>
        </p14:section>
        <p14:section name="Features" id="{B6C2DFD3-F7BC-E445-8136-6E30FB47F7B9}">
          <p14:sldIdLst>
            <p14:sldId id="262"/>
            <p14:sldId id="268"/>
            <p14:sldId id="299"/>
            <p14:sldId id="300"/>
            <p14:sldId id="303"/>
            <p14:sldId id="301"/>
            <p14:sldId id="302"/>
            <p14:sldId id="269"/>
            <p14:sldId id="267"/>
            <p14:sldId id="293"/>
            <p14:sldId id="294"/>
            <p14:sldId id="296"/>
            <p14:sldId id="297"/>
            <p14:sldId id="298"/>
            <p14:sldId id="266"/>
            <p14:sldId id="321"/>
          </p14:sldIdLst>
        </p14:section>
        <p14:section name="Template examples" id="{899405CC-6E1E-4C49-BD4C-AAB5EBF02875}">
          <p14:sldIdLst>
            <p14:sldId id="281"/>
            <p14:sldId id="282"/>
            <p14:sldId id="284"/>
            <p14:sldId id="285"/>
            <p14:sldId id="286"/>
            <p14:sldId id="287"/>
            <p14:sldId id="317"/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Bjwdw4Z9xz+EjAItyouivSXpb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30"/>
    <p:restoredTop sz="87225"/>
  </p:normalViewPr>
  <p:slideViewPr>
    <p:cSldViewPr snapToGrid="0">
      <p:cViewPr varScale="1">
        <p:scale>
          <a:sx n="68" d="100"/>
          <a:sy n="68" d="100"/>
        </p:scale>
        <p:origin x="232" y="2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5" d="100"/>
          <a:sy n="165" d="100"/>
        </p:scale>
        <p:origin x="5296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47" Type="http://schemas.openxmlformats.org/officeDocument/2006/relationships/font" Target="fonts/font1.fntdata"/><Relationship Id="rId48" Type="http://schemas.openxmlformats.org/officeDocument/2006/relationships/font" Target="fonts/font2.fntdata"/><Relationship Id="rId49" Type="http://schemas.openxmlformats.org/officeDocument/2006/relationships/font" Target="fonts/font3.fntdata"/><Relationship Id="rId50" Type="http://schemas.openxmlformats.org/officeDocument/2006/relationships/font" Target="fonts/font4.fntdata"/><Relationship Id="rId51" Type="http://schemas.openxmlformats.org/officeDocument/2006/relationships/font" Target="fonts/font5.fntdata"/><Relationship Id="rId52" Type="http://schemas.openxmlformats.org/officeDocument/2006/relationships/font" Target="fonts/font6.fntdata"/><Relationship Id="rId56" Type="http://customschemas.google.com/relationships/presentationmetadata" Target="metadata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0A7F18-A111-AB6A-97B8-B13BD21983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21FC1-A360-DBB8-0D4E-F8382AEAE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BFF4-3DC3-D34C-B801-A1856919C1BB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AE0C6-45D2-84B2-2F94-5D3078BB1B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9EAEC-8756-8E23-D948-BCAD92B39E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76D86-3DF6-9345-A4E1-DF218D723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16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sldNum" idx="12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pos="216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64">
          <p15:clr>
            <a:srgbClr val="F26B43"/>
          </p15:clr>
        </p15:guide>
        <p15:guide id="4" pos="4056">
          <p15:clr>
            <a:srgbClr val="F26B43"/>
          </p15:clr>
        </p15:guide>
        <p15:guide id="5" orient="horz" pos="288">
          <p15:clr>
            <a:srgbClr val="F26B43"/>
          </p15:clr>
        </p15:guide>
        <p15:guide id="6" orient="horz" pos="2640">
          <p15:clr>
            <a:srgbClr val="F26B43"/>
          </p15:clr>
        </p15:guide>
      </p15:sldGuideLst>
    </p:ext>
  </p:extLst>
</p:notesMaster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slideLayout1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itle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77200" y="0"/>
            <a:ext cx="411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valkey-stacked-wh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4673" y="2628900"/>
            <a:ext cx="1859853" cy="16002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360930"/>
            <a:ext cx="6781800" cy="1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10000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160000"/>
            <a:ext cx="6781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6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4000000"/>
            <a:ext cx="4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7" name="Speaker role"/>
          <p:cNvSpPr>
            <a:spLocks noGrp="1"/>
          </p:cNvSpPr>
          <p:nvPr>
            <p:ph type="body" idx="3" hasCustomPrompt="1"/>
          </p:nvPr>
        </p:nvSpPr>
        <p:spPr>
          <a:xfrm>
            <a:off x="609600" y="4330000"/>
            <a:ext cx="4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3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itle Top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200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alkey-horizontal-wh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7792" y="548640"/>
            <a:ext cx="2164608" cy="731520"/>
          </a:xfrm>
          <a:prstGeom prst="rect">
            <a:avLst/>
          </a:prstGeom>
        </p:spPr>
      </p:pic>
      <p:sp>
        <p:nvSpPr>
          <p:cNvPr id="5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700000"/>
            <a:ext cx="9800000" cy="16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10000"/>
              </a:lnSpc>
              <a:buNone/>
              <a:defRPr sz="44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700000"/>
            <a:ext cx="98000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7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4600000"/>
            <a:ext cx="5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8" name="Speaker role"/>
          <p:cNvSpPr>
            <a:spLocks noGrp="1"/>
          </p:cNvSpPr>
          <p:nvPr>
            <p:ph type="body" idx="3" hasCustomPrompt="1"/>
          </p:nvPr>
        </p:nvSpPr>
        <p:spPr>
          <a:xfrm>
            <a:off x="609600" y="4930000"/>
            <a:ext cx="5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3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itle Bottom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69280"/>
            <a:ext cx="1219200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valkey-horizontal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7832" y="1100000"/>
            <a:ext cx="2976336" cy="1005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38800" y="3560000"/>
            <a:ext cx="9144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600000"/>
            <a:ext cx="11062800" cy="1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lnSpc>
                <a:spcPct val="110000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90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7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606928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800" b="1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8" name="Speaker role"/>
          <p:cNvSpPr>
            <a:spLocks noGrp="1"/>
          </p:cNvSpPr>
          <p:nvPr>
            <p:ph type="body" idx="3" hasCustomPrompt="1"/>
          </p:nvPr>
        </p:nvSpPr>
        <p:spPr>
          <a:xfrm>
            <a:off x="609600" y="6449280"/>
            <a:ext cx="110628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400" b="0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00000"/>
            <a:ext cx="13716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tatement"/>
          <p:cNvSpPr>
            <a:spLocks noGrp="1"/>
          </p:cNvSpPr>
          <p:nvPr>
            <p:ph type="body" idx="1" hasCustomPrompt="1"/>
          </p:nvPr>
        </p:nvSpPr>
        <p:spPr>
          <a:xfrm>
            <a:off x="609600" y="2500000"/>
            <a:ext cx="9144000" cy="18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14999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Steady state is a lie. The peak is the only number that matters.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2" hasCustomPrompt="1"/>
          </p:nvPr>
        </p:nvSpPr>
        <p:spPr>
          <a:xfrm>
            <a:off x="609600" y="4400000"/>
            <a:ext cx="91440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Optional caption. Delete it if the line stands alone.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Insight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valkey-horizontal-wh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2716" y="5943597"/>
            <a:ext cx="1311447" cy="443198"/>
          </a:xfrm>
          <a:prstGeom prst="rect">
            <a:avLst/>
          </a:prstGeom>
        </p:spPr>
      </p:pic>
      <p:sp>
        <p:nvSpPr>
          <p:cNvPr id="4" name="Statement"/>
          <p:cNvSpPr>
            <a:spLocks noGrp="1"/>
          </p:cNvSpPr>
          <p:nvPr>
            <p:ph type="body" idx="1" hasCustomPrompt="1"/>
          </p:nvPr>
        </p:nvSpPr>
        <p:spPr>
          <a:xfrm>
            <a:off x="609600" y="2600000"/>
            <a:ext cx="11062800" cy="18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lnSpc>
                <a:spcPct val="114999"/>
              </a:lnSpc>
              <a:buNone/>
              <a:defRPr sz="4000" b="1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You cannot provision your way out of a workload that moves.</a:t>
            </a:r>
          </a:p>
        </p:txBody>
      </p:sp>
      <p:sp>
        <p:nvSpPr>
          <p:cNvPr id="5" name="Caption"/>
          <p:cNvSpPr>
            <a:spLocks noGrp="1"/>
          </p:cNvSpPr>
          <p:nvPr>
            <p:ph type="body" idx="2" hasCustomPrompt="1"/>
          </p:nvPr>
        </p:nvSpPr>
        <p:spPr>
          <a:xfrm>
            <a:off x="609600" y="450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600" b="0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Optional caption.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idx="1" hasCustomPrompt="1"/>
          </p:nvPr>
        </p:nvSpPr>
        <p:spPr>
          <a:xfrm>
            <a:off x="609600" y="1800000"/>
            <a:ext cx="11062800" cy="21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lnSpc>
                <a:spcPct val="100000"/>
              </a:lnSpc>
              <a:buNone/>
              <a:defRPr sz="13000" b="1" i="0">
                <a:solidFill>
                  <a:schemeClr val="accent1"/>
                </a:solidFill>
                <a:latin typeface="Arial"/>
              </a:defRPr>
            </a:lvl1pPr>
          </a:lstStyle>
          <a:p>
            <a:r>
              <a:rPr lang="en-US" dirty="0"/>
              <a:t>3x</a:t>
            </a:r>
          </a:p>
        </p:txBody>
      </p:sp>
      <p:sp>
        <p:nvSpPr>
          <p:cNvPr id="3" name="Label"/>
          <p:cNvSpPr>
            <a:spLocks noGrp="1"/>
          </p:cNvSpPr>
          <p:nvPr>
            <p:ph type="body" idx="2" hasCustomPrompt="1"/>
          </p:nvPr>
        </p:nvSpPr>
        <p:spPr>
          <a:xfrm>
            <a:off x="609600" y="3950000"/>
            <a:ext cx="110628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28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throughput on the same hardware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3" hasCustomPrompt="1"/>
          </p:nvPr>
        </p:nvSpPr>
        <p:spPr>
          <a:xfrm>
            <a:off x="609600" y="456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Source: valkey.io/blog/...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List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w 1"/>
          <p:cNvSpPr>
            <a:spLocks noGrp="1"/>
          </p:cNvSpPr>
          <p:nvPr>
            <p:ph type="body" idx="1" hasCustomPrompt="1"/>
          </p:nvPr>
        </p:nvSpPr>
        <p:spPr>
          <a:xfrm>
            <a:off x="682752" y="14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w 2"/>
          <p:cNvSpPr>
            <a:spLocks noGrp="1"/>
          </p:cNvSpPr>
          <p:nvPr>
            <p:ph type="body" idx="2" hasCustomPrompt="1"/>
          </p:nvPr>
        </p:nvSpPr>
        <p:spPr>
          <a:xfrm>
            <a:off x="682752" y="209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w 3"/>
          <p:cNvSpPr>
            <a:spLocks noGrp="1"/>
          </p:cNvSpPr>
          <p:nvPr>
            <p:ph type="body" idx="3" hasCustomPrompt="1"/>
          </p:nvPr>
        </p:nvSpPr>
        <p:spPr>
          <a:xfrm>
            <a:off x="682752" y="27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3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w 4"/>
          <p:cNvSpPr>
            <a:spLocks noGrp="1"/>
          </p:cNvSpPr>
          <p:nvPr>
            <p:ph type="body" idx="4" hasCustomPrompt="1"/>
          </p:nvPr>
        </p:nvSpPr>
        <p:spPr>
          <a:xfrm>
            <a:off x="682752" y="339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0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w 5"/>
          <p:cNvSpPr>
            <a:spLocks noGrp="1"/>
          </p:cNvSpPr>
          <p:nvPr>
            <p:ph type="body" idx="5" hasCustomPrompt="1"/>
          </p:nvPr>
        </p:nvSpPr>
        <p:spPr>
          <a:xfrm>
            <a:off x="682752" y="40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wo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Heading 1"/>
          <p:cNvSpPr>
            <a:spLocks noGrp="1"/>
          </p:cNvSpPr>
          <p:nvPr>
            <p:ph type="body" idx="1" hasCustomPrompt="1"/>
          </p:nvPr>
        </p:nvSpPr>
        <p:spPr>
          <a:xfrm>
            <a:off x="792480" y="2863251"/>
            <a:ext cx="5065640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one</a:t>
            </a:r>
          </a:p>
        </p:txBody>
      </p:sp>
      <p:sp>
        <p:nvSpPr>
          <p:cNvPr id="6" name="Body 1"/>
          <p:cNvSpPr>
            <a:spLocks noGrp="1"/>
          </p:cNvSpPr>
          <p:nvPr>
            <p:ph type="body" idx="2" hasCustomPrompt="1"/>
          </p:nvPr>
        </p:nvSpPr>
        <p:spPr>
          <a:xfrm>
            <a:off x="792480" y="3309081"/>
            <a:ext cx="5065640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Heading 2"/>
          <p:cNvSpPr>
            <a:spLocks noGrp="1"/>
          </p:cNvSpPr>
          <p:nvPr>
            <p:ph type="body" idx="3" hasCustomPrompt="1"/>
          </p:nvPr>
        </p:nvSpPr>
        <p:spPr>
          <a:xfrm>
            <a:off x="6423880" y="2863251"/>
            <a:ext cx="5065640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two</a:t>
            </a:r>
          </a:p>
        </p:txBody>
      </p:sp>
      <p:sp>
        <p:nvSpPr>
          <p:cNvPr id="10" name="Body 2"/>
          <p:cNvSpPr>
            <a:spLocks noGrp="1"/>
          </p:cNvSpPr>
          <p:nvPr>
            <p:ph type="body" idx="4" hasCustomPrompt="1"/>
          </p:nvPr>
        </p:nvSpPr>
        <p:spPr>
          <a:xfrm>
            <a:off x="6423880" y="3309081"/>
            <a:ext cx="5065640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hre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erforma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Heading 1"/>
          <p:cNvSpPr>
            <a:spLocks noGrp="1"/>
          </p:cNvSpPr>
          <p:nvPr>
            <p:ph type="body" idx="1" hasCustomPrompt="1"/>
          </p:nvPr>
        </p:nvSpPr>
        <p:spPr>
          <a:xfrm>
            <a:off x="792480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one</a:t>
            </a:r>
          </a:p>
        </p:txBody>
      </p:sp>
      <p:sp>
        <p:nvSpPr>
          <p:cNvPr id="6" name="Body 1"/>
          <p:cNvSpPr>
            <a:spLocks noGrp="1"/>
          </p:cNvSpPr>
          <p:nvPr>
            <p:ph type="body" idx="2" hasCustomPrompt="1"/>
          </p:nvPr>
        </p:nvSpPr>
        <p:spPr>
          <a:xfrm>
            <a:off x="792480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3866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securit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6746" y="1628811"/>
            <a:ext cx="1097280" cy="1097280"/>
          </a:xfrm>
          <a:prstGeom prst="rect">
            <a:avLst/>
          </a:prstGeom>
        </p:spPr>
      </p:pic>
      <p:sp>
        <p:nvSpPr>
          <p:cNvPr id="9" name="Heading 2"/>
          <p:cNvSpPr>
            <a:spLocks noGrp="1"/>
          </p:cNvSpPr>
          <p:nvPr>
            <p:ph type="body" idx="3" hasCustomPrompt="1"/>
          </p:nvPr>
        </p:nvSpPr>
        <p:spPr>
          <a:xfrm>
            <a:off x="4546746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two</a:t>
            </a:r>
          </a:p>
        </p:txBody>
      </p:sp>
      <p:sp>
        <p:nvSpPr>
          <p:cNvPr id="10" name="Body 2"/>
          <p:cNvSpPr>
            <a:spLocks noGrp="1"/>
          </p:cNvSpPr>
          <p:nvPr>
            <p:ph type="body" idx="4" hasCustomPrompt="1"/>
          </p:nvPr>
        </p:nvSpPr>
        <p:spPr>
          <a:xfrm>
            <a:off x="4546746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8132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reliabilit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1012" y="1628811"/>
            <a:ext cx="1097280" cy="1097280"/>
          </a:xfrm>
          <a:prstGeom prst="rect">
            <a:avLst/>
          </a:prstGeom>
        </p:spPr>
      </p:pic>
      <p:sp>
        <p:nvSpPr>
          <p:cNvPr id="13" name="Heading 3"/>
          <p:cNvSpPr>
            <a:spLocks noGrp="1"/>
          </p:cNvSpPr>
          <p:nvPr>
            <p:ph type="body" idx="5" hasCustomPrompt="1"/>
          </p:nvPr>
        </p:nvSpPr>
        <p:spPr>
          <a:xfrm>
            <a:off x="8301012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three</a:t>
            </a:r>
          </a:p>
        </p:txBody>
      </p:sp>
      <p:sp>
        <p:nvSpPr>
          <p:cNvPr id="14" name="Body 3"/>
          <p:cNvSpPr>
            <a:spLocks noGrp="1"/>
          </p:cNvSpPr>
          <p:nvPr>
            <p:ph type="body" idx="6" hasCustomPrompt="1"/>
          </p:nvPr>
        </p:nvSpPr>
        <p:spPr>
          <a:xfrm>
            <a:off x="8301012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69280"/>
            <a:ext cx="1219200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3100000"/>
            <a:ext cx="13716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alkey-horizontal-wh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4080" y="5958840"/>
            <a:ext cx="1803840" cy="609600"/>
          </a:xfrm>
          <a:prstGeom prst="rect">
            <a:avLst/>
          </a:prstGeom>
        </p:spPr>
      </p:pic>
      <p:sp>
        <p:nvSpPr>
          <p:cNvPr id="5" name="Closing"/>
          <p:cNvSpPr>
            <a:spLocks noGrp="1"/>
          </p:cNvSpPr>
          <p:nvPr>
            <p:ph type="body" idx="1" hasCustomPrompt="1"/>
          </p:nvPr>
        </p:nvSpPr>
        <p:spPr>
          <a:xfrm>
            <a:off x="609600" y="1900000"/>
            <a:ext cx="11062800" cy="10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54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6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3400000"/>
            <a:ext cx="60000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7" name="Contact 1"/>
          <p:cNvSpPr>
            <a:spLocks noGrp="1"/>
          </p:cNvSpPr>
          <p:nvPr>
            <p:ph type="body" idx="3" hasCustomPrompt="1"/>
          </p:nvPr>
        </p:nvSpPr>
        <p:spPr>
          <a:xfrm>
            <a:off x="609600" y="3820000"/>
            <a:ext cx="60000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@reconditerose</a:t>
            </a:r>
          </a:p>
        </p:txBody>
      </p:sp>
      <p:sp>
        <p:nvSpPr>
          <p:cNvPr id="8" name="Contact 2"/>
          <p:cNvSpPr>
            <a:spLocks noGrp="1"/>
          </p:cNvSpPr>
          <p:nvPr>
            <p:ph type="body" idx="4" hasCustomPrompt="1"/>
          </p:nvPr>
        </p:nvSpPr>
        <p:spPr>
          <a:xfrm>
            <a:off x="609600" y="4160000"/>
            <a:ext cx="60000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github.com/madolson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8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38"/>
          <p:cNvSpPr txBox="1">
            <a:spLocks noGrp="1"/>
          </p:cNvSpPr>
          <p:nvPr>
            <p:ph type="body" idx="1"/>
          </p:nvPr>
        </p:nvSpPr>
        <p:spPr>
          <a:xfrm>
            <a:off x="609600" y="1718985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 dirty="0"/>
          </a:p>
        </p:txBody>
      </p:sp>
      <p:pic>
        <p:nvPicPr>
          <p:cNvPr id="9" name="Google Shape;9;p38" descr="pasted-movi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389732" y="5943597"/>
            <a:ext cx="1434431" cy="4431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j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n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26.png"/><Relationship Id="rId9" Type="http://schemas.openxmlformats.org/officeDocument/2006/relationships/image" Target="../media/image27.svg"/><Relationship Id="rId10" Type="http://schemas.openxmlformats.org/officeDocument/2006/relationships/image" Target="../media/image20.png"/><Relationship Id="rId11" Type="http://schemas.openxmlformats.org/officeDocument/2006/relationships/image" Target="../media/image21.svg"/><Relationship Id="rId12" Type="http://schemas.openxmlformats.org/officeDocument/2006/relationships/image" Target="../media/image28.png"/><Relationship Id="rId13" Type="http://schemas.openxmlformats.org/officeDocument/2006/relationships/image" Target="../media/image2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30.png"/><Relationship Id="rId5" Type="http://schemas.openxmlformats.org/officeDocument/2006/relationships/image" Target="../media/image31.svg"/><Relationship Id="rId6" Type="http://schemas.openxmlformats.org/officeDocument/2006/relationships/image" Target="../media/image32.png"/><Relationship Id="rId7" Type="http://schemas.openxmlformats.org/officeDocument/2006/relationships/image" Target="../media/image33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4.png"/><Relationship Id="rId3" Type="http://schemas.openxmlformats.org/officeDocument/2006/relationships/image" Target="../media/image35.svg"/><Relationship Id="rId4" Type="http://schemas.openxmlformats.org/officeDocument/2006/relationships/image" Target="../media/image32.png"/><Relationship Id="rId5" Type="http://schemas.openxmlformats.org/officeDocument/2006/relationships/image" Target="../media/image33.sv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42.png"/><Relationship Id="rId13" Type="http://schemas.openxmlformats.org/officeDocument/2006/relationships/image" Target="../media/image43.svg"/><Relationship Id="rId14" Type="http://schemas.openxmlformats.org/officeDocument/2006/relationships/image" Target="../media/image30.png"/><Relationship Id="rId15" Type="http://schemas.openxmlformats.org/officeDocument/2006/relationships/image" Target="../media/image31.svg"/><Relationship Id="rId16" Type="http://schemas.openxmlformats.org/officeDocument/2006/relationships/image" Target="../media/image14.png"/><Relationship Id="rId17" Type="http://schemas.openxmlformats.org/officeDocument/2006/relationships/image" Target="../media/image15.svg"/><Relationship Id="rId18" Type="http://schemas.openxmlformats.org/officeDocument/2006/relationships/image" Target="../media/image24.png"/><Relationship Id="rId19" Type="http://schemas.openxmlformats.org/officeDocument/2006/relationships/image" Target="../media/image25.svg"/><Relationship Id="rId20" Type="http://schemas.openxmlformats.org/officeDocument/2006/relationships/image" Target="../media/image44.png"/><Relationship Id="rId21" Type="http://schemas.openxmlformats.org/officeDocument/2006/relationships/image" Target="../media/image45.svg"/><Relationship Id="rId22" Type="http://schemas.openxmlformats.org/officeDocument/2006/relationships/image" Target="../media/image28.png"/><Relationship Id="rId23" Type="http://schemas.openxmlformats.org/officeDocument/2006/relationships/image" Target="../media/image29.svg"/><Relationship Id="rId24" Type="http://schemas.openxmlformats.org/officeDocument/2006/relationships/image" Target="../media/image16.png"/><Relationship Id="rId25" Type="http://schemas.openxmlformats.org/officeDocument/2006/relationships/image" Target="../media/image17.svg"/><Relationship Id="rId26" Type="http://schemas.openxmlformats.org/officeDocument/2006/relationships/image" Target="../media/image20.png"/><Relationship Id="rId27" Type="http://schemas.openxmlformats.org/officeDocument/2006/relationships/image" Target="../media/image21.svg"/><Relationship Id="rId28" Type="http://schemas.openxmlformats.org/officeDocument/2006/relationships/image" Target="../media/image26.png"/><Relationship Id="rId29" Type="http://schemas.openxmlformats.org/officeDocument/2006/relationships/image" Target="../media/image27.svg"/><Relationship Id="rId30" Type="http://schemas.openxmlformats.org/officeDocument/2006/relationships/image" Target="../media/image18.png"/><Relationship Id="rId31" Type="http://schemas.openxmlformats.org/officeDocument/2006/relationships/image" Target="../media/image19.svg"/><Relationship Id="rId32" Type="http://schemas.openxmlformats.org/officeDocument/2006/relationships/image" Target="../media/image12.png"/><Relationship Id="rId33" Type="http://schemas.openxmlformats.org/officeDocument/2006/relationships/image" Target="../media/image13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single line that sets up the talk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Madelyn Olson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Valkey Maintainer and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The host looks idle. The main thread is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50000"/>
            <a:ext cx="5286400" cy="3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9600" y="1910000"/>
            <a:ext cx="4686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dk2"/>
                </a:solidFill>
                <a:latin typeface="Arial"/>
              </a:rPr>
              <a:t>host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600" y="2550000"/>
            <a:ext cx="46864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chemeClr val="dk2"/>
                </a:solidFill>
                <a:latin typeface="Arial"/>
              </a:rPr>
              <a:t>200%</a:t>
            </a:r>
            <a:r>
              <a:rPr sz="1800" b="0">
                <a:solidFill>
                  <a:schemeClr val="dk2"/>
                </a:solidFill>
                <a:latin typeface="Arial"/>
              </a:rPr>
              <a:t> of 400%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600" y="3510000"/>
            <a:ext cx="14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4 cores pinned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9600" y="3550000"/>
            <a:ext cx="222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409600" y="3550000"/>
            <a:ext cx="1113200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96000" y="351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600" y="4570000"/>
            <a:ext cx="46864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Half the machine is doing nothing.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6000" y="1650000"/>
            <a:ext cx="5286400" cy="3400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96000" y="1910000"/>
            <a:ext cx="4686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Arial"/>
              </a:rPr>
              <a:t>used_active_main_thread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6000" y="251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main thread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6000" y="255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546000" y="2550000"/>
            <a:ext cx="2748636" cy="2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82400" y="251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chemeClr val="dk1"/>
                </a:solidFill>
                <a:latin typeface="Arial"/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000" y="302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6000" y="306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546000" y="3060000"/>
            <a:ext cx="999504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82400" y="302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6000" y="353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6000" y="357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546000" y="3570000"/>
            <a:ext cx="943976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82400" y="353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6000" y="404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6000" y="408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46000" y="4080000"/>
            <a:ext cx="860684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482400" y="404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6000" y="4570000"/>
            <a:ext cx="46864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One core, and it is full. That is the ceiling.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SLOT-STATS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50000"/>
            <a:ext cx="5286400" cy="3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9600" y="1910000"/>
            <a:ext cx="4686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dk2"/>
                </a:solidFill>
                <a:latin typeface="Arial"/>
              </a:rPr>
              <a:t>key-count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600" y="251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12703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9600" y="255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859600" y="2550000"/>
            <a:ext cx="2676400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96000" y="251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20,450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600" y="302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4488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9600" y="306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859600" y="3060000"/>
            <a:ext cx="2614888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96000" y="302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19,980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600" y="353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9021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9600" y="357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859600" y="3570000"/>
            <a:ext cx="2658077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96000" y="353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20,310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00" y="404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15330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9600" y="408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859600" y="4080000"/>
            <a:ext cx="2583478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96000" y="404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19,740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600" y="455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702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9600" y="459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859600" y="4590000"/>
            <a:ext cx="2633211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96000" y="455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20,120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600" y="4970000"/>
            <a:ext cx="46864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On by default. Every slot looks the same.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6000" y="1650000"/>
            <a:ext cx="5286400" cy="3800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96000" y="1910000"/>
            <a:ext cx="4686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accent1"/>
                </a:solidFill>
                <a:latin typeface="Arial"/>
              </a:rPr>
              <a:t>cpu-usec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6000" y="251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12703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6000" y="255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546000" y="2550000"/>
            <a:ext cx="2676400" cy="2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82400" y="251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chemeClr val="dk1"/>
                </a:solidFill>
                <a:latin typeface="Arial"/>
              </a:rPr>
              <a:t>41,200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6000" y="302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4488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6000" y="306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546000" y="3060000"/>
            <a:ext cx="636619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382400" y="302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9,800 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6000" y="353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9021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6000" y="357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546000" y="3570000"/>
            <a:ext cx="526185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382400" y="353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8,100 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6000" y="404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15330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6000" y="408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546000" y="4080000"/>
            <a:ext cx="480712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382400" y="404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7,400 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6000" y="455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702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6000" y="459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546000" y="4590000"/>
            <a:ext cx="448232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382400" y="455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6,900 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6000" y="4970000"/>
            <a:ext cx="46864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Needs cluster-slot-stats-enabled yes.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Standalone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87240" y="3200000"/>
            <a:ext cx="14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87240" y="3200000"/>
            <a:ext cx="1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47240" y="3400000"/>
            <a:ext cx="980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8724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87240" y="3100000"/>
            <a:ext cx="301752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7240" y="3420000"/>
            <a:ext cx="301752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all 16384 slots</a:t>
            </a:r>
          </a:p>
        </p:txBody>
      </p:sp>
      <p:pic>
        <p:nvPicPr>
          <p:cNvPr id="9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4049" y="2960000"/>
            <a:ext cx="190711" cy="2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Replication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3200000"/>
            <a:ext cx="14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3200000"/>
            <a:ext cx="1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9600" y="3400000"/>
            <a:ext cx="12804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09600" y="3000000"/>
            <a:ext cx="1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writes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000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50000" y="3100000"/>
            <a:ext cx="301752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000" y="3420000"/>
            <a:ext cx="301752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accepts writes</a:t>
            </a:r>
          </a:p>
        </p:txBody>
      </p:sp>
      <p:pic>
        <p:nvPicPr>
          <p:cNvPr id="10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6809" y="2960000"/>
            <a:ext cx="190711" cy="22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6752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7520" y="3100000"/>
            <a:ext cx="301752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7520" y="3420000"/>
            <a:ext cx="301752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serves reads</a:t>
            </a:r>
          </a:p>
        </p:txBody>
      </p:sp>
      <p:pic>
        <p:nvPicPr>
          <p:cNvPr id="14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4329" y="2960000"/>
            <a:ext cx="190711" cy="22000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6687520" y="3400000"/>
            <a:ext cx="1260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67520" y="3000000"/>
            <a:ext cx="1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replicates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3390933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0 – 5460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1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1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9822" y="203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600" y="36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9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9822" y="3530000"/>
            <a:ext cx="190711" cy="2200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2305066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60533" y="2470000"/>
            <a:ext cx="280000" cy="0"/>
          </a:xfrm>
          <a:prstGeom prst="line">
            <a:avLst/>
          </a:prstGeom>
          <a:ln w="15875">
            <a:solidFill>
              <a:schemeClr val="dk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00533" y="1450000"/>
            <a:ext cx="3390933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5461 – 10922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533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00533" y="21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533" y="24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2</a:t>
            </a:r>
          </a:p>
        </p:txBody>
      </p:sp>
      <p:pic>
        <p:nvPicPr>
          <p:cNvPr id="18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0755" y="2030000"/>
            <a:ext cx="190711" cy="220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00533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00533" y="36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0533" y="39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22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0755" y="3530000"/>
            <a:ext cx="190711" cy="22000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6095999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51466" y="2470000"/>
            <a:ext cx="280000" cy="0"/>
          </a:xfrm>
          <a:prstGeom prst="line">
            <a:avLst/>
          </a:prstGeom>
          <a:ln w="15875">
            <a:solidFill>
              <a:schemeClr val="dk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91466" y="1450000"/>
            <a:ext cx="3390933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10923 – 16383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1466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91466" y="21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466" y="24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3</a:t>
            </a:r>
          </a:p>
        </p:txBody>
      </p:sp>
      <p:pic>
        <p:nvPicPr>
          <p:cNvPr id="29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1688" y="2030000"/>
            <a:ext cx="190711" cy="22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191466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91466" y="36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466" y="39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33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1688" y="3530000"/>
            <a:ext cx="190711" cy="220000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9886932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SETSLOT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 5461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MIGRATING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IMPORTING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one key per MIGRATE, clients follow -ASK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IMPORTING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MIGRATING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GETKEYSINSLOT + MIGRATE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SETSLOT 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 5461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holds keys it does not own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640000" y="2725000"/>
            <a:ext cx="2912000" cy="0"/>
          </a:xfrm>
          <a:prstGeom prst="line">
            <a:avLst/>
          </a:prstGeom>
          <a:ln w="1905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keys must be moved back by hand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IMPORTING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MIGRATING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GETKEYSINSLOT + MIGRATE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NODE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MIGRATESLOTS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Arial"/>
              </a:rPr>
              <a:t>staging area created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slot migration link established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SYNCSLOTS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Arial"/>
              </a:rPr>
              <a:t>staging area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snapshot, then live stream of mutations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SYNCSLOTS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paused, then drops its copy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owns the slots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caught up, ownership handed over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CANCELSLOTMIGRATIONS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never stopped owning them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staging area discarded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transfer abandoned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Failed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CANCELSLOTMIGRATIONS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never stopped owning them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staging area discarded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transfer abandoned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Failed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14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5632" y="144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3x</a:t>
            </a:r>
            <a:r>
              <a:rPr sz="1800" b="0">
                <a:solidFill>
                  <a:schemeClr val="dk1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0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09600" y="20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5632" y="209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25%+</a:t>
            </a:r>
            <a:r>
              <a:rPr sz="1800" b="0">
                <a:solidFill>
                  <a:schemeClr val="dk1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7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09600" y="27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5632" y="274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1M+</a:t>
            </a:r>
            <a:r>
              <a:rPr sz="1800" b="0">
                <a:solidFill>
                  <a:schemeClr val="dk1"/>
                </a:solidFill>
                <a:latin typeface="Arial"/>
              </a:rPr>
              <a:t> RPS on a single 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3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09600" y="33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5632" y="339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0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09600" y="40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5632" y="404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6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09600" y="46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5632" y="469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55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600" y="144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3x</a:t>
            </a:r>
            <a:r>
              <a:rPr sz="2000" b="0">
                <a:solidFill>
                  <a:schemeClr val="dk2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17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9600" y="206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25%+</a:t>
            </a:r>
            <a:r>
              <a:rPr sz="2000" b="0">
                <a:solidFill>
                  <a:schemeClr val="dk2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9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600" y="268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1M+</a:t>
            </a:r>
            <a:r>
              <a:rPr sz="2000" b="0">
                <a:solidFill>
                  <a:schemeClr val="dk2"/>
                </a:solidFill>
                <a:latin typeface="Arial"/>
              </a:rPr>
              <a:t> RPS on a single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41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9600" y="330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03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9600" y="392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65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600" y="454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pic>
        <p:nvPicPr>
          <p:cNvPr id="3" name="performa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465931"/>
            <a:ext cx="520000" cy="5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69600" y="144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3x</a:t>
            </a:r>
            <a:r>
              <a:rPr sz="1800" b="0">
                <a:solidFill>
                  <a:schemeClr val="dk1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4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memory-efficienc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105931"/>
            <a:ext cx="520000" cy="5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69600" y="208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25%+</a:t>
            </a:r>
            <a:r>
              <a:rPr sz="1800" b="0">
                <a:solidFill>
                  <a:schemeClr val="dk1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8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vertical-scali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745931"/>
            <a:ext cx="520000" cy="52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9600" y="272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1M+</a:t>
            </a:r>
            <a:r>
              <a:rPr sz="1800" b="0">
                <a:solidFill>
                  <a:schemeClr val="dk1"/>
                </a:solidFill>
                <a:latin typeface="Arial"/>
              </a:rPr>
              <a:t> RPS on a single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32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replicati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3385931"/>
            <a:ext cx="520000" cy="52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69600" y="336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96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reliability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025931"/>
            <a:ext cx="520000" cy="52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9600" y="400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60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observability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5:svgBlip xmlns:ns5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4665931"/>
            <a:ext cx="520000" cy="5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69600" y="464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Two ways to grow (calmer palette)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5065640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Vertical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5065640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Add CPU and memory to one node. Simple to operate, bounded by the largest instance you can buy, and a bigger blast radius when it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23880" y="2863251"/>
            <a:ext cx="5065640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Horizontal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3880" y="3309081"/>
            <a:ext cx="5065640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Shard the keyspace across nodes. Scales past any single machine, at the cost of more moving parts and less headroom for bursts.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Two ways to grow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5065640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Vertical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5065640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Add CPU and memory to one node. Simple to operate, bounded by the largest instance you can buy, and a bigger blast radius when it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23880" y="2863251"/>
            <a:ext cx="5065640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Horizontal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3880" y="3309081"/>
            <a:ext cx="5065640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Shard the keyspace across nodes. Scales past any single machine, at the cost of more moving parts and less headroom for bursts.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What we optimize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erforma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Throughput per core, and predictable tail latency under load.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3866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harden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6746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46746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6746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Safe defaults, fuzzing, and a shrinking surface area for untrusted input.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8132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cost-efficienc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1012" y="1628811"/>
            <a:ext cx="10972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1012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Cost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1012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Same workload on smaller hardware means a smaller bill.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Icon library</a:t>
            </a:r>
          </a:p>
        </p:txBody>
      </p:sp>
      <p:pic>
        <p:nvPicPr>
          <p:cNvPr id="3" name="commun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6281" y="1206446"/>
            <a:ext cx="629837" cy="629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927723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Community</a:t>
            </a:r>
          </a:p>
        </p:txBody>
      </p:sp>
      <p:pic>
        <p:nvPicPr>
          <p:cNvPr id="5" name="cost-efficienc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9481" y="1206446"/>
            <a:ext cx="629837" cy="629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52800" y="1927723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Cost efficiency</a:t>
            </a:r>
          </a:p>
        </p:txBody>
      </p:sp>
      <p:pic>
        <p:nvPicPr>
          <p:cNvPr id="7" name="data-hash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2681" y="1206446"/>
            <a:ext cx="629837" cy="6298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0" y="1927723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Hashes</a:t>
            </a:r>
          </a:p>
        </p:txBody>
      </p:sp>
      <p:pic>
        <p:nvPicPr>
          <p:cNvPr id="9" name="data-list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95881" y="1206446"/>
            <a:ext cx="629837" cy="629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39200" y="1927723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Lists</a:t>
            </a:r>
          </a:p>
        </p:txBody>
      </p:sp>
      <p:pic>
        <p:nvPicPr>
          <p:cNvPr id="11" name="durability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66281" y="2347723"/>
            <a:ext cx="629837" cy="629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069000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Durability</a:t>
            </a:r>
          </a:p>
        </p:txBody>
      </p:sp>
      <p:pic>
        <p:nvPicPr>
          <p:cNvPr id="13" name="general-scali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5:svgBlip xmlns:ns5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09481" y="2347723"/>
            <a:ext cx="629837" cy="6298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52800" y="3069000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Scaling</a:t>
            </a:r>
          </a:p>
        </p:txBody>
      </p:sp>
      <p:pic>
        <p:nvPicPr>
          <p:cNvPr id="15" name="hardeni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6:svgBlip xmlns:ns6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52681" y="2347723"/>
            <a:ext cx="629837" cy="6298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0" y="3069000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Hardening</a:t>
            </a:r>
          </a:p>
        </p:txBody>
      </p:sp>
      <p:pic>
        <p:nvPicPr>
          <p:cNvPr id="17" name="horizontal-scali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ns7:svgBlip xmlns:ns7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95881" y="2347723"/>
            <a:ext cx="629837" cy="62983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39200" y="3069000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Horizontal scaling</a:t>
            </a:r>
          </a:p>
        </p:txBody>
      </p:sp>
      <p:pic>
        <p:nvPicPr>
          <p:cNvPr id="19" name="memory-efficiency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ns8:svgBlip xmlns:ns8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66281" y="3489000"/>
            <a:ext cx="629837" cy="6298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210277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Memory efficiency</a:t>
            </a:r>
          </a:p>
        </p:txBody>
      </p:sp>
      <p:pic>
        <p:nvPicPr>
          <p:cNvPr id="21" name="migration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ns9:svgBlip xmlns:ns9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409481" y="3489000"/>
            <a:ext cx="629837" cy="6298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52800" y="4210277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Migration</a:t>
            </a:r>
          </a:p>
        </p:txBody>
      </p:sp>
      <p:pic>
        <p:nvPicPr>
          <p:cNvPr id="23" name="observability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ns10:svgBlip xmlns:ns1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52681" y="3489000"/>
            <a:ext cx="629837" cy="62983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0" y="4210277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Observability</a:t>
            </a:r>
          </a:p>
        </p:txBody>
      </p:sp>
      <p:pic>
        <p:nvPicPr>
          <p:cNvPr id="25" name="performance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ns11:svgBlip xmlns:ns11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895881" y="3489000"/>
            <a:ext cx="629837" cy="6298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39200" y="4210277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Performance</a:t>
            </a:r>
          </a:p>
        </p:txBody>
      </p:sp>
      <p:pic>
        <p:nvPicPr>
          <p:cNvPr id="27" name="reliability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ns12:svgBlip xmlns:ns12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666281" y="4630277"/>
            <a:ext cx="629837" cy="62983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5351554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Reliability</a:t>
            </a:r>
          </a:p>
        </p:txBody>
      </p:sp>
      <p:pic>
        <p:nvPicPr>
          <p:cNvPr id="29" name="replication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ns13:svgBlip xmlns:ns13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409481" y="4630277"/>
            <a:ext cx="629837" cy="62983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352800" y="5351554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Replication</a:t>
            </a:r>
          </a:p>
        </p:txBody>
      </p:sp>
      <p:pic>
        <p:nvPicPr>
          <p:cNvPr id="31" name="security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ns14:svgBlip xmlns:ns14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152681" y="4630277"/>
            <a:ext cx="629837" cy="62983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0" y="5351554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Security</a:t>
            </a:r>
          </a:p>
        </p:txBody>
      </p:sp>
      <p:pic>
        <p:nvPicPr>
          <p:cNvPr id="33" name="vertical-scali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ns15:svgBlip xmlns:ns15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895881" y="4630277"/>
            <a:ext cx="629837" cy="62983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39200" y="5351554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Vertical scaling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Madelyn Olson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@reconditerose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github.com/madolson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AI Holdings">
  <a:themeElements>
    <a:clrScheme name="Valkey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6983FF"/>
      </a:accent1>
      <a:accent2>
        <a:srgbClr val="1A2026"/>
      </a:accent2>
      <a:accent3>
        <a:srgbClr val="632637"/>
      </a:accent3>
      <a:accent4>
        <a:srgbClr val="30176E"/>
      </a:accent4>
      <a:accent5>
        <a:srgbClr val="BCB5E7"/>
      </a:accent5>
      <a:accent6>
        <a:srgbClr val="E0A2AF"/>
      </a:accent6>
      <a:hlink>
        <a:srgbClr val="6983FF"/>
      </a:hlink>
      <a:folHlink>
        <a:srgbClr val="6983FF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15740</TotalTime>
  <Words>2755</Words>
  <Application>Microsoft Macintosh PowerPoint</Application>
  <PresentationFormat>Widescreen</PresentationFormat>
  <Paragraphs>462</Paragraphs>
  <Slides>43</Slides>
  <Notes>30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Play</vt:lpstr>
      <vt:lpstr>Arial</vt:lpstr>
      <vt:lpstr>Century Gothic</vt:lpstr>
      <vt:lpstr>AWS AI Holdings</vt:lpstr>
      <vt:lpstr>PowerPoint Presentation</vt:lpstr>
      <vt:lpstr>Background</vt:lpstr>
      <vt:lpstr>Introducing the Valkey project</vt:lpstr>
      <vt:lpstr>Backed by industry leaders</vt:lpstr>
      <vt:lpstr>The Valkey project is thriving</vt:lpstr>
      <vt:lpstr>Latest developments in Valkey OSS</vt:lpstr>
      <vt:lpstr>Valkey 7.2 (April 2024)</vt:lpstr>
      <vt:lpstr>Valkey 8.0 (September 2024)</vt:lpstr>
      <vt:lpstr>Valkey 8.1 (April 2025)</vt:lpstr>
      <vt:lpstr>Valkey 9.0 (October 2025)</vt:lpstr>
      <vt:lpstr>Valkey 9.1 (May 2026)</vt:lpstr>
      <vt:lpstr>Get involved in the project</vt:lpstr>
      <vt:lpstr>Integrations</vt:lpstr>
      <vt:lpstr>Valkey module distribution</vt:lpstr>
      <vt:lpstr>Valkey GLIDE</vt:lpstr>
      <vt:lpstr>Migrations</vt:lpstr>
      <vt:lpstr>Migrating from Redis OSS to Valkey</vt:lpstr>
      <vt:lpstr>Strategies for migration</vt:lpstr>
      <vt:lpstr>Memory Efficiency</vt:lpstr>
      <vt:lpstr>A new hash table</vt:lpstr>
      <vt:lpstr>A new hash table</vt:lpstr>
      <vt:lpstr>A new hash table</vt:lpstr>
      <vt:lpstr>A new hash table</vt:lpstr>
      <vt:lpstr>A new hash table</vt:lpstr>
      <vt:lpstr>A new hash table</vt:lpstr>
      <vt:lpstr>A new hash table</vt:lpstr>
      <vt:lpstr>Performance</vt:lpstr>
      <vt:lpstr>Thread scalable command processing</vt:lpstr>
      <vt:lpstr>Thread scalable command processing</vt:lpstr>
      <vt:lpstr>Thread scalable command processing</vt:lpstr>
      <vt:lpstr>Thread scalable command processing</vt:lpstr>
      <vt:lpstr>Thread scalable command processing</vt:lpstr>
      <vt:lpstr>Multithreaded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Olson, Madelyn</dc:creator>
  <cp:lastModifiedBy>Olson, Madelyn</cp:lastModifiedBy>
  <cp:revision>28</cp:revision>
  <dcterms:created xsi:type="dcterms:W3CDTF">2025-04-15T18:05:46Z</dcterms:created>
  <dcterms:modified xsi:type="dcterms:W3CDTF">2026-05-22T22:50:31Z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2025-10-13T18:50:11Z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b81c3afb-3afe-4c07-b9bf-69177ff0e214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
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handoutMasterIdLst>
    <p:handoutMasterId r:id="rId46"/>
  </p:handoutMasterIdLst>
  <p:sldIdLst>
    <p:sldId id="320" r:id="rId2"/>
    <p:sldId id="307" r:id="rId3"/>
    <p:sldId id="258" r:id="rId4"/>
    <p:sldId id="259" r:id="rId5"/>
    <p:sldId id="260" r:id="rId6"/>
    <p:sldId id="261" r:id="rId7"/>
    <p:sldId id="310" r:id="rId8"/>
    <p:sldId id="311" r:id="rId9"/>
    <p:sldId id="312" r:id="rId10"/>
    <p:sldId id="313" r:id="rId11"/>
    <p:sldId id="314" r:id="rId12"/>
    <p:sldId id="278" r:id="rId13"/>
    <p:sldId id="309" r:id="rId14"/>
    <p:sldId id="271" r:id="rId15"/>
    <p:sldId id="316" r:id="rId16"/>
    <p:sldId id="274" r:id="rId17"/>
    <p:sldId id="275" r:id="rId18"/>
    <p:sldId id="276" r:id="rId19"/>
    <p:sldId id="262" r:id="rId20"/>
    <p:sldId id="268" r:id="rId21"/>
    <p:sldId id="299" r:id="rId22"/>
    <p:sldId id="300" r:id="rId23"/>
    <p:sldId id="303" r:id="rId24"/>
    <p:sldId id="301" r:id="rId25"/>
    <p:sldId id="302" r:id="rId26"/>
    <p:sldId id="269" r:id="rId27"/>
    <p:sldId id="267" r:id="rId28"/>
    <p:sldId id="293" r:id="rId29"/>
    <p:sldId id="294" r:id="rId30"/>
    <p:sldId id="296" r:id="rId31"/>
    <p:sldId id="297" r:id="rId32"/>
    <p:sldId id="298" r:id="rId33"/>
    <p:sldId id="266" r:id="rId34"/>
    <p:sldId id="321" r:id="rId35"/>
    <p:sldId id="281" r:id="rId36"/>
    <p:sldId id="282" r:id="rId37"/>
    <p:sldId id="284" r:id="rId38"/>
    <p:sldId id="285" r:id="rId39"/>
    <p:sldId id="286" r:id="rId40"/>
    <p:sldId id="287" r:id="rId41"/>
    <p:sldId id="317" r:id="rId42"/>
    <p:sldId id="318" r:id="rId43"/>
    <p:sldId id="319" r:id="rId44"/>
  </p:sldIdLst>
  <p:sldSz cx="12192000" cy="6858000"/>
  <p:notesSz cx="6858000" cy="9144000"/>
  <p:embeddedFontLst>
    <p:embeddedFont>
      <p:font typeface="Century Gothic" panose="020B0502020202020204" pitchFamily="34" charset="0"/>
      <p:regular r:id="rId47"/>
      <p:bold r:id="rId48"/>
      <p:italic r:id="rId49"/>
      <p:boldItalic r:id="rId50"/>
    </p:embeddedFont>
    <p:embeddedFont>
      <p:font typeface="Play"/>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General" id="{955B2512-A0E9-004C-A974-F37B9108860F}">
          <p14:sldIdLst>
            <p14:sldId id="320"/>
            <p14:sldId id="307"/>
            <p14:sldId id="258"/>
            <p14:sldId id="259"/>
            <p14:sldId id="260"/>
            <p14:sldId id="261"/>
            <p14:sldId id="310"/>
            <p14:sldId id="311"/>
            <p14:sldId id="312"/>
            <p14:sldId id="313"/>
            <p14:sldId id="314"/>
            <p14:sldId id="278"/>
            <p14:sldId id="309"/>
            <p14:sldId id="271"/>
            <p14:sldId id="316"/>
            <p14:sldId id="274"/>
            <p14:sldId id="275"/>
            <p14:sldId id="276"/>
          </p14:sldIdLst>
        </p14:section>
        <p14:section name="Features" id="{B6C2DFD3-F7BC-E445-8136-6E30FB47F7B9}">
          <p14:sldIdLst>
            <p14:sldId id="262"/>
            <p14:sldId id="268"/>
            <p14:sldId id="299"/>
            <p14:sldId id="300"/>
            <p14:sldId id="303"/>
            <p14:sldId id="301"/>
            <p14:sldId id="302"/>
            <p14:sldId id="269"/>
            <p14:sldId id="267"/>
            <p14:sldId id="293"/>
            <p14:sldId id="294"/>
            <p14:sldId id="296"/>
            <p14:sldId id="297"/>
            <p14:sldId id="298"/>
            <p14:sldId id="266"/>
            <p14:sldId id="321"/>
          </p14:sldIdLst>
        </p14:section>
        <p14:section name="Template examples" id="{899405CC-6E1E-4C49-BD4C-AAB5EBF02875}">
          <p14:sldIdLst>
            <p14:sldId id="281"/>
            <p14:sldId id="282"/>
            <p14:sldId id="284"/>
            <p14:sldId id="285"/>
            <p14:sldId id="286"/>
            <p14:sldId id="287"/>
            <p14:sldId id="317"/>
            <p14:sldId id="318"/>
            <p14:sldId id="31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Bjwdw4Z9xz+EjAItyouivSXpbz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30"/>
    <p:restoredTop sz="87225"/>
  </p:normalViewPr>
  <p:slideViewPr>
    <p:cSldViewPr snapToGrid="0">
      <p:cViewPr varScale="1">
        <p:scale>
          <a:sx n="68" d="100"/>
          <a:sy n="68" d="100"/>
        </p:scale>
        <p:origin x="232" y="2848"/>
      </p:cViewPr>
      <p:guideLst/>
    </p:cSldViewPr>
  </p:slideViewPr>
  <p:notesTextViewPr>
    <p:cViewPr>
      <p:scale>
        <a:sx n="1" d="1"/>
        <a:sy n="1" d="1"/>
      </p:scale>
      <p:origin x="0" y="0"/>
    </p:cViewPr>
  </p:notesTextViewPr>
  <p:notesViewPr>
    <p:cSldViewPr snapToGrid="0">
      <p:cViewPr varScale="1">
        <p:scale>
          <a:sx n="165" d="100"/>
          <a:sy n="165" d="100"/>
        </p:scale>
        <p:origin x="5296"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0A7F18-A111-AB6A-97B8-B13BD2198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E721FC1-A360-DBB8-0D4E-F8382AEAE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A8BFF4-3DC3-D34C-B801-A1856919C1BB}" type="datetimeFigureOut">
              <a:rPr lang="en-US" smtClean="0"/>
              <a:t>5/22/26</a:t>
            </a:fld>
            <a:endParaRPr lang="en-US"/>
          </a:p>
        </p:txBody>
      </p:sp>
      <p:sp>
        <p:nvSpPr>
          <p:cNvPr id="4" name="Footer Placeholder 3">
            <a:extLst>
              <a:ext uri="{FF2B5EF4-FFF2-40B4-BE49-F238E27FC236}">
                <a16:creationId xmlns:a16="http://schemas.microsoft.com/office/drawing/2014/main" id="{23CAE0C6-45D2-84B2-2F94-5D3078BB1B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B69EAEC-8756-8E23-D948-BCAD92B39E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A76D86-3DF6-9345-A4E1-DF218D7231BC}" type="slidenum">
              <a:rPr lang="en-US" smtClean="0"/>
              <a:t>‹#›</a:t>
            </a:fld>
            <a:endParaRPr lang="en-US"/>
          </a:p>
        </p:txBody>
      </p:sp>
    </p:spTree>
    <p:extLst>
      <p:ext uri="{BB962C8B-B14F-4D97-AF65-F5344CB8AC3E}">
        <p14:creationId xmlns:p14="http://schemas.microsoft.com/office/powerpoint/2010/main" val="1304316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L="914400" marR="0" lvl="1"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2pPr>
            <a:lvl3pPr marL="1371600" marR="0" lvl="2"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3pPr>
            <a:lvl4pPr marL="1828800" marR="0" lvl="3"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4pPr>
            <a:lvl5pPr marL="2286000" marR="0" lvl="4"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5pPr>
            <a:lvl6pPr marL="2743200" marR="0" lvl="5" indent="-228600" algn="l" rtl="0">
              <a:spcBef>
                <a:spcPts val="30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en-US" sz="1000" b="0" i="0" u="none" strike="noStrike" cap="none">
                <a:solidFill>
                  <a:schemeClr val="dk1"/>
                </a:solidFill>
                <a:latin typeface="Play"/>
                <a:ea typeface="Play"/>
                <a:cs typeface="Play"/>
                <a:sym typeface="Play"/>
              </a:rPr>
              <a:t>‹#›</a:t>
            </a:fld>
            <a:endParaRPr sz="1000" b="0" i="0" u="none" strike="noStrike" cap="none">
              <a:solidFill>
                <a:schemeClr val="dk1"/>
              </a:solidFill>
              <a:latin typeface="Play"/>
              <a:ea typeface="Play"/>
              <a:cs typeface="Play"/>
              <a:sym typeface="Play"/>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pos="2160">
          <p15:clr>
            <a:srgbClr val="F26B43"/>
          </p15:clr>
        </p15:guide>
        <p15:guide id="2" orient="horz" pos="2880">
          <p15:clr>
            <a:srgbClr val="F26B43"/>
          </p15:clr>
        </p15:guide>
        <p15:guide id="3" pos="264">
          <p15:clr>
            <a:srgbClr val="F26B43"/>
          </p15:clr>
        </p15:guide>
        <p15:guide id="4" pos="4056">
          <p15:clr>
            <a:srgbClr val="F26B43"/>
          </p15:clr>
        </p15:guide>
        <p15:guide id="5" orient="horz" pos="288">
          <p15:clr>
            <a:srgbClr val="F26B43"/>
          </p15:clr>
        </p15:guide>
        <p15:guide id="6" orient="horz" pos="264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3: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Three key points about Valkey:</a:t>
            </a:r>
            <a:br>
              <a:rPr lang="en-US"/>
            </a:br>
            <a:r>
              <a:rPr lang="en-US"/>
              <a:t>1. It’s fully compatible with Redis OSS 7.2, and will always be.</a:t>
            </a:r>
            <a:endParaRPr/>
          </a:p>
          <a:p>
            <a:pPr marL="0" lvl="0" indent="0" algn="l" rtl="0">
              <a:spcBef>
                <a:spcPts val="300"/>
              </a:spcBef>
              <a:spcAft>
                <a:spcPts val="0"/>
              </a:spcAft>
              <a:buNone/>
            </a:pPr>
            <a:r>
              <a:rPr lang="en-US"/>
              <a:t>2. It’s backed by the linux foundation, so it will remain open-source and vendor neutral.</a:t>
            </a:r>
            <a:endParaRPr/>
          </a:p>
          <a:p>
            <a:pPr marL="0" lvl="0" indent="0" algn="l" rtl="0">
              <a:spcBef>
                <a:spcPts val="300"/>
              </a:spcBef>
              <a:spcAft>
                <a:spcPts val="0"/>
              </a:spcAft>
              <a:buNone/>
            </a:pPr>
            <a:r>
              <a:rPr lang="en-US"/>
              <a:t>3. It has a diverse backing. There are six technical steering members, from six different companies.</a:t>
            </a:r>
            <a:endParaRPr/>
          </a:p>
        </p:txBody>
      </p:sp>
      <p:sp>
        <p:nvSpPr>
          <p:cNvPr id="113" name="Google Shape;113;p3: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147" name="Google Shape;147;p4: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5: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5: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Valkey is a thriving project, highlight the corporate support, number of commits, and how it's being widely adopted.</a:t>
            </a:r>
            <a:endParaRPr/>
          </a:p>
          <a:p>
            <a:pPr marL="0" lvl="0" indent="0" algn="l" rtl="0">
              <a:spcBef>
                <a:spcPts val="300"/>
              </a:spcBef>
              <a:spcAft>
                <a:spcPts val="0"/>
              </a:spcAft>
              <a:buNone/>
            </a:pPr>
            <a:endParaRPr/>
          </a:p>
          <a:p>
            <a:pPr marL="0" lvl="0" indent="0" algn="l" rtl="0">
              <a:spcBef>
                <a:spcPts val="300"/>
              </a:spcBef>
              <a:spcAft>
                <a:spcPts val="0"/>
              </a:spcAft>
              <a:buNone/>
            </a:pPr>
            <a:r>
              <a:rPr lang="en-US"/>
              <a:t>Limited managed provider list: AWS, Aiven, GCP, Elastio, OCI, Yandex, Upcloud, Netapp instaclustr, Percona, Exoscale, stackhero</a:t>
            </a:r>
            <a:endParaRPr/>
          </a:p>
        </p:txBody>
      </p:sp>
      <p:sp>
        <p:nvSpPr>
          <p:cNvPr id="169" name="Google Shape;169;p5: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6: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Valkey's releases have been on a roughly 6 month cadence. Valkey 9.0 shipped in October 2025 and 9.1 shipped in May 2026.</a:t>
            </a:r>
            <a:endParaRPr/>
          </a:p>
          <a:p>
            <a:pPr marL="0" lvl="0" indent="0" algn="l" rtl="0">
              <a:spcBef>
                <a:spcPts val="300"/>
              </a:spcBef>
              <a:spcAft>
                <a:spcPts val="0"/>
              </a:spcAft>
              <a:buNone/>
            </a:pPr>
            <a:endParaRPr/>
          </a:p>
          <a:p>
            <a:pPr marL="0" lvl="0" indent="0" algn="l" rtl="0">
              <a:spcBef>
                <a:spcPts val="300"/>
              </a:spcBef>
              <a:spcAft>
                <a:spcPts val="0"/>
              </a:spcAft>
              <a:buNone/>
            </a:pPr>
            <a:r>
              <a:rPr lang="en-US"/>
              <a:t>Valkey 9.0 was a major release with atomic slot migration, hash field expiration, numbered databases in cluster mode, and 1 billion+ RPS clusters.</a:t>
            </a:r>
            <a:endParaRPr/>
          </a:p>
        </p:txBody>
      </p:sp>
      <p:sp>
        <p:nvSpPr>
          <p:cNvPr id="176" name="Google Shape;176;p6: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3: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23: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We’d love you to come joint he project.</a:t>
            </a:r>
            <a:endParaRPr/>
          </a:p>
        </p:txBody>
      </p:sp>
      <p:sp>
        <p:nvSpPr>
          <p:cNvPr id="397" name="Google Shape;397;p23: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6: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6: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release also included 3 new modules, JSON, bloom, and Vector similar search.</a:t>
            </a:r>
            <a:endParaRPr/>
          </a:p>
        </p:txBody>
      </p:sp>
      <p:sp>
        <p:nvSpPr>
          <p:cNvPr id="261" name="Google Shape;261;p16: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9: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9: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Play"/>
              <a:buNone/>
            </a:pPr>
            <a:r>
              <a:rPr lang="en-US"/>
              <a:t>Earlier on we talked about compatibility. Let’s dive into that.</a:t>
            </a:r>
            <a:endParaRPr/>
          </a:p>
          <a:p>
            <a:pPr marL="0" lvl="0" indent="0" algn="l" rtl="0">
              <a:spcBef>
                <a:spcPts val="300"/>
              </a:spcBef>
              <a:spcAft>
                <a:spcPts val="0"/>
              </a:spcAft>
              <a:buNone/>
            </a:pPr>
            <a:endParaRPr/>
          </a:p>
        </p:txBody>
      </p:sp>
      <p:sp>
        <p:nvSpPr>
          <p:cNvPr id="285" name="Google Shape;285;p19: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0: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0: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300"/>
              </a:spcBef>
              <a:spcAft>
                <a:spcPts val="0"/>
              </a:spcAft>
              <a:buNone/>
            </a:pPr>
            <a:r>
              <a:rPr lang="en-US"/>
              <a:t>Valkey is API, configuration, protocol, and client library compatibility. You won’t necessarily be able to take advantage of some of the new functionality, but it will be compatible.</a:t>
            </a:r>
            <a:endParaRPr/>
          </a:p>
        </p:txBody>
      </p:sp>
      <p:sp>
        <p:nvSpPr>
          <p:cNvPr id="291" name="Google Shape;291;p20: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1: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1: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There are a few ways to migrate.</a:t>
            </a:r>
            <a:endParaRPr/>
          </a:p>
          <a:p>
            <a:pPr marL="0" lvl="0" indent="0" algn="l" rtl="0">
              <a:spcBef>
                <a:spcPts val="300"/>
              </a:spcBef>
              <a:spcAft>
                <a:spcPts val="0"/>
              </a:spcAft>
              <a:buNone/>
            </a:pPr>
            <a:endParaRPr/>
          </a:p>
          <a:p>
            <a:pPr marL="0" lvl="0" indent="0" algn="l" rtl="0">
              <a:spcBef>
                <a:spcPts val="300"/>
              </a:spcBef>
              <a:spcAft>
                <a:spcPts val="0"/>
              </a:spcAft>
              <a:buNone/>
            </a:pPr>
            <a:r>
              <a:rPr lang="en-US"/>
              <a:t>1. If you are using Valkey as a cache, you can simply doing a rolling update with new hosts pointing to the new cache. On cache misses, your data will get rehydrated into the new Valkey cluster.</a:t>
            </a:r>
            <a:endParaRPr/>
          </a:p>
          <a:p>
            <a:pPr marL="0" lvl="0" indent="0" algn="l" rtl="0">
              <a:spcBef>
                <a:spcPts val="300"/>
              </a:spcBef>
              <a:spcAft>
                <a:spcPts val="0"/>
              </a:spcAft>
              <a:buNone/>
            </a:pPr>
            <a:r>
              <a:rPr lang="en-US"/>
              <a:t>2. You can also take a backup of your Redis cluster, and restore it into Valkey. Redis snapshots taken on version 7.2 and earlier are compatible, but older versions are not compatible. There is a new configuration in Valkey 8.1 that allows you to try to load a new Redis snapshot, but it might fail if it finds some incompatible data. </a:t>
            </a:r>
            <a:endParaRPr/>
          </a:p>
          <a:p>
            <a:pPr marL="0" lvl="0" indent="0" algn="l" rtl="0">
              <a:spcBef>
                <a:spcPts val="300"/>
              </a:spcBef>
              <a:spcAft>
                <a:spcPts val="0"/>
              </a:spcAft>
              <a:buNone/>
            </a:pPr>
            <a:r>
              <a:rPr lang="en-US"/>
              <a:t>3. Lastly, there are third party tools like RIOT that allow for online migration between two completely different Redis compatible systems.</a:t>
            </a:r>
            <a:endParaRPr/>
          </a:p>
        </p:txBody>
      </p:sp>
      <p:sp>
        <p:nvSpPr>
          <p:cNvPr id="317" name="Google Shape;317;p21: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dive into some of the innovation that we’ve built in Valkey. </a:t>
            </a:r>
            <a:endParaRPr/>
          </a:p>
          <a:p>
            <a:pPr marL="0" lvl="0" indent="0" algn="l" rtl="0">
              <a:spcBef>
                <a:spcPts val="300"/>
              </a:spcBef>
              <a:spcAft>
                <a:spcPts val="0"/>
              </a:spcAft>
              <a:buNone/>
            </a:pPr>
            <a:endParaRPr/>
          </a:p>
          <a:p>
            <a:pPr marL="0" lvl="0" indent="0" algn="l" rtl="0">
              <a:spcBef>
                <a:spcPts val="300"/>
              </a:spcBef>
              <a:spcAft>
                <a:spcPts val="0"/>
              </a:spcAft>
              <a:buNone/>
            </a:pPr>
            <a:r>
              <a:rPr lang="en-US"/>
              <a:t>Valkey 8.0 was the first release with new content.</a:t>
            </a:r>
            <a:endParaRPr/>
          </a:p>
          <a:p>
            <a:pPr marL="0" lvl="0" indent="0" algn="l" rtl="0">
              <a:spcBef>
                <a:spcPts val="300"/>
              </a:spcBef>
              <a:spcAft>
                <a:spcPts val="0"/>
              </a:spcAft>
              <a:buNone/>
            </a:pPr>
            <a:endParaRPr/>
          </a:p>
          <a:p>
            <a:pPr marL="0" lvl="0" indent="0" algn="l" rtl="0">
              <a:spcBef>
                <a:spcPts val="300"/>
              </a:spcBef>
              <a:spcAft>
                <a:spcPts val="0"/>
              </a:spcAft>
              <a:buNone/>
            </a:pPr>
            <a:r>
              <a:rPr lang="en-US"/>
              <a:t>We focused on modernizing the engine, so let’s dive into some of the technical details.</a:t>
            </a:r>
            <a:endParaRPr/>
          </a:p>
        </p:txBody>
      </p:sp>
      <p:sp>
        <p:nvSpPr>
          <p:cNvPr id="196" name="Google Shape;196;p7: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3: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341231E8-33A4-DE58-FB50-78300B13D8A9}"/>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DF902314-42EF-20F7-A15E-4210F26ED276}"/>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a:extLst>
              <a:ext uri="{FF2B5EF4-FFF2-40B4-BE49-F238E27FC236}">
                <a16:creationId xmlns:a16="http://schemas.microsoft.com/office/drawing/2014/main" id="{C6BD8E5B-963E-3955-B367-EEAE932323B5}"/>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a:extLst>
              <a:ext uri="{FF2B5EF4-FFF2-40B4-BE49-F238E27FC236}">
                <a16:creationId xmlns:a16="http://schemas.microsoft.com/office/drawing/2014/main" id="{9C4DC929-5DF0-5A1B-3D5C-D3288A73B2CE}"/>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90258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89A4290A-89B7-1534-EE4C-2BB0E3455320}"/>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A3217667-8D28-B2B2-95B0-D59CE1CB9833}"/>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a:extLst>
              <a:ext uri="{FF2B5EF4-FFF2-40B4-BE49-F238E27FC236}">
                <a16:creationId xmlns:a16="http://schemas.microsoft.com/office/drawing/2014/main" id="{7ADF44A3-B457-96B3-CABC-D098898C70D0}"/>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a:extLst>
              <a:ext uri="{FF2B5EF4-FFF2-40B4-BE49-F238E27FC236}">
                <a16:creationId xmlns:a16="http://schemas.microsoft.com/office/drawing/2014/main" id="{E2A0320E-851F-7559-7FD5-A4A35BC1C131}"/>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831736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F8085CE7-DD58-BF15-01D7-8DF9744D5EFC}"/>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E285F762-24A1-DB2F-268A-EFC7555F4C0C}"/>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a:extLst>
              <a:ext uri="{FF2B5EF4-FFF2-40B4-BE49-F238E27FC236}">
                <a16:creationId xmlns:a16="http://schemas.microsoft.com/office/drawing/2014/main" id="{E7855AA2-4752-E4A5-2122-1DE5B1B9DF63}"/>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a:extLst>
              <a:ext uri="{FF2B5EF4-FFF2-40B4-BE49-F238E27FC236}">
                <a16:creationId xmlns:a16="http://schemas.microsoft.com/office/drawing/2014/main" id="{B4E64E6F-8155-ED68-EDE7-9B5852BD4798}"/>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0320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631C2F7B-44A4-B37A-552C-9C544E57BC57}"/>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CDF75062-3657-1007-8090-41606DBBC66D}"/>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a:extLst>
              <a:ext uri="{FF2B5EF4-FFF2-40B4-BE49-F238E27FC236}">
                <a16:creationId xmlns:a16="http://schemas.microsoft.com/office/drawing/2014/main" id="{4A6CC610-685B-312F-0874-E6E2309016EB}"/>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a:extLst>
              <a:ext uri="{FF2B5EF4-FFF2-40B4-BE49-F238E27FC236}">
                <a16:creationId xmlns:a16="http://schemas.microsoft.com/office/drawing/2014/main" id="{84DCA53D-ACA0-912F-2AEA-468CCB5F1B9B}"/>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682999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EE75460C-1AD4-4C6D-D41E-CCCB931E4D3C}"/>
            </a:ext>
          </a:extLst>
        </p:cNvPr>
        <p:cNvGrpSpPr/>
        <p:nvPr/>
      </p:nvGrpSpPr>
      <p:grpSpPr>
        <a:xfrm>
          <a:off x="0" y="0"/>
          <a:ext cx="0" cy="0"/>
          <a:chOff x="0" y="0"/>
          <a:chExt cx="0" cy="0"/>
        </a:xfrm>
      </p:grpSpPr>
      <p:sp>
        <p:nvSpPr>
          <p:cNvPr id="237" name="Google Shape;237;p13:notes">
            <a:extLst>
              <a:ext uri="{FF2B5EF4-FFF2-40B4-BE49-F238E27FC236}">
                <a16:creationId xmlns:a16="http://schemas.microsoft.com/office/drawing/2014/main" id="{2A52A4A6-EE8F-1243-A20B-E5B764372D59}"/>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3:notes">
            <a:extLst>
              <a:ext uri="{FF2B5EF4-FFF2-40B4-BE49-F238E27FC236}">
                <a16:creationId xmlns:a16="http://schemas.microsoft.com/office/drawing/2014/main" id="{66570A8B-35B2-5940-52CB-75F27853B77A}"/>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After the memory and performance learnings of our previous release, we released there was a much bigger opportunity. So we decided to take a gamble, and try to completely modernize the main dictionary. We took inspiration from the Google designed “Swiss Table”. The main innovation is that instead of having a linked list of items that have a hash collision (where the hash function generates the same number for two different entries) we store them in a larger bucket. This allows us to simplify the design and save up to 16 bytes by removing the container object as well as the next pointers. It’s also a bit faster, but let’s focus on the memory savings.</a:t>
            </a:r>
            <a:endParaRPr dirty="0"/>
          </a:p>
        </p:txBody>
      </p:sp>
      <p:sp>
        <p:nvSpPr>
          <p:cNvPr id="239" name="Google Shape;239;p13:notes">
            <a:extLst>
              <a:ext uri="{FF2B5EF4-FFF2-40B4-BE49-F238E27FC236}">
                <a16:creationId xmlns:a16="http://schemas.microsoft.com/office/drawing/2014/main" id="{424D46FD-6DC9-5A82-A730-CC4D0FAEFE13}"/>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673946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4: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4: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lines compare the actual memory usage between 8.1, 8.0, and 7.2. You can see that 8 byte drop we talked about earlier, compared to up to 32 bytes you can see when using expires. (We have two hash tables, one for the expiration information and one for the actual data). In the real world you won’t see this big of an improvement, but it’s a big improvement for some workloads.</a:t>
            </a:r>
            <a:endParaRPr/>
          </a:p>
        </p:txBody>
      </p:sp>
      <p:sp>
        <p:nvSpPr>
          <p:cNvPr id="247" name="Google Shape;247;p14: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2: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2: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there is a lot of other exciting features in Valkey 8.0, but that release is old news now. So let’s talk about our most recent launch, Valkey 8.1.</a:t>
            </a:r>
            <a:endParaRPr/>
          </a:p>
        </p:txBody>
      </p:sp>
      <p:sp>
        <p:nvSpPr>
          <p:cNvPr id="233" name="Google Shape;233;p12: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80160118-0A70-2C47-7ABD-FBB39A4C247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DA1A4B4-04C9-AA2B-8575-0AF68590521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B6744BB2-B2FB-BEF1-0B72-75CA0A94F600}"/>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big piller was memory efficiency. We noticed there are a lot of pointer chasing in the Valkey implementation of the hash table, the core data structure. We were able to optimize this by embedding data in flexible memory allocations. This can save up to 8 bytes.</a:t>
            </a:r>
            <a:endParaRPr/>
          </a:p>
        </p:txBody>
      </p:sp>
      <p:sp>
        <p:nvSpPr>
          <p:cNvPr id="202" name="Google Shape;202;p8:notes">
            <a:extLst>
              <a:ext uri="{FF2B5EF4-FFF2-40B4-BE49-F238E27FC236}">
                <a16:creationId xmlns:a16="http://schemas.microsoft.com/office/drawing/2014/main" id="{36B5587A-54DB-00CE-0A5E-8507D48E07EA}"/>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108835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DD03F631-7D28-743C-4ADE-AAF4FC855DEA}"/>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CF7FA64-3A93-6DB4-F1E4-B9212C7E410F}"/>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E01F56B-AE66-F47B-87CE-D1367272CB02}"/>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big piller was memory efficiency. We noticed there are a lot of pointer chasing in the Valkey implementation of the hash table, the core data structure. We were able to optimize this by embedding data in flexible memory allocations. This can save up to 8 bytes.</a:t>
            </a:r>
            <a:endParaRPr/>
          </a:p>
        </p:txBody>
      </p:sp>
      <p:sp>
        <p:nvSpPr>
          <p:cNvPr id="202" name="Google Shape;202;p8:notes">
            <a:extLst>
              <a:ext uri="{FF2B5EF4-FFF2-40B4-BE49-F238E27FC236}">
                <a16:creationId xmlns:a16="http://schemas.microsoft.com/office/drawing/2014/main" id="{ED1BCEE1-C6DF-4554-C791-6FB7AFD5981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84272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A4216FB7-875C-3F63-04CF-BBCB09868AAD}"/>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8FDF47E-EF61-7C2C-C63A-15FD7646EF0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5319500B-C667-3ED3-EDB4-5F83930CDCBC}"/>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big piller was memory efficiency. We noticed there are a lot of pointer chasing in the Valkey implementation of the hash table, the core data structure. We were able to optimize this by embedding data in flexible memory allocations. This can save up to 8 bytes.</a:t>
            </a:r>
            <a:endParaRPr/>
          </a:p>
        </p:txBody>
      </p:sp>
      <p:sp>
        <p:nvSpPr>
          <p:cNvPr id="202" name="Google Shape;202;p8:notes">
            <a:extLst>
              <a:ext uri="{FF2B5EF4-FFF2-40B4-BE49-F238E27FC236}">
                <a16:creationId xmlns:a16="http://schemas.microsoft.com/office/drawing/2014/main" id="{85174A9B-68CF-C83C-CCCA-A7B135BD04E5}"/>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940568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FD00975E-DD8F-D1C5-F15C-5C158326C66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57F2D8DB-4061-54DE-7575-F60975DC27E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7A92471-0AC9-E5D8-77BF-0B61BF39E2FE}"/>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big piller was memory efficiency. We noticed there are a lot of pointer chasing in the Valkey implementation of the hash table, the core data structure. We were able to optimize this by embedding data in flexible memory allocations. This can save up to 8 bytes.</a:t>
            </a:r>
            <a:endParaRPr/>
          </a:p>
        </p:txBody>
      </p:sp>
      <p:sp>
        <p:nvSpPr>
          <p:cNvPr id="202" name="Google Shape;202;p8:notes">
            <a:extLst>
              <a:ext uri="{FF2B5EF4-FFF2-40B4-BE49-F238E27FC236}">
                <a16:creationId xmlns:a16="http://schemas.microsoft.com/office/drawing/2014/main" id="{2FF90F21-6F62-71A5-AC25-0FA8C8F48C43}"/>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4037759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4E63DEC-0428-0339-3EAD-C7295DDA0B35}"/>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6D01B60-C5C2-322E-FA61-76A8D2470B9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6A03A65D-8097-C646-04D8-B6BC0DDA7271}"/>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big piller was memory efficiency. We noticed there are a lot of pointer chasing in the Valkey implementation of the hash table, the core data structure. We were able to optimize this by embedding data in flexible memory allocations. This can save up to 8 bytes.</a:t>
            </a:r>
            <a:endParaRPr/>
          </a:p>
        </p:txBody>
      </p:sp>
      <p:sp>
        <p:nvSpPr>
          <p:cNvPr id="202" name="Google Shape;202;p8:notes">
            <a:extLst>
              <a:ext uri="{FF2B5EF4-FFF2-40B4-BE49-F238E27FC236}">
                <a16:creationId xmlns:a16="http://schemas.microsoft.com/office/drawing/2014/main" id="{B016E868-6069-3322-5C43-BA1404C26FC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962773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1: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1:notes"/>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3x overall improvement in throughput compared to the previous version at similar or better latencies. This is a great way to better utilize multi-core machines in order to minimize the latency of your application. </a:t>
            </a:r>
            <a:endParaRPr/>
          </a:p>
        </p:txBody>
      </p:sp>
      <p:sp>
        <p:nvSpPr>
          <p:cNvPr id="226" name="Google Shape;226;p11:notes"/>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6: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22" name="Google Shape;422;p26: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7: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32" name="Google Shape;432;p27: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9: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43" name="Google Shape;443;p29: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0: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50" name="Google Shape;450;p30: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1: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55" name="Google Shape;455;p31: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2:notes"/>
          <p:cNvSpPr txBox="1">
            <a:spLocks noGrp="1"/>
          </p:cNvSpPr>
          <p:nvPr>
            <p:ph type="body" idx="1"/>
          </p:nvPr>
        </p:nvSpPr>
        <p:spPr>
          <a:xfrm>
            <a:off x="419100" y="4197679"/>
            <a:ext cx="6000750" cy="4328803"/>
          </a:xfrm>
          <a:prstGeom prst="rect">
            <a:avLst/>
          </a:prstGeom>
        </p:spPr>
        <p:txBody>
          <a:bodyPr spcFirstLastPara="1" wrap="square" lIns="91425" tIns="45700" rIns="91425" bIns="45700" anchor="t" anchorCtr="0">
            <a:noAutofit/>
          </a:bodyPr>
          <a:lstStyle/>
          <a:p>
            <a:pPr marL="0" lvl="0" indent="0" algn="l" rtl="0">
              <a:spcBef>
                <a:spcPts val="0"/>
              </a:spcBef>
              <a:spcAft>
                <a:spcPts val="300"/>
              </a:spcAft>
              <a:buNone/>
            </a:pPr>
            <a:endParaRPr/>
          </a:p>
        </p:txBody>
      </p:sp>
      <p:sp>
        <p:nvSpPr>
          <p:cNvPr id="461" name="Google Shape;461;p32:notes"/>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2x Speaker">
  <p:cSld name="Title + 2x Speaker">
    <p:spTree>
      <p:nvGrpSpPr>
        <p:cNvPr id="1" name="Shape 40"/>
        <p:cNvGrpSpPr/>
        <p:nvPr/>
      </p:nvGrpSpPr>
      <p:grpSpPr>
        <a:xfrm>
          <a:off x="0" y="0"/>
          <a:ext cx="0" cy="0"/>
          <a:chOff x="0" y="0"/>
          <a:chExt cx="0" cy="0"/>
        </a:xfrm>
      </p:grpSpPr>
      <p:pic>
        <p:nvPicPr>
          <p:cNvPr id="41" name="Google Shape;41;p45"/>
          <p:cNvPicPr preferRelativeResize="0"/>
          <p:nvPr/>
        </p:nvPicPr>
        <p:blipFill rotWithShape="1">
          <a:blip r:embed="rId2">
            <a:alphaModFix/>
          </a:blip>
          <a:srcRect/>
          <a:stretch/>
        </p:blipFill>
        <p:spPr>
          <a:xfrm>
            <a:off x="-52251" y="-18140"/>
            <a:ext cx="12261669" cy="6897189"/>
          </a:xfrm>
          <a:prstGeom prst="rect">
            <a:avLst/>
          </a:prstGeom>
          <a:noFill/>
          <a:ln>
            <a:noFill/>
          </a:ln>
        </p:spPr>
      </p:pic>
      <p:sp>
        <p:nvSpPr>
          <p:cNvPr id="42" name="Google Shape;42;p45"/>
          <p:cNvSpPr txBox="1">
            <a:spLocks noGrp="1"/>
          </p:cNvSpPr>
          <p:nvPr>
            <p:ph type="body" idx="1"/>
          </p:nvPr>
        </p:nvSpPr>
        <p:spPr>
          <a:xfrm>
            <a:off x="609597" y="1839354"/>
            <a:ext cx="6477003" cy="184666"/>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accent5"/>
              </a:buClr>
              <a:buSzPts val="1080"/>
              <a:buNone/>
              <a:defRPr sz="1200" b="1" i="0" cap="none">
                <a:solidFill>
                  <a:schemeClr val="accent5"/>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45"/>
          <p:cNvSpPr txBox="1">
            <a:spLocks noGrp="1"/>
          </p:cNvSpPr>
          <p:nvPr>
            <p:ph type="title"/>
          </p:nvPr>
        </p:nvSpPr>
        <p:spPr>
          <a:xfrm>
            <a:off x="609597" y="2200683"/>
            <a:ext cx="6477003" cy="181251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400"/>
              <a:buFont typeface="Play"/>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45"/>
          <p:cNvSpPr txBox="1">
            <a:spLocks noGrp="1"/>
          </p:cNvSpPr>
          <p:nvPr>
            <p:ph type="body" idx="2"/>
          </p:nvPr>
        </p:nvSpPr>
        <p:spPr>
          <a:xfrm>
            <a:off x="609599" y="4312975"/>
            <a:ext cx="3154681" cy="615553"/>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45"/>
          <p:cNvSpPr txBox="1">
            <a:spLocks noGrp="1"/>
          </p:cNvSpPr>
          <p:nvPr>
            <p:ph type="body" idx="3"/>
          </p:nvPr>
        </p:nvSpPr>
        <p:spPr>
          <a:xfrm>
            <a:off x="609599" y="4962720"/>
            <a:ext cx="3154681"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440"/>
              <a:buNone/>
              <a:defRPr sz="16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45"/>
          <p:cNvSpPr txBox="1">
            <a:spLocks noGrp="1"/>
          </p:cNvSpPr>
          <p:nvPr>
            <p:ph type="body" idx="4"/>
          </p:nvPr>
        </p:nvSpPr>
        <p:spPr>
          <a:xfrm>
            <a:off x="3931919" y="4312975"/>
            <a:ext cx="3154681" cy="615553"/>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45"/>
          <p:cNvSpPr txBox="1">
            <a:spLocks noGrp="1"/>
          </p:cNvSpPr>
          <p:nvPr>
            <p:ph type="body" idx="5"/>
          </p:nvPr>
        </p:nvSpPr>
        <p:spPr>
          <a:xfrm>
            <a:off x="3931919" y="4962720"/>
            <a:ext cx="3154681"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440"/>
              <a:buNone/>
              <a:defRPr sz="16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45"/>
          <p:cNvSpPr txBox="1"/>
          <p:nvPr/>
        </p:nvSpPr>
        <p:spPr>
          <a:xfrm>
            <a:off x="609600" y="6389815"/>
            <a:ext cx="1122423"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600"/>
              <a:buFont typeface="Play"/>
              <a:buNone/>
            </a:pPr>
            <a:r>
              <a:rPr lang="en-US" sz="600" b="0" i="0" u="none" strike="noStrike" cap="none">
                <a:solidFill>
                  <a:srgbClr val="FFFFFF"/>
                </a:solidFill>
                <a:latin typeface="Play"/>
                <a:ea typeface="Play"/>
                <a:cs typeface="Play"/>
                <a:sym typeface="Play"/>
              </a:rPr>
              <a:t>© 2025 Valkey Community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464">
          <p15:clr>
            <a:srgbClr val="FBAE40"/>
          </p15:clr>
        </p15:guide>
        <p15:guide id="2" orient="horz" pos="2736">
          <p15:clr>
            <a:srgbClr val="FBAE40"/>
          </p15:clr>
        </p15:guide>
        <p15:guide id="3" orient="horz" pos="1272">
          <p15:clr>
            <a:srgbClr val="FBAE40"/>
          </p15:clr>
        </p15:guide>
        <p15:guide id="4"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Cont">
  <p:cSld name="Title + Cont">
    <p:spTree>
      <p:nvGrpSpPr>
        <p:cNvPr id="1" name="Shape 17"/>
        <p:cNvGrpSpPr/>
        <p:nvPr/>
      </p:nvGrpSpPr>
      <p:grpSpPr>
        <a:xfrm>
          <a:off x="0" y="0"/>
          <a:ext cx="0" cy="0"/>
          <a:chOff x="0" y="0"/>
          <a:chExt cx="0" cy="0"/>
        </a:xfrm>
      </p:grpSpPr>
      <p:sp>
        <p:nvSpPr>
          <p:cNvPr id="18" name="Google Shape;18;p40"/>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40"/>
          <p:cNvSpPr txBox="1">
            <a:spLocks noGrp="1"/>
          </p:cNvSpPr>
          <p:nvPr>
            <p:ph type="body" idx="1"/>
          </p:nvPr>
        </p:nvSpPr>
        <p:spPr>
          <a:xfrm>
            <a:off x="609600" y="1445931"/>
            <a:ext cx="11062800"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0"/>
        <p:cNvGrpSpPr/>
        <p:nvPr/>
      </p:nvGrpSpPr>
      <p:grpSpPr>
        <a:xfrm>
          <a:off x="0" y="0"/>
          <a:ext cx="0" cy="0"/>
          <a:chOff x="0" y="0"/>
          <a:chExt cx="0" cy="0"/>
        </a:xfrm>
      </p:grpSpPr>
      <p:pic>
        <p:nvPicPr>
          <p:cNvPr id="21" name="Google Shape;21;p41"/>
          <p:cNvPicPr preferRelativeResize="0"/>
          <p:nvPr/>
        </p:nvPicPr>
        <p:blipFill rotWithShape="1">
          <a:blip r:embed="rId2">
            <a:alphaModFix/>
          </a:blip>
          <a:srcRect/>
          <a:stretch/>
        </p:blipFill>
        <p:spPr>
          <a:xfrm>
            <a:off x="-17420" y="-9799"/>
            <a:ext cx="12270380" cy="6902090"/>
          </a:xfrm>
          <a:prstGeom prst="rect">
            <a:avLst/>
          </a:prstGeom>
          <a:noFill/>
          <a:ln>
            <a:noFill/>
          </a:ln>
        </p:spPr>
      </p:pic>
      <p:sp>
        <p:nvSpPr>
          <p:cNvPr id="22" name="Google Shape;22;p41"/>
          <p:cNvSpPr txBox="1">
            <a:spLocks noGrp="1"/>
          </p:cNvSpPr>
          <p:nvPr>
            <p:ph type="title"/>
          </p:nvPr>
        </p:nvSpPr>
        <p:spPr>
          <a:xfrm>
            <a:off x="609600" y="2819603"/>
            <a:ext cx="9194800" cy="12187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400"/>
              <a:buFont typeface="Play"/>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3x Cont with Headings">
  <p:cSld name="Title + 3x Cont with Headings">
    <p:spTree>
      <p:nvGrpSpPr>
        <p:cNvPr id="1" name="Shape 23"/>
        <p:cNvGrpSpPr/>
        <p:nvPr/>
      </p:nvGrpSpPr>
      <p:grpSpPr>
        <a:xfrm>
          <a:off x="0" y="0"/>
          <a:ext cx="0" cy="0"/>
          <a:chOff x="0" y="0"/>
          <a:chExt cx="0" cy="0"/>
        </a:xfrm>
      </p:grpSpPr>
      <p:sp>
        <p:nvSpPr>
          <p:cNvPr id="24" name="Google Shape;24;p42"/>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2"/>
          <p:cNvSpPr txBox="1">
            <a:spLocks noGrp="1"/>
          </p:cNvSpPr>
          <p:nvPr>
            <p:ph type="body" idx="1"/>
          </p:nvPr>
        </p:nvSpPr>
        <p:spPr>
          <a:xfrm>
            <a:off x="609599"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6" name="Google Shape;26;p42"/>
          <p:cNvSpPr txBox="1">
            <a:spLocks noGrp="1"/>
          </p:cNvSpPr>
          <p:nvPr>
            <p:ph type="body" idx="2"/>
          </p:nvPr>
        </p:nvSpPr>
        <p:spPr>
          <a:xfrm>
            <a:off x="609599"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27" name="Google Shape;27;p42"/>
          <p:cNvSpPr txBox="1">
            <a:spLocks noGrp="1"/>
          </p:cNvSpPr>
          <p:nvPr>
            <p:ph type="body" idx="3"/>
          </p:nvPr>
        </p:nvSpPr>
        <p:spPr>
          <a:xfrm>
            <a:off x="4399068"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8" name="Google Shape;28;p42"/>
          <p:cNvSpPr txBox="1">
            <a:spLocks noGrp="1"/>
          </p:cNvSpPr>
          <p:nvPr>
            <p:ph type="body" idx="4"/>
          </p:nvPr>
        </p:nvSpPr>
        <p:spPr>
          <a:xfrm>
            <a:off x="4399067"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42"/>
          <p:cNvSpPr txBox="1">
            <a:spLocks noGrp="1"/>
          </p:cNvSpPr>
          <p:nvPr>
            <p:ph type="body" idx="5"/>
          </p:nvPr>
        </p:nvSpPr>
        <p:spPr>
          <a:xfrm>
            <a:off x="8188536"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 name="Google Shape;30;p42"/>
          <p:cNvSpPr txBox="1">
            <a:spLocks noGrp="1"/>
          </p:cNvSpPr>
          <p:nvPr>
            <p:ph type="body" idx="6"/>
          </p:nvPr>
        </p:nvSpPr>
        <p:spPr>
          <a:xfrm>
            <a:off x="8188536"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Sub + Cont">
  <p:cSld name="Title + Sub + Cont">
    <p:spTree>
      <p:nvGrpSpPr>
        <p:cNvPr id="1" name="Shape 31"/>
        <p:cNvGrpSpPr/>
        <p:nvPr/>
      </p:nvGrpSpPr>
      <p:grpSpPr>
        <a:xfrm>
          <a:off x="0" y="0"/>
          <a:ext cx="0" cy="0"/>
          <a:chOff x="0" y="0"/>
          <a:chExt cx="0" cy="0"/>
        </a:xfrm>
      </p:grpSpPr>
      <p:sp>
        <p:nvSpPr>
          <p:cNvPr id="32" name="Google Shape;32;p4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3"/>
          <p:cNvSpPr txBox="1">
            <a:spLocks noGrp="1"/>
          </p:cNvSpPr>
          <p:nvPr>
            <p:ph type="body" idx="1"/>
          </p:nvPr>
        </p:nvSpPr>
        <p:spPr>
          <a:xfrm>
            <a:off x="609600" y="1830787"/>
            <a:ext cx="11062800" cy="41802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 name="Google Shape;34;p43"/>
          <p:cNvSpPr txBox="1">
            <a:spLocks noGrp="1"/>
          </p:cNvSpPr>
          <p:nvPr>
            <p:ph type="body" idx="2"/>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 You 2x">
  <p:cSld name="Thank You 2x">
    <p:spTree>
      <p:nvGrpSpPr>
        <p:cNvPr id="1" name="Shape 71"/>
        <p:cNvGrpSpPr/>
        <p:nvPr/>
      </p:nvGrpSpPr>
      <p:grpSpPr>
        <a:xfrm>
          <a:off x="0" y="0"/>
          <a:ext cx="0" cy="0"/>
          <a:chOff x="0" y="0"/>
          <a:chExt cx="0" cy="0"/>
        </a:xfrm>
      </p:grpSpPr>
      <p:pic>
        <p:nvPicPr>
          <p:cNvPr id="72" name="Google Shape;72;p52"/>
          <p:cNvPicPr preferRelativeResize="0"/>
          <p:nvPr/>
        </p:nvPicPr>
        <p:blipFill rotWithShape="1">
          <a:blip r:embed="rId2">
            <a:alphaModFix/>
          </a:blip>
          <a:srcRect/>
          <a:stretch/>
        </p:blipFill>
        <p:spPr>
          <a:xfrm>
            <a:off x="-27627" y="-31081"/>
            <a:ext cx="12298004" cy="6917627"/>
          </a:xfrm>
          <a:prstGeom prst="rect">
            <a:avLst/>
          </a:prstGeom>
          <a:noFill/>
          <a:ln>
            <a:noFill/>
          </a:ln>
        </p:spPr>
      </p:pic>
      <p:sp>
        <p:nvSpPr>
          <p:cNvPr id="73" name="Google Shape;73;p52"/>
          <p:cNvSpPr txBox="1"/>
          <p:nvPr/>
        </p:nvSpPr>
        <p:spPr>
          <a:xfrm>
            <a:off x="609599" y="2461212"/>
            <a:ext cx="6867525" cy="923331"/>
          </a:xfrm>
          <a:prstGeom prst="rect">
            <a:avLst/>
          </a:prstGeom>
          <a:noFill/>
          <a:ln>
            <a:noFill/>
          </a:ln>
        </p:spPr>
        <p:txBody>
          <a:bodyPr spcFirstLastPara="1" wrap="square" lIns="0" tIns="45700" rIns="91425" bIns="45700" anchor="t" anchorCtr="0">
            <a:noAutofit/>
          </a:bodyPr>
          <a:lstStyle/>
          <a:p>
            <a:pPr marL="0" marR="0" lvl="0" indent="0" algn="l" rtl="0">
              <a:spcBef>
                <a:spcPts val="0"/>
              </a:spcBef>
              <a:spcAft>
                <a:spcPts val="0"/>
              </a:spcAft>
              <a:buNone/>
            </a:pPr>
            <a:r>
              <a:rPr lang="en-US" sz="4800" b="1" i="0">
                <a:solidFill>
                  <a:schemeClr val="lt1"/>
                </a:solidFill>
                <a:latin typeface="Play"/>
                <a:ea typeface="Play"/>
                <a:cs typeface="Play"/>
                <a:sym typeface="Play"/>
              </a:rPr>
              <a:t>Thank you!</a:t>
            </a:r>
            <a:endParaRPr/>
          </a:p>
        </p:txBody>
      </p:sp>
      <p:sp>
        <p:nvSpPr>
          <p:cNvPr id="74" name="Google Shape;74;p52"/>
          <p:cNvSpPr txBox="1">
            <a:spLocks noGrp="1"/>
          </p:cNvSpPr>
          <p:nvPr>
            <p:ph type="body" idx="1"/>
          </p:nvPr>
        </p:nvSpPr>
        <p:spPr>
          <a:xfrm>
            <a:off x="609600" y="4001508"/>
            <a:ext cx="3167018"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75" name="Google Shape;75;p52"/>
          <p:cNvSpPr txBox="1">
            <a:spLocks noGrp="1"/>
          </p:cNvSpPr>
          <p:nvPr>
            <p:ph type="body" idx="2"/>
          </p:nvPr>
        </p:nvSpPr>
        <p:spPr>
          <a:xfrm>
            <a:off x="609600" y="4372505"/>
            <a:ext cx="3167018" cy="55399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620"/>
              <a:buNone/>
              <a:defRPr sz="18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76" name="Google Shape;76;p52"/>
          <p:cNvSpPr txBox="1">
            <a:spLocks noGrp="1"/>
          </p:cNvSpPr>
          <p:nvPr>
            <p:ph type="body" idx="3"/>
          </p:nvPr>
        </p:nvSpPr>
        <p:spPr>
          <a:xfrm>
            <a:off x="3904342" y="4001508"/>
            <a:ext cx="3167018"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52"/>
          <p:cNvSpPr txBox="1">
            <a:spLocks noGrp="1"/>
          </p:cNvSpPr>
          <p:nvPr>
            <p:ph type="body" idx="4"/>
          </p:nvPr>
        </p:nvSpPr>
        <p:spPr>
          <a:xfrm>
            <a:off x="3904342" y="4372505"/>
            <a:ext cx="3167018" cy="55399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620"/>
              <a:buNone/>
              <a:defRPr sz="18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9"/>
        <p:cNvGrpSpPr/>
        <p:nvPr/>
      </p:nvGrpSpPr>
      <p:grpSpPr>
        <a:xfrm>
          <a:off x="0" y="0"/>
          <a:ext cx="0" cy="0"/>
          <a:chOff x="0" y="0"/>
          <a:chExt cx="0" cy="0"/>
        </a:xfrm>
      </p:grpSpPr>
      <p:sp>
        <p:nvSpPr>
          <p:cNvPr id="50" name="Google Shape;50;p46"/>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200"/>
              <a:buFont typeface="Play"/>
              <a:buNone/>
              <a:defRPr sz="3200" b="1" i="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51"/>
        <p:cNvGrpSpPr/>
        <p:nvPr/>
      </p:nvGrpSpPr>
      <p:grpSpPr>
        <a:xfrm>
          <a:off x="0" y="0"/>
          <a:ext cx="0" cy="0"/>
          <a:chOff x="0" y="0"/>
          <a:chExt cx="0" cy="0"/>
        </a:xfrm>
      </p:grpSpPr>
      <p:sp>
        <p:nvSpPr>
          <p:cNvPr id="52" name="Google Shape;52;p47"/>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7"/>
          <p:cNvSpPr txBox="1">
            <a:spLocks noGrp="1"/>
          </p:cNvSpPr>
          <p:nvPr>
            <p:ph type="body" idx="1"/>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Cont + Right Img Small">
  <p:cSld name="Title + Cont + Right Img Small">
    <p:spTree>
      <p:nvGrpSpPr>
        <p:cNvPr id="1" name="Shape 54"/>
        <p:cNvGrpSpPr/>
        <p:nvPr/>
      </p:nvGrpSpPr>
      <p:grpSpPr>
        <a:xfrm>
          <a:off x="0" y="0"/>
          <a:ext cx="0" cy="0"/>
          <a:chOff x="0" y="0"/>
          <a:chExt cx="0" cy="0"/>
        </a:xfrm>
      </p:grpSpPr>
      <p:sp>
        <p:nvSpPr>
          <p:cNvPr id="55" name="Google Shape;55;p48"/>
          <p:cNvSpPr txBox="1">
            <a:spLocks noGrp="1"/>
          </p:cNvSpPr>
          <p:nvPr>
            <p:ph type="title"/>
          </p:nvPr>
        </p:nvSpPr>
        <p:spPr>
          <a:xfrm>
            <a:off x="609599" y="400019"/>
            <a:ext cx="6809117"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8"/>
          <p:cNvSpPr>
            <a:spLocks noGrp="1"/>
          </p:cNvSpPr>
          <p:nvPr>
            <p:ph type="pic" idx="2"/>
          </p:nvPr>
        </p:nvSpPr>
        <p:spPr>
          <a:xfrm>
            <a:off x="7884543" y="0"/>
            <a:ext cx="4307456" cy="6858000"/>
          </a:xfrm>
          <a:prstGeom prst="rect">
            <a:avLst/>
          </a:prstGeom>
          <a:solidFill>
            <a:schemeClr val="lt2"/>
          </a:solidFill>
          <a:ln>
            <a:noFill/>
          </a:ln>
        </p:spPr>
        <p:txBody>
          <a:bodyPr/>
          <a:lstStyle/>
          <a:p>
            <a:endParaRPr lang="en-US"/>
          </a:p>
        </p:txBody>
      </p:sp>
      <p:sp>
        <p:nvSpPr>
          <p:cNvPr id="57" name="Google Shape;57;p48"/>
          <p:cNvSpPr txBox="1">
            <a:spLocks noGrp="1"/>
          </p:cNvSpPr>
          <p:nvPr>
            <p:ph type="body" idx="1"/>
          </p:nvPr>
        </p:nvSpPr>
        <p:spPr>
          <a:xfrm>
            <a:off x="609600" y="1445932"/>
            <a:ext cx="6809116"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sz="2400"/>
            </a:lvl1pPr>
            <a:lvl2pPr marL="914400" lvl="1" indent="-228600" algn="l">
              <a:lnSpc>
                <a:spcPct val="100000"/>
              </a:lnSpc>
              <a:spcBef>
                <a:spcPts val="0"/>
              </a:spcBef>
              <a:spcAft>
                <a:spcPts val="0"/>
              </a:spcAft>
              <a:buClr>
                <a:schemeClr val="dk1"/>
              </a:buClr>
              <a:buSzPts val="1800"/>
              <a:buNone/>
              <a:defRPr sz="20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600"/>
              <a:buNone/>
              <a:defRPr sz="1600"/>
            </a:lvl4pPr>
            <a:lvl5pPr marL="2286000" lvl="4" indent="-228600" algn="l">
              <a:lnSpc>
                <a:spcPct val="100000"/>
              </a:lnSpc>
              <a:spcBef>
                <a:spcPts val="1800"/>
              </a:spcBef>
              <a:spcAft>
                <a:spcPts val="0"/>
              </a:spcAft>
              <a:buClr>
                <a:schemeClr val="dk1"/>
              </a:buClr>
              <a:buSzPts val="1600"/>
              <a:buNone/>
              <a:defRPr sz="1600"/>
            </a:lvl5pPr>
            <a:lvl6pPr marL="2743200" lvl="5" indent="-342900" algn="l">
              <a:lnSpc>
                <a:spcPct val="90000"/>
              </a:lnSpc>
              <a:spcBef>
                <a:spcPts val="1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36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2x Cont with Headings">
  <p:cSld name="Title + 2x Cont with Headings">
    <p:spTree>
      <p:nvGrpSpPr>
        <p:cNvPr id="1" name="Shape 58"/>
        <p:cNvGrpSpPr/>
        <p:nvPr/>
      </p:nvGrpSpPr>
      <p:grpSpPr>
        <a:xfrm>
          <a:off x="0" y="0"/>
          <a:ext cx="0" cy="0"/>
          <a:chOff x="0" y="0"/>
          <a:chExt cx="0" cy="0"/>
        </a:xfrm>
      </p:grpSpPr>
      <p:sp>
        <p:nvSpPr>
          <p:cNvPr id="59" name="Google Shape;59;p49"/>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9"/>
          <p:cNvSpPr txBox="1">
            <a:spLocks noGrp="1"/>
          </p:cNvSpPr>
          <p:nvPr>
            <p:ph type="body" idx="1"/>
          </p:nvPr>
        </p:nvSpPr>
        <p:spPr>
          <a:xfrm>
            <a:off x="609599"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1" name="Google Shape;61;p49"/>
          <p:cNvSpPr txBox="1">
            <a:spLocks noGrp="1"/>
          </p:cNvSpPr>
          <p:nvPr>
            <p:ph type="body" idx="2"/>
          </p:nvPr>
        </p:nvSpPr>
        <p:spPr>
          <a:xfrm>
            <a:off x="609599"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2" name="Google Shape;62;p49"/>
          <p:cNvSpPr txBox="1">
            <a:spLocks noGrp="1"/>
          </p:cNvSpPr>
          <p:nvPr>
            <p:ph type="body" idx="3"/>
          </p:nvPr>
        </p:nvSpPr>
        <p:spPr>
          <a:xfrm>
            <a:off x="6423744"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3" name="Google Shape;63;p49"/>
          <p:cNvSpPr txBox="1">
            <a:spLocks noGrp="1"/>
          </p:cNvSpPr>
          <p:nvPr>
            <p:ph type="body" idx="4"/>
          </p:nvPr>
        </p:nvSpPr>
        <p:spPr>
          <a:xfrm>
            <a:off x="6423744"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4"/>
        <p:cNvGrpSpPr/>
        <p:nvPr/>
      </p:nvGrpSpPr>
      <p:grpSpPr>
        <a:xfrm>
          <a:off x="0" y="0"/>
          <a:ext cx="0" cy="0"/>
          <a:chOff x="0" y="0"/>
          <a:chExt cx="0" cy="0"/>
        </a:xfrm>
      </p:grpSpPr>
      <p:sp>
        <p:nvSpPr>
          <p:cNvPr id="65" name="Google Shape;65;p50"/>
          <p:cNvSpPr txBox="1">
            <a:spLocks noGrp="1"/>
          </p:cNvSpPr>
          <p:nvPr>
            <p:ph type="title"/>
          </p:nvPr>
        </p:nvSpPr>
        <p:spPr>
          <a:xfrm>
            <a:off x="609599" y="2571622"/>
            <a:ext cx="10130971" cy="1218795"/>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4400"/>
              <a:buFont typeface="Pla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0"/>
          <p:cNvSpPr txBox="1">
            <a:spLocks noGrp="1"/>
          </p:cNvSpPr>
          <p:nvPr>
            <p:ph type="body" idx="1"/>
          </p:nvPr>
        </p:nvSpPr>
        <p:spPr>
          <a:xfrm>
            <a:off x="881063" y="4356013"/>
            <a:ext cx="5486400"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1"/>
              </a:buClr>
              <a:buSzPts val="1800"/>
              <a:buNone/>
              <a:defRPr sz="2000" b="1"/>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50"/>
          <p:cNvSpPr txBox="1">
            <a:spLocks noGrp="1"/>
          </p:cNvSpPr>
          <p:nvPr>
            <p:ph type="body" idx="2"/>
          </p:nvPr>
        </p:nvSpPr>
        <p:spPr>
          <a:xfrm>
            <a:off x="881063" y="4692818"/>
            <a:ext cx="5486400" cy="3139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de" userDrawn="1">
  <p:cSld name="Code">
    <p:spTree>
      <p:nvGrpSpPr>
        <p:cNvPr id="1" name="Shape 68"/>
        <p:cNvGrpSpPr/>
        <p:nvPr/>
      </p:nvGrpSpPr>
      <p:grpSpPr>
        <a:xfrm>
          <a:off x="0" y="0"/>
          <a:ext cx="0" cy="0"/>
          <a:chOff x="0" y="0"/>
          <a:chExt cx="0" cy="0"/>
        </a:xfrm>
      </p:grpSpPr>
      <p:sp>
        <p:nvSpPr>
          <p:cNvPr id="69" name="Google Shape;69;p51"/>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olding">
  <p:cSld name="Holding">
    <p:spTree>
      <p:nvGrpSpPr>
        <p:cNvPr id="1" name="Shape 78"/>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464">
          <p15:clr>
            <a:srgbClr val="FBAE40"/>
          </p15:clr>
        </p15:guide>
        <p15:guide id="2" orient="horz" pos="2736">
          <p15:clr>
            <a:srgbClr val="FBAE40"/>
          </p15:clr>
        </p15:guide>
        <p15:guide id="3" orient="horz" pos="1272">
          <p15:clr>
            <a:srgbClr val="FBAE40"/>
          </p15:clr>
        </p15:guide>
        <p15:guide id="4" orient="horz" pos="172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Full Image">
  <p:cSld name="Full Image">
    <p:spTree>
      <p:nvGrpSpPr>
        <p:cNvPr id="1" name="Shape 79"/>
        <p:cNvGrpSpPr/>
        <p:nvPr/>
      </p:nvGrpSpPr>
      <p:grpSpPr>
        <a:xfrm>
          <a:off x="0" y="0"/>
          <a:ext cx="0" cy="0"/>
          <a:chOff x="0" y="0"/>
          <a:chExt cx="0" cy="0"/>
        </a:xfrm>
      </p:grpSpPr>
      <p:sp>
        <p:nvSpPr>
          <p:cNvPr id="80" name="Google Shape;80;p54"/>
          <p:cNvSpPr>
            <a:spLocks noGrp="1"/>
          </p:cNvSpPr>
          <p:nvPr>
            <p:ph type="pic" idx="2"/>
          </p:nvPr>
        </p:nvSpPr>
        <p:spPr>
          <a:xfrm>
            <a:off x="0" y="3"/>
            <a:ext cx="12192000" cy="6857999"/>
          </a:xfrm>
          <a:prstGeom prst="rect">
            <a:avLst/>
          </a:prstGeom>
          <a:solidFill>
            <a:schemeClr val="dk2"/>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Video">
  <p:cSld name="Video">
    <p:spTree>
      <p:nvGrpSpPr>
        <p:cNvPr id="1" name="Shape 81"/>
        <p:cNvGrpSpPr/>
        <p:nvPr/>
      </p:nvGrpSpPr>
      <p:grpSpPr>
        <a:xfrm>
          <a:off x="0" y="0"/>
          <a:ext cx="0" cy="0"/>
          <a:chOff x="0" y="0"/>
          <a:chExt cx="0" cy="0"/>
        </a:xfrm>
      </p:grpSpPr>
      <p:sp>
        <p:nvSpPr>
          <p:cNvPr id="82" name="Google Shape;82;p55"/>
          <p:cNvSpPr>
            <a:spLocks noGrp="1"/>
          </p:cNvSpPr>
          <p:nvPr>
            <p:ph type="media" idx="2"/>
          </p:nvPr>
        </p:nvSpPr>
        <p:spPr>
          <a:xfrm>
            <a:off x="0" y="0"/>
            <a:ext cx="12192000" cy="6858000"/>
          </a:xfrm>
          <a:prstGeom prst="rect">
            <a:avLst/>
          </a:prstGeom>
          <a:solidFill>
            <a:schemeClr val="dk2"/>
          </a:solid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R="0" lvl="2"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R="0" lvl="3"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R="0" lvl="4"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R="0" lvl="5"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R="0" lvl="6"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R="0" lvl="7"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R="0" lvl="8"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a:p>
        </p:txBody>
      </p:sp>
      <p:pic>
        <p:nvPicPr>
          <p:cNvPr id="83" name="Google Shape;83;p55"/>
          <p:cNvPicPr preferRelativeResize="0"/>
          <p:nvPr/>
        </p:nvPicPr>
        <p:blipFill rotWithShape="1">
          <a:blip r:embed="rId2">
            <a:alphaModFix/>
          </a:blip>
          <a:srcRect/>
          <a:stretch/>
        </p:blipFill>
        <p:spPr>
          <a:xfrm>
            <a:off x="4994672" y="2327672"/>
            <a:ext cx="2202656" cy="220265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38"/>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1"/>
              </a:buClr>
              <a:buSzPts val="3200"/>
              <a:buFont typeface="Play"/>
              <a:buNone/>
              <a:defRPr sz="3200" b="1"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p38"/>
          <p:cNvSpPr txBox="1">
            <a:spLocks noGrp="1"/>
          </p:cNvSpPr>
          <p:nvPr>
            <p:ph type="body" idx="1"/>
          </p:nvPr>
        </p:nvSpPr>
        <p:spPr>
          <a:xfrm>
            <a:off x="609600" y="1718985"/>
            <a:ext cx="10972800" cy="36933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L="914400" marR="0" lvl="1" indent="-228600"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L="1371600" marR="0" lvl="2" indent="-228600"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L="1828800" marR="0" lvl="3"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L="2286000" marR="0" lvl="4"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L="2743200" marR="0" lvl="5"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L="3200400" marR="0" lvl="6"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L="3657600" marR="0" lvl="7"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L="4114800" marR="0" lvl="8"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dirty="0"/>
          </a:p>
        </p:txBody>
      </p:sp>
      <p:pic>
        <p:nvPicPr>
          <p:cNvPr id="9" name="Google Shape;9;p38" descr="pasted-movie.png"/>
          <p:cNvPicPr preferRelativeResize="0"/>
          <p:nvPr/>
        </p:nvPicPr>
        <p:blipFill rotWithShape="1">
          <a:blip r:embed="rId17">
            <a:alphaModFix/>
          </a:blip>
          <a:srcRect/>
          <a:stretch/>
        </p:blipFill>
        <p:spPr>
          <a:xfrm>
            <a:off x="10389732" y="5943597"/>
            <a:ext cx="1434431" cy="4431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62"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 id="2147483665" r:id="rId15"/>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j-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n-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jp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jp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jp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9;p1">
            <a:extLst>
              <a:ext uri="{FF2B5EF4-FFF2-40B4-BE49-F238E27FC236}">
                <a16:creationId xmlns:a16="http://schemas.microsoft.com/office/drawing/2014/main" id="{652FEC51-2CCF-AB20-B6B8-620E903B614F}"/>
              </a:ext>
            </a:extLst>
          </p:cNvPr>
          <p:cNvPicPr preferRelativeResize="0"/>
          <p:nvPr/>
        </p:nvPicPr>
        <p:blipFill rotWithShape="1">
          <a:blip r:embed="rId2">
            <a:alphaModFix/>
          </a:blip>
          <a:srcRect/>
          <a:stretch/>
        </p:blipFill>
        <p:spPr>
          <a:xfrm>
            <a:off x="2972528" y="2365690"/>
            <a:ext cx="6246944" cy="2126619"/>
          </a:xfrm>
          <a:prstGeom prst="rect">
            <a:avLst/>
          </a:prstGeom>
          <a:noFill/>
          <a:ln>
            <a:noFill/>
          </a:ln>
        </p:spPr>
      </p:pic>
    </p:spTree>
    <p:extLst>
      <p:ext uri="{BB962C8B-B14F-4D97-AF65-F5344CB8AC3E}">
        <p14:creationId xmlns:p14="http://schemas.microsoft.com/office/powerpoint/2010/main" val="361253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a:t>Introducing the Valkey project</a:t>
            </a:r>
            <a:endParaRPr/>
          </a:p>
        </p:txBody>
      </p:sp>
      <p:sp>
        <p:nvSpPr>
          <p:cNvPr id="116" name="Google Shape;116;p3"/>
          <p:cNvSpPr txBox="1"/>
          <p:nvPr/>
        </p:nvSpPr>
        <p:spPr>
          <a:xfrm>
            <a:off x="4420119" y="4222122"/>
            <a:ext cx="2601639" cy="83099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Vendor Neutral</a:t>
            </a:r>
            <a:endParaRPr sz="1800" b="0" i="0" u="none" strike="noStrike" cap="none" dirty="0">
              <a:solidFill>
                <a:schemeClr val="lt1"/>
              </a:solidFill>
              <a:latin typeface="Play"/>
              <a:ea typeface="Play"/>
              <a:cs typeface="Play"/>
              <a:sym typeface="Play"/>
            </a:endParaRPr>
          </a:p>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BSD-3 Licensed</a:t>
            </a:r>
            <a:endParaRPr sz="1800" b="0" i="0" u="none" strike="noStrike" cap="none" dirty="0">
              <a:solidFill>
                <a:schemeClr val="lt1"/>
              </a:solidFill>
              <a:latin typeface="Play"/>
              <a:ea typeface="Play"/>
              <a:cs typeface="Play"/>
              <a:sym typeface="Play"/>
            </a:endParaRPr>
          </a:p>
        </p:txBody>
      </p:sp>
      <p:pic>
        <p:nvPicPr>
          <p:cNvPr id="117" name="Google Shape;117;p3" descr="Linux Foundation - Wikipedia"/>
          <p:cNvPicPr preferRelativeResize="0"/>
          <p:nvPr/>
        </p:nvPicPr>
        <p:blipFill rotWithShape="1">
          <a:blip r:embed="rId3">
            <a:alphaModFix/>
          </a:blip>
          <a:srcRect/>
          <a:stretch/>
        </p:blipFill>
        <p:spPr>
          <a:xfrm>
            <a:off x="4481379" y="2598367"/>
            <a:ext cx="2479121" cy="830633"/>
          </a:xfrm>
          <a:prstGeom prst="rect">
            <a:avLst/>
          </a:prstGeom>
          <a:noFill/>
          <a:ln>
            <a:noFill/>
          </a:ln>
        </p:spPr>
      </p:pic>
      <p:sp>
        <p:nvSpPr>
          <p:cNvPr id="118" name="Google Shape;118;p3"/>
          <p:cNvSpPr txBox="1"/>
          <p:nvPr/>
        </p:nvSpPr>
        <p:spPr>
          <a:xfrm>
            <a:off x="609600" y="4222122"/>
            <a:ext cx="2910431" cy="83099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Fully compatible with Redis OSS 7.2</a:t>
            </a:r>
            <a:endParaRPr sz="1800" b="0" i="0" u="none" strike="noStrike" cap="none" dirty="0">
              <a:solidFill>
                <a:schemeClr val="lt1"/>
              </a:solidFill>
              <a:latin typeface="Play"/>
              <a:ea typeface="Play"/>
              <a:cs typeface="Play"/>
              <a:sym typeface="Play"/>
            </a:endParaRPr>
          </a:p>
        </p:txBody>
      </p:sp>
      <p:sp>
        <p:nvSpPr>
          <p:cNvPr id="119" name="Google Shape;119;p3"/>
          <p:cNvSpPr txBox="1"/>
          <p:nvPr/>
        </p:nvSpPr>
        <p:spPr>
          <a:xfrm>
            <a:off x="7450232" y="4222122"/>
            <a:ext cx="3856074" cy="83099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Built by contributors in the open source community</a:t>
            </a:r>
            <a:endParaRPr sz="1800" b="0" i="0" u="none" strike="noStrike" cap="none" dirty="0">
              <a:solidFill>
                <a:schemeClr val="lt1"/>
              </a:solidFill>
              <a:latin typeface="Play"/>
              <a:ea typeface="Play"/>
              <a:cs typeface="Play"/>
              <a:sym typeface="Play"/>
            </a:endParaRPr>
          </a:p>
        </p:txBody>
      </p:sp>
      <p:grpSp>
        <p:nvGrpSpPr>
          <p:cNvPr id="120" name="Google Shape;120;p3"/>
          <p:cNvGrpSpPr/>
          <p:nvPr/>
        </p:nvGrpSpPr>
        <p:grpSpPr>
          <a:xfrm>
            <a:off x="8371712" y="2186547"/>
            <a:ext cx="2015645" cy="1499587"/>
            <a:chOff x="10678656" y="2552721"/>
            <a:chExt cx="1091793" cy="812267"/>
          </a:xfrm>
        </p:grpSpPr>
        <p:sp>
          <p:nvSpPr>
            <p:cNvPr id="121" name="Google Shape;121;p3"/>
            <p:cNvSpPr/>
            <p:nvPr/>
          </p:nvSpPr>
          <p:spPr>
            <a:xfrm>
              <a:off x="11068876" y="2552721"/>
              <a:ext cx="344286" cy="674943"/>
            </a:xfrm>
            <a:custGeom>
              <a:avLst/>
              <a:gdLst/>
              <a:ahLst/>
              <a:cxnLst/>
              <a:rect l="l" t="t" r="r" b="b"/>
              <a:pathLst>
                <a:path w="344286" h="674943" extrusionOk="0">
                  <a:moveTo>
                    <a:pt x="0" y="155793"/>
                  </a:moveTo>
                  <a:cubicBezTo>
                    <a:pt x="21260" y="101615"/>
                    <a:pt x="69952" y="-3998"/>
                    <a:pt x="151562" y="117"/>
                  </a:cubicBezTo>
                  <a:cubicBezTo>
                    <a:pt x="210541" y="3546"/>
                    <a:pt x="268834" y="47437"/>
                    <a:pt x="317525" y="200370"/>
                  </a:cubicBezTo>
                  <a:cubicBezTo>
                    <a:pt x="351130" y="304612"/>
                    <a:pt x="362102" y="504866"/>
                    <a:pt x="296266" y="674944"/>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22" name="Google Shape;122;p3"/>
            <p:cNvSpPr/>
            <p:nvPr/>
          </p:nvSpPr>
          <p:spPr>
            <a:xfrm>
              <a:off x="11039387" y="3100792"/>
              <a:ext cx="285978" cy="264033"/>
            </a:xfrm>
            <a:custGeom>
              <a:avLst/>
              <a:gdLst/>
              <a:ahLst/>
              <a:cxnLst/>
              <a:rect l="l" t="t" r="r" b="b"/>
              <a:pathLst>
                <a:path w="285978" h="264033" extrusionOk="0">
                  <a:moveTo>
                    <a:pt x="285979" y="198196"/>
                  </a:moveTo>
                  <a:cubicBezTo>
                    <a:pt x="285979" y="198196"/>
                    <a:pt x="240030" y="264033"/>
                    <a:pt x="183109" y="264033"/>
                  </a:cubicBezTo>
                  <a:cubicBezTo>
                    <a:pt x="157048" y="264033"/>
                    <a:pt x="50063" y="253060"/>
                    <a:pt x="0" y="0"/>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23" name="Google Shape;123;p3"/>
            <p:cNvSpPr/>
            <p:nvPr/>
          </p:nvSpPr>
          <p:spPr>
            <a:xfrm>
              <a:off x="11028067" y="2788067"/>
              <a:ext cx="17491" cy="231800"/>
            </a:xfrm>
            <a:custGeom>
              <a:avLst/>
              <a:gdLst/>
              <a:ahLst/>
              <a:cxnLst/>
              <a:rect l="l" t="t" r="r" b="b"/>
              <a:pathLst>
                <a:path w="17491" h="231800" extrusionOk="0">
                  <a:moveTo>
                    <a:pt x="17492" y="0"/>
                  </a:moveTo>
                  <a:cubicBezTo>
                    <a:pt x="17492" y="0"/>
                    <a:pt x="-6511" y="103556"/>
                    <a:pt x="1718" y="231800"/>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24" name="Google Shape;124;p3"/>
            <p:cNvSpPr/>
            <p:nvPr/>
          </p:nvSpPr>
          <p:spPr>
            <a:xfrm>
              <a:off x="10928287" y="2685197"/>
              <a:ext cx="92583" cy="54864"/>
            </a:xfrm>
            <a:custGeom>
              <a:avLst/>
              <a:gdLst/>
              <a:ahLst/>
              <a:cxnLst/>
              <a:rect l="l" t="t" r="r" b="b"/>
              <a:pathLst>
                <a:path w="92583" h="54864" extrusionOk="0">
                  <a:moveTo>
                    <a:pt x="92583" y="54864"/>
                  </a:moveTo>
                  <a:cubicBezTo>
                    <a:pt x="67208" y="46634"/>
                    <a:pt x="26746" y="36347"/>
                    <a:pt x="0" y="0"/>
                  </a:cubicBezTo>
                </a:path>
              </a:pathLst>
            </a:custGeom>
            <a:noFill/>
            <a:ln w="13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25" name="Google Shape;125;p3"/>
            <p:cNvSpPr/>
            <p:nvPr/>
          </p:nvSpPr>
          <p:spPr>
            <a:xfrm>
              <a:off x="11098365" y="2744176"/>
              <a:ext cx="331241" cy="24333"/>
            </a:xfrm>
            <a:custGeom>
              <a:avLst/>
              <a:gdLst/>
              <a:ahLst/>
              <a:cxnLst/>
              <a:rect l="l" t="t" r="r" b="b"/>
              <a:pathLst>
                <a:path w="331241" h="24333" extrusionOk="0">
                  <a:moveTo>
                    <a:pt x="0" y="13030"/>
                  </a:moveTo>
                  <a:cubicBezTo>
                    <a:pt x="62408" y="20574"/>
                    <a:pt x="179680" y="39776"/>
                    <a:pt x="331241" y="0"/>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26" name="Google Shape;126;p3"/>
            <p:cNvSpPr/>
            <p:nvPr/>
          </p:nvSpPr>
          <p:spPr>
            <a:xfrm>
              <a:off x="11506416" y="2690684"/>
              <a:ext cx="25374" cy="24688"/>
            </a:xfrm>
            <a:custGeom>
              <a:avLst/>
              <a:gdLst/>
              <a:ahLst/>
              <a:cxnLst/>
              <a:rect l="l" t="t" r="r" b="b"/>
              <a:pathLst>
                <a:path w="25374" h="24688" extrusionOk="0">
                  <a:moveTo>
                    <a:pt x="0" y="24689"/>
                  </a:moveTo>
                  <a:cubicBezTo>
                    <a:pt x="0" y="24689"/>
                    <a:pt x="15088" y="17145"/>
                    <a:pt x="25375" y="0"/>
                  </a:cubicBezTo>
                </a:path>
              </a:pathLst>
            </a:custGeom>
            <a:noFill/>
            <a:ln w="137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27" name="Google Shape;127;p3"/>
            <p:cNvSpPr/>
            <p:nvPr/>
          </p:nvSpPr>
          <p:spPr>
            <a:xfrm>
              <a:off x="11330852" y="2958146"/>
              <a:ext cx="178308" cy="685"/>
            </a:xfrm>
            <a:custGeom>
              <a:avLst/>
              <a:gdLst/>
              <a:ahLst/>
              <a:cxnLst/>
              <a:rect l="l" t="t" r="r" b="b"/>
              <a:pathLst>
                <a:path w="178308" h="685" extrusionOk="0">
                  <a:moveTo>
                    <a:pt x="178308" y="0"/>
                  </a:moveTo>
                  <a:lnTo>
                    <a:pt x="0" y="686"/>
                  </a:ln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28" name="Google Shape;128;p3"/>
            <p:cNvSpPr/>
            <p:nvPr/>
          </p:nvSpPr>
          <p:spPr>
            <a:xfrm>
              <a:off x="10938574" y="2959517"/>
              <a:ext cx="307238" cy="6858"/>
            </a:xfrm>
            <a:custGeom>
              <a:avLst/>
              <a:gdLst/>
              <a:ahLst/>
              <a:cxnLst/>
              <a:rect l="l" t="t" r="r" b="b"/>
              <a:pathLst>
                <a:path w="307238" h="6858" extrusionOk="0">
                  <a:moveTo>
                    <a:pt x="0" y="0"/>
                  </a:moveTo>
                  <a:lnTo>
                    <a:pt x="307238" y="0"/>
                  </a:ln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29" name="Google Shape;129;p3"/>
            <p:cNvSpPr/>
            <p:nvPr/>
          </p:nvSpPr>
          <p:spPr>
            <a:xfrm>
              <a:off x="10970807" y="3159085"/>
              <a:ext cx="506120" cy="38404"/>
            </a:xfrm>
            <a:custGeom>
              <a:avLst/>
              <a:gdLst/>
              <a:ahLst/>
              <a:cxnLst/>
              <a:rect l="l" t="t" r="r" b="b"/>
              <a:pathLst>
                <a:path w="506120" h="38404" extrusionOk="0">
                  <a:moveTo>
                    <a:pt x="0" y="38405"/>
                  </a:moveTo>
                  <a:cubicBezTo>
                    <a:pt x="0" y="38405"/>
                    <a:pt x="84353" y="0"/>
                    <a:pt x="249631" y="0"/>
                  </a:cubicBezTo>
                  <a:cubicBezTo>
                    <a:pt x="314096" y="0"/>
                    <a:pt x="415595" y="3429"/>
                    <a:pt x="506120" y="37719"/>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30" name="Google Shape;130;p3"/>
            <p:cNvSpPr/>
            <p:nvPr/>
          </p:nvSpPr>
          <p:spPr>
            <a:xfrm>
              <a:off x="10951604" y="3251668"/>
              <a:ext cx="554812" cy="113320"/>
            </a:xfrm>
            <a:custGeom>
              <a:avLst/>
              <a:gdLst/>
              <a:ahLst/>
              <a:cxnLst/>
              <a:rect l="l" t="t" r="r" b="b"/>
              <a:pathLst>
                <a:path w="554812" h="113320" extrusionOk="0">
                  <a:moveTo>
                    <a:pt x="0" y="0"/>
                  </a:moveTo>
                  <a:cubicBezTo>
                    <a:pt x="0" y="0"/>
                    <a:pt x="86411" y="106985"/>
                    <a:pt x="271577" y="113157"/>
                  </a:cubicBezTo>
                  <a:cubicBezTo>
                    <a:pt x="347701" y="115900"/>
                    <a:pt x="476631" y="84353"/>
                    <a:pt x="554812" y="3429"/>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31" name="Google Shape;131;p3"/>
            <p:cNvSpPr/>
            <p:nvPr/>
          </p:nvSpPr>
          <p:spPr>
            <a:xfrm>
              <a:off x="10900169" y="2552762"/>
              <a:ext cx="659739" cy="167411"/>
            </a:xfrm>
            <a:custGeom>
              <a:avLst/>
              <a:gdLst/>
              <a:ahLst/>
              <a:cxnLst/>
              <a:rect l="l" t="t" r="r" b="b"/>
              <a:pathLst>
                <a:path w="659739" h="167411" extrusionOk="0">
                  <a:moveTo>
                    <a:pt x="0" y="167411"/>
                  </a:moveTo>
                  <a:cubicBezTo>
                    <a:pt x="0" y="167411"/>
                    <a:pt x="110414" y="4877"/>
                    <a:pt x="317525" y="76"/>
                  </a:cubicBezTo>
                  <a:cubicBezTo>
                    <a:pt x="393649" y="-1296"/>
                    <a:pt x="551383" y="14478"/>
                    <a:pt x="659740" y="162611"/>
                  </a:cubicBez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grpSp>
          <p:nvGrpSpPr>
            <p:cNvPr id="132" name="Google Shape;132;p3"/>
            <p:cNvGrpSpPr/>
            <p:nvPr/>
          </p:nvGrpSpPr>
          <p:grpSpPr>
            <a:xfrm>
              <a:off x="10996867" y="2697542"/>
              <a:ext cx="509549" cy="605561"/>
              <a:chOff x="10996867" y="2697542"/>
              <a:chExt cx="509549" cy="605561"/>
            </a:xfrm>
          </p:grpSpPr>
          <p:sp>
            <p:nvSpPr>
              <p:cNvPr id="133" name="Google Shape;133;p3"/>
              <p:cNvSpPr/>
              <p:nvPr/>
            </p:nvSpPr>
            <p:spPr>
              <a:xfrm>
                <a:off x="11019498" y="2712629"/>
                <a:ext cx="75438" cy="75438"/>
              </a:xfrm>
              <a:custGeom>
                <a:avLst/>
                <a:gdLst/>
                <a:ahLst/>
                <a:cxnLst/>
                <a:rect l="l" t="t" r="r" b="b"/>
                <a:pathLst>
                  <a:path w="75438" h="75438" extrusionOk="0">
                    <a:moveTo>
                      <a:pt x="75438" y="37719"/>
                    </a:moveTo>
                    <a:cubicBezTo>
                      <a:pt x="75438" y="58551"/>
                      <a:pt x="58551" y="75438"/>
                      <a:pt x="37719" y="75438"/>
                    </a:cubicBezTo>
                    <a:cubicBezTo>
                      <a:pt x="16887" y="75438"/>
                      <a:pt x="0" y="58551"/>
                      <a:pt x="0" y="37719"/>
                    </a:cubicBezTo>
                    <a:cubicBezTo>
                      <a:pt x="0" y="16887"/>
                      <a:pt x="16887" y="0"/>
                      <a:pt x="37719" y="0"/>
                    </a:cubicBezTo>
                    <a:cubicBezTo>
                      <a:pt x="58551" y="0"/>
                      <a:pt x="75438" y="16887"/>
                      <a:pt x="75438" y="37719"/>
                    </a:cubicBezTo>
                    <a:close/>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34" name="Google Shape;134;p3"/>
              <p:cNvSpPr/>
              <p:nvPr/>
            </p:nvSpPr>
            <p:spPr>
              <a:xfrm>
                <a:off x="10996867" y="3025354"/>
                <a:ext cx="75438" cy="75438"/>
              </a:xfrm>
              <a:custGeom>
                <a:avLst/>
                <a:gdLst/>
                <a:ahLst/>
                <a:cxnLst/>
                <a:rect l="l" t="t" r="r" b="b"/>
                <a:pathLst>
                  <a:path w="75438" h="75438" extrusionOk="0">
                    <a:moveTo>
                      <a:pt x="75438" y="37719"/>
                    </a:moveTo>
                    <a:cubicBezTo>
                      <a:pt x="75438" y="58551"/>
                      <a:pt x="58551" y="75438"/>
                      <a:pt x="37719" y="75438"/>
                    </a:cubicBezTo>
                    <a:cubicBezTo>
                      <a:pt x="16887" y="75438"/>
                      <a:pt x="0" y="58551"/>
                      <a:pt x="0" y="37719"/>
                    </a:cubicBezTo>
                    <a:cubicBezTo>
                      <a:pt x="0" y="16887"/>
                      <a:pt x="16887" y="0"/>
                      <a:pt x="37719" y="0"/>
                    </a:cubicBezTo>
                    <a:cubicBezTo>
                      <a:pt x="58551" y="0"/>
                      <a:pt x="75438" y="16887"/>
                      <a:pt x="75438" y="37719"/>
                    </a:cubicBezTo>
                    <a:close/>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35" name="Google Shape;135;p3"/>
              <p:cNvSpPr/>
              <p:nvPr/>
            </p:nvSpPr>
            <p:spPr>
              <a:xfrm>
                <a:off x="11309592" y="3227665"/>
                <a:ext cx="75438" cy="75438"/>
              </a:xfrm>
              <a:custGeom>
                <a:avLst/>
                <a:gdLst/>
                <a:ahLst/>
                <a:cxnLst/>
                <a:rect l="l" t="t" r="r" b="b"/>
                <a:pathLst>
                  <a:path w="75438" h="75438" extrusionOk="0">
                    <a:moveTo>
                      <a:pt x="75438" y="37719"/>
                    </a:moveTo>
                    <a:cubicBezTo>
                      <a:pt x="75438" y="58551"/>
                      <a:pt x="58551" y="75438"/>
                      <a:pt x="37719" y="75438"/>
                    </a:cubicBezTo>
                    <a:cubicBezTo>
                      <a:pt x="16887" y="75438"/>
                      <a:pt x="0" y="58551"/>
                      <a:pt x="0" y="37719"/>
                    </a:cubicBezTo>
                    <a:cubicBezTo>
                      <a:pt x="0" y="16887"/>
                      <a:pt x="16887" y="0"/>
                      <a:pt x="37719" y="0"/>
                    </a:cubicBezTo>
                    <a:cubicBezTo>
                      <a:pt x="58551" y="0"/>
                      <a:pt x="75438" y="16887"/>
                      <a:pt x="75438" y="37719"/>
                    </a:cubicBezTo>
                    <a:close/>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36" name="Google Shape;136;p3"/>
              <p:cNvSpPr/>
              <p:nvPr/>
            </p:nvSpPr>
            <p:spPr>
              <a:xfrm>
                <a:off x="11430978" y="2697542"/>
                <a:ext cx="75438" cy="75438"/>
              </a:xfrm>
              <a:custGeom>
                <a:avLst/>
                <a:gdLst/>
                <a:ahLst/>
                <a:cxnLst/>
                <a:rect l="l" t="t" r="r" b="b"/>
                <a:pathLst>
                  <a:path w="75438" h="75438" extrusionOk="0">
                    <a:moveTo>
                      <a:pt x="75438" y="37719"/>
                    </a:moveTo>
                    <a:cubicBezTo>
                      <a:pt x="75438" y="58551"/>
                      <a:pt x="58551" y="75438"/>
                      <a:pt x="37719" y="75438"/>
                    </a:cubicBezTo>
                    <a:cubicBezTo>
                      <a:pt x="16887" y="75438"/>
                      <a:pt x="0" y="58551"/>
                      <a:pt x="0" y="37719"/>
                    </a:cubicBezTo>
                    <a:cubicBezTo>
                      <a:pt x="0" y="16887"/>
                      <a:pt x="16887" y="0"/>
                      <a:pt x="37719" y="0"/>
                    </a:cubicBezTo>
                    <a:cubicBezTo>
                      <a:pt x="58551" y="0"/>
                      <a:pt x="75438" y="16887"/>
                      <a:pt x="75438" y="37719"/>
                    </a:cubicBezTo>
                    <a:close/>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37" name="Google Shape;137;p3"/>
              <p:cNvSpPr/>
              <p:nvPr/>
            </p:nvSpPr>
            <p:spPr>
              <a:xfrm>
                <a:off x="11249927" y="2922484"/>
                <a:ext cx="75438" cy="75438"/>
              </a:xfrm>
              <a:custGeom>
                <a:avLst/>
                <a:gdLst/>
                <a:ahLst/>
                <a:cxnLst/>
                <a:rect l="l" t="t" r="r" b="b"/>
                <a:pathLst>
                  <a:path w="75438" h="75438" extrusionOk="0">
                    <a:moveTo>
                      <a:pt x="75438" y="37719"/>
                    </a:moveTo>
                    <a:cubicBezTo>
                      <a:pt x="75438" y="58551"/>
                      <a:pt x="58551" y="75438"/>
                      <a:pt x="37719" y="75438"/>
                    </a:cubicBezTo>
                    <a:cubicBezTo>
                      <a:pt x="16887" y="75438"/>
                      <a:pt x="0" y="58551"/>
                      <a:pt x="0" y="37719"/>
                    </a:cubicBezTo>
                    <a:cubicBezTo>
                      <a:pt x="0" y="16887"/>
                      <a:pt x="16887" y="0"/>
                      <a:pt x="37719" y="0"/>
                    </a:cubicBezTo>
                    <a:cubicBezTo>
                      <a:pt x="58551" y="0"/>
                      <a:pt x="75438" y="16887"/>
                      <a:pt x="75438" y="37719"/>
                    </a:cubicBezTo>
                    <a:close/>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grpSp>
        <p:sp>
          <p:nvSpPr>
            <p:cNvPr id="138" name="Google Shape;138;p3"/>
            <p:cNvSpPr/>
            <p:nvPr/>
          </p:nvSpPr>
          <p:spPr>
            <a:xfrm>
              <a:off x="10678656" y="3017125"/>
              <a:ext cx="219456" cy="219456"/>
            </a:xfrm>
            <a:custGeom>
              <a:avLst/>
              <a:gdLst/>
              <a:ahLst/>
              <a:cxnLst/>
              <a:rect l="l" t="t" r="r" b="b"/>
              <a:pathLst>
                <a:path w="219456" h="219456" extrusionOk="0">
                  <a:moveTo>
                    <a:pt x="205740" y="219456"/>
                  </a:moveTo>
                  <a:lnTo>
                    <a:pt x="13716" y="219456"/>
                  </a:lnTo>
                  <a:cubicBezTo>
                    <a:pt x="6172" y="219456"/>
                    <a:pt x="0" y="213284"/>
                    <a:pt x="0" y="205740"/>
                  </a:cubicBezTo>
                  <a:lnTo>
                    <a:pt x="0" y="13716"/>
                  </a:lnTo>
                  <a:cubicBezTo>
                    <a:pt x="0" y="6172"/>
                    <a:pt x="6172" y="0"/>
                    <a:pt x="13716" y="0"/>
                  </a:cubicBezTo>
                  <a:lnTo>
                    <a:pt x="205740" y="0"/>
                  </a:lnTo>
                  <a:cubicBezTo>
                    <a:pt x="213284" y="0"/>
                    <a:pt x="219456" y="6172"/>
                    <a:pt x="219456" y="13716"/>
                  </a:cubicBezTo>
                  <a:lnTo>
                    <a:pt x="219456" y="205740"/>
                  </a:lnTo>
                  <a:cubicBezTo>
                    <a:pt x="219456" y="213284"/>
                    <a:pt x="213284" y="219456"/>
                    <a:pt x="205740" y="219456"/>
                  </a:cubicBezTo>
                  <a:close/>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39" name="Google Shape;139;p3"/>
            <p:cNvSpPr/>
            <p:nvPr/>
          </p:nvSpPr>
          <p:spPr>
            <a:xfrm>
              <a:off x="10699916" y="2860076"/>
              <a:ext cx="175564" cy="118643"/>
            </a:xfrm>
            <a:custGeom>
              <a:avLst/>
              <a:gdLst/>
              <a:ahLst/>
              <a:cxnLst/>
              <a:rect l="l" t="t" r="r" b="b"/>
              <a:pathLst>
                <a:path w="175564" h="118643" extrusionOk="0">
                  <a:moveTo>
                    <a:pt x="175565" y="118643"/>
                  </a:moveTo>
                  <a:lnTo>
                    <a:pt x="175565" y="17831"/>
                  </a:lnTo>
                  <a:cubicBezTo>
                    <a:pt x="175565" y="8230"/>
                    <a:pt x="168021" y="0"/>
                    <a:pt x="157734" y="0"/>
                  </a:cubicBezTo>
                  <a:lnTo>
                    <a:pt x="17831" y="0"/>
                  </a:lnTo>
                  <a:cubicBezTo>
                    <a:pt x="8230" y="0"/>
                    <a:pt x="0" y="7544"/>
                    <a:pt x="0" y="17831"/>
                  </a:cubicBezTo>
                  <a:lnTo>
                    <a:pt x="0" y="118643"/>
                  </a:lnTo>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40" name="Google Shape;140;p3"/>
            <p:cNvSpPr/>
            <p:nvPr/>
          </p:nvSpPr>
          <p:spPr>
            <a:xfrm>
              <a:off x="10720490" y="2740747"/>
              <a:ext cx="132359" cy="73380"/>
            </a:xfrm>
            <a:custGeom>
              <a:avLst/>
              <a:gdLst/>
              <a:ahLst/>
              <a:cxnLst/>
              <a:rect l="l" t="t" r="r" b="b"/>
              <a:pathLst>
                <a:path w="132359" h="73380" extrusionOk="0">
                  <a:moveTo>
                    <a:pt x="132359" y="73381"/>
                  </a:moveTo>
                  <a:lnTo>
                    <a:pt x="132359" y="17831"/>
                  </a:lnTo>
                  <a:cubicBezTo>
                    <a:pt x="132359" y="8230"/>
                    <a:pt x="124816" y="0"/>
                    <a:pt x="114529" y="0"/>
                  </a:cubicBezTo>
                  <a:lnTo>
                    <a:pt x="17831" y="0"/>
                  </a:lnTo>
                  <a:cubicBezTo>
                    <a:pt x="8230" y="0"/>
                    <a:pt x="0" y="7544"/>
                    <a:pt x="0" y="17831"/>
                  </a:cubicBezTo>
                  <a:lnTo>
                    <a:pt x="0" y="73381"/>
                  </a:ln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41" name="Google Shape;141;p3"/>
            <p:cNvSpPr/>
            <p:nvPr/>
          </p:nvSpPr>
          <p:spPr>
            <a:xfrm>
              <a:off x="11550993" y="3017125"/>
              <a:ext cx="219456" cy="219456"/>
            </a:xfrm>
            <a:custGeom>
              <a:avLst/>
              <a:gdLst/>
              <a:ahLst/>
              <a:cxnLst/>
              <a:rect l="l" t="t" r="r" b="b"/>
              <a:pathLst>
                <a:path w="219456" h="219456" extrusionOk="0">
                  <a:moveTo>
                    <a:pt x="205740" y="219456"/>
                  </a:moveTo>
                  <a:lnTo>
                    <a:pt x="13716" y="219456"/>
                  </a:lnTo>
                  <a:cubicBezTo>
                    <a:pt x="6172" y="219456"/>
                    <a:pt x="0" y="213284"/>
                    <a:pt x="0" y="205740"/>
                  </a:cubicBezTo>
                  <a:lnTo>
                    <a:pt x="0" y="13716"/>
                  </a:lnTo>
                  <a:cubicBezTo>
                    <a:pt x="0" y="6172"/>
                    <a:pt x="6172" y="0"/>
                    <a:pt x="13716" y="0"/>
                  </a:cubicBezTo>
                  <a:lnTo>
                    <a:pt x="205740" y="0"/>
                  </a:lnTo>
                  <a:cubicBezTo>
                    <a:pt x="213284" y="0"/>
                    <a:pt x="219456" y="6172"/>
                    <a:pt x="219456" y="13716"/>
                  </a:cubicBezTo>
                  <a:lnTo>
                    <a:pt x="219456" y="205740"/>
                  </a:lnTo>
                  <a:cubicBezTo>
                    <a:pt x="219456" y="213284"/>
                    <a:pt x="213284" y="219456"/>
                    <a:pt x="205740" y="219456"/>
                  </a:cubicBezTo>
                  <a:close/>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sp>
          <p:nvSpPr>
            <p:cNvPr id="142" name="Google Shape;142;p3"/>
            <p:cNvSpPr/>
            <p:nvPr/>
          </p:nvSpPr>
          <p:spPr>
            <a:xfrm>
              <a:off x="11572253" y="2860076"/>
              <a:ext cx="176250" cy="118643"/>
            </a:xfrm>
            <a:custGeom>
              <a:avLst/>
              <a:gdLst/>
              <a:ahLst/>
              <a:cxnLst/>
              <a:rect l="l" t="t" r="r" b="b"/>
              <a:pathLst>
                <a:path w="176250" h="118643" extrusionOk="0">
                  <a:moveTo>
                    <a:pt x="176251" y="118643"/>
                  </a:moveTo>
                  <a:lnTo>
                    <a:pt x="176251" y="17831"/>
                  </a:lnTo>
                  <a:cubicBezTo>
                    <a:pt x="176251" y="8230"/>
                    <a:pt x="168707" y="0"/>
                    <a:pt x="158420" y="0"/>
                  </a:cubicBezTo>
                  <a:lnTo>
                    <a:pt x="17831" y="0"/>
                  </a:lnTo>
                  <a:cubicBezTo>
                    <a:pt x="8230" y="0"/>
                    <a:pt x="0" y="7544"/>
                    <a:pt x="0" y="17831"/>
                  </a:cubicBezTo>
                  <a:lnTo>
                    <a:pt x="0" y="118643"/>
                  </a:lnTo>
                </a:path>
              </a:pathLst>
            </a:custGeom>
            <a:noFill/>
            <a:ln w="13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dk1"/>
                </a:solidFill>
                <a:latin typeface="Century Gothic"/>
                <a:ea typeface="Century Gothic"/>
                <a:cs typeface="Century Gothic"/>
                <a:sym typeface="Century Gothic"/>
              </a:endParaRPr>
            </a:p>
          </p:txBody>
        </p:sp>
        <p:sp>
          <p:nvSpPr>
            <p:cNvPr id="143" name="Google Shape;143;p3"/>
            <p:cNvSpPr/>
            <p:nvPr/>
          </p:nvSpPr>
          <p:spPr>
            <a:xfrm>
              <a:off x="11592827" y="2740747"/>
              <a:ext cx="132359" cy="73380"/>
            </a:xfrm>
            <a:custGeom>
              <a:avLst/>
              <a:gdLst/>
              <a:ahLst/>
              <a:cxnLst/>
              <a:rect l="l" t="t" r="r" b="b"/>
              <a:pathLst>
                <a:path w="132359" h="73380" extrusionOk="0">
                  <a:moveTo>
                    <a:pt x="132359" y="73381"/>
                  </a:moveTo>
                  <a:lnTo>
                    <a:pt x="132359" y="17831"/>
                  </a:lnTo>
                  <a:cubicBezTo>
                    <a:pt x="132359" y="8230"/>
                    <a:pt x="124816" y="0"/>
                    <a:pt x="114529" y="0"/>
                  </a:cubicBezTo>
                  <a:lnTo>
                    <a:pt x="17831" y="0"/>
                  </a:lnTo>
                  <a:cubicBezTo>
                    <a:pt x="8230" y="0"/>
                    <a:pt x="0" y="7544"/>
                    <a:pt x="0" y="17831"/>
                  </a:cubicBezTo>
                  <a:lnTo>
                    <a:pt x="0" y="73381"/>
                  </a:lnTo>
                </a:path>
              </a:pathLst>
            </a:custGeom>
            <a:noFill/>
            <a:ln w="13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160"/>
                <a:buFont typeface="Play"/>
                <a:buNone/>
              </a:pPr>
              <a:endParaRPr sz="2160" b="0" i="0" u="none" strike="noStrike" cap="none">
                <a:solidFill>
                  <a:schemeClr val="accent1"/>
                </a:solidFill>
                <a:latin typeface="Century Gothic"/>
                <a:ea typeface="Century Gothic"/>
                <a:cs typeface="Century Gothic"/>
                <a:sym typeface="Century Gothic"/>
              </a:endParaRPr>
            </a:p>
          </p:txBody>
        </p:sp>
      </p:grpSp>
      <p:pic>
        <p:nvPicPr>
          <p:cNvPr id="144" name="Google Shape;144;p3"/>
          <p:cNvPicPr preferRelativeResize="0"/>
          <p:nvPr/>
        </p:nvPicPr>
        <p:blipFill rotWithShape="1">
          <a:blip r:embed="rId4">
            <a:alphaModFix/>
          </a:blip>
          <a:srcRect/>
          <a:stretch/>
        </p:blipFill>
        <p:spPr>
          <a:xfrm>
            <a:off x="1294571" y="2082954"/>
            <a:ext cx="1540488" cy="178011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Backed by industry leaders</a:t>
            </a:r>
            <a:endParaRPr dirty="0"/>
          </a:p>
        </p:txBody>
      </p:sp>
      <p:grpSp>
        <p:nvGrpSpPr>
          <p:cNvPr id="150" name="Google Shape;150;p4"/>
          <p:cNvGrpSpPr/>
          <p:nvPr/>
        </p:nvGrpSpPr>
        <p:grpSpPr>
          <a:xfrm>
            <a:off x="654569" y="1735701"/>
            <a:ext cx="10972416" cy="3699814"/>
            <a:chOff x="640080" y="1660122"/>
            <a:chExt cx="7863840" cy="2651626"/>
          </a:xfrm>
        </p:grpSpPr>
        <p:grpSp>
          <p:nvGrpSpPr>
            <p:cNvPr id="151" name="Google Shape;151;p4"/>
            <p:cNvGrpSpPr/>
            <p:nvPr/>
          </p:nvGrpSpPr>
          <p:grpSpPr>
            <a:xfrm>
              <a:off x="640080" y="1660122"/>
              <a:ext cx="7863840" cy="2651626"/>
              <a:chOff x="640080" y="1660122"/>
              <a:chExt cx="7863840" cy="2651626"/>
            </a:xfrm>
          </p:grpSpPr>
          <p:sp>
            <p:nvSpPr>
              <p:cNvPr id="152" name="Google Shape;152;p4"/>
              <p:cNvSpPr/>
              <p:nvPr/>
            </p:nvSpPr>
            <p:spPr>
              <a:xfrm>
                <a:off x="640080" y="1660122"/>
                <a:ext cx="7863840" cy="2651626"/>
              </a:xfrm>
              <a:prstGeom prst="roundRect">
                <a:avLst>
                  <a:gd name="adj" fmla="val 4069"/>
                </a:avLst>
              </a:prstGeom>
              <a:solidFill>
                <a:schemeClr val="lt1"/>
              </a:solidFill>
              <a:ln w="19050" cap="rnd" cmpd="sng">
                <a:solidFill>
                  <a:schemeClr val="dk1"/>
                </a:solidFill>
                <a:prstDash val="solid"/>
                <a:round/>
                <a:headEnd type="none" w="sm" len="sm"/>
                <a:tailEnd type="none" w="sm" len="sm"/>
              </a:ln>
            </p:spPr>
            <p:txBody>
              <a:bodyPr spcFirstLastPara="1" wrap="square" lIns="34275" tIns="34275" rIns="34275" bIns="205725" anchor="ctr" anchorCtr="0">
                <a:noAutofit/>
              </a:bodyPr>
              <a:lstStyle/>
              <a:p>
                <a:pPr marL="0" marR="0" lvl="0" indent="0" algn="ctr" rtl="0">
                  <a:lnSpc>
                    <a:spcPct val="90000"/>
                  </a:lnSpc>
                  <a:spcBef>
                    <a:spcPts val="0"/>
                  </a:spcBef>
                  <a:spcAft>
                    <a:spcPts val="0"/>
                  </a:spcAft>
                  <a:buClr>
                    <a:schemeClr val="lt1"/>
                  </a:buClr>
                  <a:buSzPts val="1600"/>
                  <a:buFont typeface="Play"/>
                  <a:buNone/>
                </a:pPr>
                <a:endParaRPr sz="1600" b="0" i="0" u="none" strike="noStrike" cap="none">
                  <a:solidFill>
                    <a:srgbClr val="FFFFFF"/>
                  </a:solidFill>
                  <a:latin typeface="Century Gothic"/>
                  <a:ea typeface="Century Gothic"/>
                  <a:cs typeface="Century Gothic"/>
                  <a:sym typeface="Century Gothic"/>
                </a:endParaRPr>
              </a:p>
            </p:txBody>
          </p:sp>
          <p:pic>
            <p:nvPicPr>
              <p:cNvPr id="153" name="Google Shape;153;p4"/>
              <p:cNvPicPr preferRelativeResize="0"/>
              <p:nvPr/>
            </p:nvPicPr>
            <p:blipFill rotWithShape="1">
              <a:blip r:embed="rId3">
                <a:alphaModFix/>
              </a:blip>
              <a:srcRect l="6266" t="25827" r="5963" b="23724"/>
              <a:stretch/>
            </p:blipFill>
            <p:spPr>
              <a:xfrm>
                <a:off x="2786493" y="2886204"/>
                <a:ext cx="1863388" cy="315774"/>
              </a:xfrm>
              <a:prstGeom prst="rect">
                <a:avLst/>
              </a:prstGeom>
              <a:noFill/>
              <a:ln>
                <a:noFill/>
              </a:ln>
            </p:spPr>
          </p:pic>
          <p:pic>
            <p:nvPicPr>
              <p:cNvPr id="154" name="Google Shape;154;p4"/>
              <p:cNvPicPr preferRelativeResize="0"/>
              <p:nvPr/>
            </p:nvPicPr>
            <p:blipFill rotWithShape="1">
              <a:blip r:embed="rId4">
                <a:alphaModFix/>
              </a:blip>
              <a:srcRect/>
              <a:stretch/>
            </p:blipFill>
            <p:spPr>
              <a:xfrm>
                <a:off x="733062" y="3047501"/>
                <a:ext cx="999595" cy="878714"/>
              </a:xfrm>
              <a:prstGeom prst="rect">
                <a:avLst/>
              </a:prstGeom>
              <a:noFill/>
              <a:ln>
                <a:noFill/>
              </a:ln>
            </p:spPr>
          </p:pic>
          <p:pic>
            <p:nvPicPr>
              <p:cNvPr id="155" name="Google Shape;155;p4" descr="A black background with orange text&#10;&#10;Description automatically generated"/>
              <p:cNvPicPr preferRelativeResize="0"/>
              <p:nvPr/>
            </p:nvPicPr>
            <p:blipFill rotWithShape="1">
              <a:blip r:embed="rId5">
                <a:alphaModFix/>
              </a:blip>
              <a:srcRect t="22153" b="24634"/>
              <a:stretch/>
            </p:blipFill>
            <p:spPr>
              <a:xfrm>
                <a:off x="2061030" y="3324405"/>
                <a:ext cx="1599242" cy="851004"/>
              </a:xfrm>
              <a:prstGeom prst="rect">
                <a:avLst/>
              </a:prstGeom>
              <a:noFill/>
              <a:ln>
                <a:noFill/>
              </a:ln>
            </p:spPr>
          </p:pic>
          <p:pic>
            <p:nvPicPr>
              <p:cNvPr id="156" name="Google Shape;156;p4"/>
              <p:cNvPicPr preferRelativeResize="0"/>
              <p:nvPr/>
            </p:nvPicPr>
            <p:blipFill rotWithShape="1">
              <a:blip r:embed="rId6">
                <a:alphaModFix/>
              </a:blip>
              <a:srcRect l="9571" t="21880" r="9569" b="24382"/>
              <a:stretch/>
            </p:blipFill>
            <p:spPr>
              <a:xfrm>
                <a:off x="6240381" y="3658349"/>
                <a:ext cx="1721672" cy="429064"/>
              </a:xfrm>
              <a:prstGeom prst="rect">
                <a:avLst/>
              </a:prstGeom>
              <a:noFill/>
              <a:ln>
                <a:noFill/>
              </a:ln>
            </p:spPr>
          </p:pic>
          <p:grpSp>
            <p:nvGrpSpPr>
              <p:cNvPr id="157" name="Google Shape;157;p4"/>
              <p:cNvGrpSpPr/>
              <p:nvPr/>
            </p:nvGrpSpPr>
            <p:grpSpPr>
              <a:xfrm>
                <a:off x="1042947" y="2066296"/>
                <a:ext cx="5812052" cy="1340138"/>
                <a:chOff x="940321" y="1890451"/>
                <a:chExt cx="5812052" cy="1340138"/>
              </a:xfrm>
            </p:grpSpPr>
            <p:pic>
              <p:nvPicPr>
                <p:cNvPr id="158" name="Google Shape;158;p4"/>
                <p:cNvPicPr preferRelativeResize="0"/>
                <p:nvPr/>
              </p:nvPicPr>
              <p:blipFill rotWithShape="1">
                <a:blip r:embed="rId7">
                  <a:alphaModFix/>
                </a:blip>
                <a:srcRect l="9519" t="4221" r="6895" b="10578"/>
                <a:stretch/>
              </p:blipFill>
              <p:spPr>
                <a:xfrm flipH="1">
                  <a:off x="1723012" y="2520779"/>
                  <a:ext cx="696351" cy="709810"/>
                </a:xfrm>
                <a:prstGeom prst="rect">
                  <a:avLst/>
                </a:prstGeom>
                <a:noFill/>
                <a:ln>
                  <a:noFill/>
                </a:ln>
              </p:spPr>
            </p:pic>
            <p:pic>
              <p:nvPicPr>
                <p:cNvPr id="159" name="Google Shape;159;p4"/>
                <p:cNvPicPr preferRelativeResize="0"/>
                <p:nvPr/>
              </p:nvPicPr>
              <p:blipFill rotWithShape="1">
                <a:blip r:embed="rId8">
                  <a:alphaModFix/>
                </a:blip>
                <a:srcRect/>
                <a:stretch/>
              </p:blipFill>
              <p:spPr>
                <a:xfrm>
                  <a:off x="3292903" y="1890451"/>
                  <a:ext cx="1069621" cy="656847"/>
                </a:xfrm>
                <a:prstGeom prst="rect">
                  <a:avLst/>
                </a:prstGeom>
                <a:noFill/>
                <a:ln>
                  <a:noFill/>
                </a:ln>
              </p:spPr>
            </p:pic>
            <p:pic>
              <p:nvPicPr>
                <p:cNvPr id="160" name="Google Shape;160;p4"/>
                <p:cNvPicPr preferRelativeResize="0"/>
                <p:nvPr/>
              </p:nvPicPr>
              <p:blipFill rotWithShape="1">
                <a:blip r:embed="rId9">
                  <a:alphaModFix/>
                </a:blip>
                <a:srcRect/>
                <a:stretch/>
              </p:blipFill>
              <p:spPr>
                <a:xfrm>
                  <a:off x="4912227" y="2074376"/>
                  <a:ext cx="1840146" cy="288997"/>
                </a:xfrm>
                <a:prstGeom prst="rect">
                  <a:avLst/>
                </a:prstGeom>
                <a:noFill/>
                <a:ln>
                  <a:noFill/>
                </a:ln>
              </p:spPr>
            </p:pic>
            <p:pic>
              <p:nvPicPr>
                <p:cNvPr id="161" name="Google Shape;161;p4" descr="A close up of a logo&#10;&#10;Description automatically generated"/>
                <p:cNvPicPr preferRelativeResize="0"/>
                <p:nvPr/>
              </p:nvPicPr>
              <p:blipFill rotWithShape="1">
                <a:blip r:embed="rId10">
                  <a:alphaModFix/>
                </a:blip>
                <a:srcRect/>
                <a:stretch/>
              </p:blipFill>
              <p:spPr>
                <a:xfrm>
                  <a:off x="940321" y="2059714"/>
                  <a:ext cx="1802879" cy="318321"/>
                </a:xfrm>
                <a:prstGeom prst="rect">
                  <a:avLst/>
                </a:prstGeom>
                <a:noFill/>
                <a:ln>
                  <a:noFill/>
                </a:ln>
              </p:spPr>
            </p:pic>
          </p:grpSp>
        </p:grpSp>
        <p:pic>
          <p:nvPicPr>
            <p:cNvPr id="162" name="Google Shape;162;p4"/>
            <p:cNvPicPr preferRelativeResize="0"/>
            <p:nvPr/>
          </p:nvPicPr>
          <p:blipFill rotWithShape="1">
            <a:blip r:embed="rId11">
              <a:alphaModFix/>
            </a:blip>
            <a:srcRect/>
            <a:stretch/>
          </p:blipFill>
          <p:spPr>
            <a:xfrm>
              <a:off x="4799014" y="2672356"/>
              <a:ext cx="1069622" cy="801398"/>
            </a:xfrm>
            <a:prstGeom prst="rect">
              <a:avLst/>
            </a:prstGeom>
            <a:noFill/>
            <a:ln>
              <a:noFill/>
            </a:ln>
          </p:spPr>
        </p:pic>
        <p:pic>
          <p:nvPicPr>
            <p:cNvPr id="163" name="Google Shape;163;p4"/>
            <p:cNvPicPr preferRelativeResize="0"/>
            <p:nvPr/>
          </p:nvPicPr>
          <p:blipFill rotWithShape="1">
            <a:blip r:embed="rId12">
              <a:alphaModFix/>
            </a:blip>
            <a:srcRect/>
            <a:stretch/>
          </p:blipFill>
          <p:spPr>
            <a:xfrm>
              <a:off x="7140563" y="1864463"/>
              <a:ext cx="821490" cy="834669"/>
            </a:xfrm>
            <a:prstGeom prst="rect">
              <a:avLst/>
            </a:prstGeom>
            <a:noFill/>
            <a:ln>
              <a:noFill/>
            </a:ln>
          </p:spPr>
        </p:pic>
        <p:pic>
          <p:nvPicPr>
            <p:cNvPr id="164" name="Google Shape;164;p4"/>
            <p:cNvPicPr preferRelativeResize="0"/>
            <p:nvPr/>
          </p:nvPicPr>
          <p:blipFill rotWithShape="1">
            <a:blip r:embed="rId13">
              <a:alphaModFix/>
            </a:blip>
            <a:srcRect/>
            <a:stretch/>
          </p:blipFill>
          <p:spPr>
            <a:xfrm>
              <a:off x="3996783" y="3662725"/>
              <a:ext cx="1457215" cy="526980"/>
            </a:xfrm>
            <a:prstGeom prst="rect">
              <a:avLst/>
            </a:prstGeom>
            <a:noFill/>
            <a:ln>
              <a:noFill/>
            </a:ln>
          </p:spPr>
        </p:pic>
        <p:pic>
          <p:nvPicPr>
            <p:cNvPr id="165" name="Google Shape;165;p4"/>
            <p:cNvPicPr preferRelativeResize="0"/>
            <p:nvPr/>
          </p:nvPicPr>
          <p:blipFill rotWithShape="1">
            <a:blip r:embed="rId14">
              <a:alphaModFix/>
            </a:blip>
            <a:srcRect/>
            <a:stretch/>
          </p:blipFill>
          <p:spPr>
            <a:xfrm>
              <a:off x="6017768" y="2707389"/>
              <a:ext cx="2130404" cy="89950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The Valkey project is thriving</a:t>
            </a:r>
            <a:endParaRPr dirty="0"/>
          </a:p>
        </p:txBody>
      </p:sp>
      <p:sp>
        <p:nvSpPr>
          <p:cNvPr id="172" name="Google Shape;172;p5"/>
          <p:cNvSpPr txBox="1"/>
          <p:nvPr/>
        </p:nvSpPr>
        <p:spPr>
          <a:xfrm>
            <a:off x="1020027" y="1979177"/>
            <a:ext cx="10241945" cy="3318857"/>
          </a:xfrm>
          <a:prstGeom prst="rect">
            <a:avLst/>
          </a:prstGeom>
          <a:noFill/>
          <a:ln>
            <a:noFill/>
          </a:ln>
        </p:spPr>
        <p:txBody>
          <a:bodyPr spcFirstLastPara="1" wrap="square" lIns="91425" tIns="45700" rIns="91425" bIns="45700" anchor="t" anchorCtr="0">
            <a:spAutoFit/>
          </a:bodyPr>
          <a:lstStyle/>
          <a:p>
            <a:pPr marL="457200" marR="0" lvl="0" indent="-350520" algn="l" rtl="0">
              <a:lnSpc>
                <a:spcPct val="100000"/>
              </a:lnSpc>
              <a:spcBef>
                <a:spcPts val="0"/>
              </a:spcBef>
              <a:spcAft>
                <a:spcPts val="0"/>
              </a:spcAft>
              <a:buClr>
                <a:schemeClr val="accent1"/>
              </a:buClr>
              <a:buSzPts val="1920"/>
              <a:buFont typeface="Play"/>
              <a:buChar char="►"/>
            </a:pPr>
            <a:r>
              <a:rPr sz="2800" b="1" dirty="0">
                <a:solidFill>
                  <a:schemeClr val="accent1"/>
                </a:solidFill>
              </a:rPr>
              <a:t>50+ </a:t>
            </a:r>
            <a:r>
              <a:rPr sz="2800" b="0" dirty="0">
                <a:solidFill>
                  <a:schemeClr val="dk1"/>
                </a:solidFill>
              </a:rPr>
              <a:t>corporate supporters of the project</a:t>
            </a:r>
            <a:endParaRPr dirty="0"/>
          </a:p>
          <a:p>
            <a:pPr marL="457200" marR="0" lvl="0" indent="-350520" algn="l" rtl="0">
              <a:lnSpc>
                <a:spcPct val="100000"/>
              </a:lnSpc>
              <a:spcBef>
                <a:spcPts val="1000"/>
              </a:spcBef>
              <a:spcAft>
                <a:spcPts val="0"/>
              </a:spcAft>
              <a:buClr>
                <a:schemeClr val="accent1"/>
              </a:buClr>
              <a:buSzPts val="1920"/>
              <a:buFont typeface="Play"/>
              <a:buChar char="►"/>
            </a:pPr>
            <a:r>
              <a:rPr sz="2800" b="1" dirty="0">
                <a:solidFill>
                  <a:schemeClr val="accent1"/>
                </a:solidFill>
              </a:rPr>
              <a:t>225+ </a:t>
            </a:r>
            <a:r>
              <a:rPr sz="2800" b="0" dirty="0">
                <a:solidFill>
                  <a:schemeClr val="dk1"/>
                </a:solidFill>
              </a:rPr>
              <a:t>code contributors to Valkey engine</a:t>
            </a:r>
            <a:endParaRPr dirty="0"/>
          </a:p>
          <a:p>
            <a:pPr marL="457200" marR="0" lvl="0" indent="-350520" algn="l" rtl="0">
              <a:lnSpc>
                <a:spcPct val="100000"/>
              </a:lnSpc>
              <a:spcBef>
                <a:spcPts val="1000"/>
              </a:spcBef>
              <a:spcAft>
                <a:spcPts val="0"/>
              </a:spcAft>
              <a:buClr>
                <a:schemeClr val="accent1"/>
              </a:buClr>
              <a:buSzPts val="1920"/>
              <a:buFont typeface="Play"/>
              <a:buChar char="►"/>
            </a:pPr>
            <a:r>
              <a:rPr sz="2800" b="1" dirty="0">
                <a:solidFill>
                  <a:schemeClr val="accent1"/>
                </a:solidFill>
              </a:rPr>
              <a:t>60+ </a:t>
            </a:r>
            <a:r>
              <a:rPr sz="2800" b="0" dirty="0">
                <a:solidFill>
                  <a:schemeClr val="dk1"/>
                </a:solidFill>
              </a:rPr>
              <a:t>code contributors to clients and supporting libraries</a:t>
            </a:r>
            <a:endParaRPr dirty="0"/>
          </a:p>
          <a:p>
            <a:pPr marL="457200" marR="0" lvl="0" indent="-350520" algn="l" rtl="0">
              <a:lnSpc>
                <a:spcPct val="100000"/>
              </a:lnSpc>
              <a:spcBef>
                <a:spcPts val="1000"/>
              </a:spcBef>
              <a:spcAft>
                <a:spcPts val="0"/>
              </a:spcAft>
              <a:buClr>
                <a:schemeClr val="accent1"/>
              </a:buClr>
              <a:buSzPts val="1920"/>
              <a:buFont typeface="Play"/>
              <a:buChar char="►"/>
            </a:pPr>
            <a:r>
              <a:rPr sz="2800" b="1" dirty="0">
                <a:solidFill>
                  <a:schemeClr val="accent1"/>
                </a:solidFill>
              </a:rPr>
              <a:t>1500+ </a:t>
            </a:r>
            <a:r>
              <a:rPr sz="2800" b="0" dirty="0">
                <a:solidFill>
                  <a:schemeClr val="dk1"/>
                </a:solidFill>
              </a:rPr>
              <a:t>pull requests across all projects since launch</a:t>
            </a:r>
            <a:endParaRPr dirty="0"/>
          </a:p>
          <a:p>
            <a:pPr marL="457200" marR="0" lvl="0" indent="-350520" algn="l" rtl="0">
              <a:lnSpc>
                <a:spcPct val="100000"/>
              </a:lnSpc>
              <a:spcBef>
                <a:spcPts val="1000"/>
              </a:spcBef>
              <a:spcAft>
                <a:spcPts val="0"/>
              </a:spcAft>
              <a:buClr>
                <a:schemeClr val="accent1"/>
              </a:buClr>
              <a:buSzPts val="1920"/>
              <a:buFont typeface="Play"/>
              <a:buChar char="►"/>
            </a:pPr>
            <a:r>
              <a:rPr sz="2800" b="1" dirty="0">
                <a:solidFill>
                  <a:schemeClr val="accent1"/>
                </a:solidFill>
              </a:rPr>
              <a:t>100M+ </a:t>
            </a:r>
            <a:r>
              <a:rPr sz="2800" b="0" dirty="0">
                <a:solidFill>
                  <a:schemeClr val="dk1"/>
                </a:solidFill>
              </a:rPr>
              <a:t>container pulls</a:t>
            </a:r>
            <a:endParaRPr dirty="0"/>
          </a:p>
          <a:p>
            <a:pPr marL="457200" marR="0" lvl="0" indent="-350520" algn="l" rtl="0">
              <a:lnSpc>
                <a:spcPct val="100000"/>
              </a:lnSpc>
              <a:spcBef>
                <a:spcPts val="1000"/>
              </a:spcBef>
              <a:spcAft>
                <a:spcPts val="0"/>
              </a:spcAft>
              <a:buClr>
                <a:schemeClr val="accent1"/>
              </a:buClr>
              <a:buSzPts val="1920"/>
              <a:buFont typeface="Play"/>
              <a:buChar char="►"/>
            </a:pPr>
            <a:r>
              <a:rPr sz="2800" b="1" dirty="0">
                <a:solidFill>
                  <a:schemeClr val="accent1"/>
                </a:solidFill>
              </a:rPr>
              <a:t>10+ </a:t>
            </a:r>
            <a:r>
              <a:rPr sz="2800" b="0" dirty="0">
                <a:solidFill>
                  <a:schemeClr val="dk1"/>
                </a:solidFill>
              </a:rPr>
              <a:t>managed Valkey providers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6"/>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Latest developments in Valkey OSS</a:t>
            </a:r>
            <a:endParaRPr dirty="0"/>
          </a:p>
        </p:txBody>
      </p:sp>
      <p:grpSp>
        <p:nvGrpSpPr>
          <p:cNvPr id="179" name="Google Shape;179;p6"/>
          <p:cNvGrpSpPr/>
          <p:nvPr/>
        </p:nvGrpSpPr>
        <p:grpSpPr>
          <a:xfrm>
            <a:off x="624141" y="1398625"/>
            <a:ext cx="10641743" cy="4435020"/>
            <a:chOff x="-301975" y="0"/>
            <a:chExt cx="10641743" cy="4435020"/>
          </a:xfrm>
        </p:grpSpPr>
        <p:sp>
          <p:nvSpPr>
            <p:cNvPr id="180" name="Google Shape;180;p6"/>
            <p:cNvSpPr/>
            <p:nvPr/>
          </p:nvSpPr>
          <p:spPr>
            <a:xfrm>
              <a:off x="0" y="1330506"/>
              <a:ext cx="10339768" cy="1774008"/>
            </a:xfrm>
            <a:prstGeom prst="notchedRightArrow">
              <a:avLst>
                <a:gd name="adj1" fmla="val 50000"/>
                <a:gd name="adj2" fmla="val 50000"/>
              </a:avLst>
            </a:prstGeom>
            <a:solidFill>
              <a:schemeClr val="accent5"/>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1" name="Google Shape;181;p6"/>
            <p:cNvSpPr/>
            <p:nvPr/>
          </p:nvSpPr>
          <p:spPr>
            <a:xfrm>
              <a:off x="4543" y="0"/>
              <a:ext cx="2998936" cy="1774008"/>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2" name="Google Shape;182;p6"/>
            <p:cNvSpPr txBox="1"/>
            <p:nvPr/>
          </p:nvSpPr>
          <p:spPr>
            <a:xfrm>
              <a:off x="-301975" y="19033"/>
              <a:ext cx="3786307" cy="1774008"/>
            </a:xfrm>
            <a:prstGeom prst="rect">
              <a:avLst/>
            </a:prstGeom>
            <a:noFill/>
            <a:ln>
              <a:noFill/>
            </a:ln>
          </p:spPr>
          <p:txBody>
            <a:bodyPr spcFirstLastPara="1" wrap="square" lIns="227575" tIns="227575" rIns="227575" bIns="227575" anchor="b" anchorCtr="0">
              <a:noAutofit/>
            </a:bodyPr>
            <a:lstStyle/>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dirty="0">
                  <a:solidFill>
                    <a:schemeClr val="dk2"/>
                  </a:solidFill>
                  <a:latin typeface="Century Gothic"/>
                  <a:ea typeface="Century Gothic"/>
                  <a:cs typeface="Century Gothic"/>
                  <a:sym typeface="Century Gothic"/>
                </a:rPr>
                <a:t>September 16</a:t>
              </a:r>
              <a:endParaRPr dirty="0"/>
            </a:p>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dirty="0">
                  <a:solidFill>
                    <a:schemeClr val="dk2"/>
                  </a:solidFill>
                  <a:latin typeface="Century Gothic"/>
                  <a:ea typeface="Century Gothic"/>
                  <a:cs typeface="Century Gothic"/>
                  <a:sym typeface="Century Gothic"/>
                </a:rPr>
                <a:t>2024</a:t>
              </a:r>
              <a:endParaRPr sz="3200" b="0" i="0" u="none" strike="noStrike" cap="none" dirty="0">
                <a:solidFill>
                  <a:schemeClr val="dk2"/>
                </a:solidFill>
                <a:latin typeface="Play"/>
                <a:ea typeface="Play"/>
                <a:cs typeface="Play"/>
                <a:sym typeface="Play"/>
              </a:endParaRPr>
            </a:p>
          </p:txBody>
        </p:sp>
        <p:sp>
          <p:nvSpPr>
            <p:cNvPr id="183" name="Google Shape;183;p6"/>
            <p:cNvSpPr/>
            <p:nvPr/>
          </p:nvSpPr>
          <p:spPr>
            <a:xfrm>
              <a:off x="0" y="3689480"/>
              <a:ext cx="821946" cy="745540"/>
            </a:xfrm>
            <a:prstGeom prst="ellipse">
              <a:avLst/>
            </a:prstGeom>
            <a:solidFill>
              <a:schemeClr val="lt1"/>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4" name="Google Shape;184;p6"/>
            <p:cNvSpPr/>
            <p:nvPr/>
          </p:nvSpPr>
          <p:spPr>
            <a:xfrm>
              <a:off x="3153427" y="2661012"/>
              <a:ext cx="2998936" cy="1774008"/>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5" name="Google Shape;185;p6"/>
            <p:cNvSpPr txBox="1"/>
            <p:nvPr/>
          </p:nvSpPr>
          <p:spPr>
            <a:xfrm>
              <a:off x="3153427" y="2661012"/>
              <a:ext cx="2998936" cy="1774008"/>
            </a:xfrm>
            <a:prstGeom prst="rect">
              <a:avLst/>
            </a:prstGeom>
            <a:noFill/>
            <a:ln>
              <a:noFill/>
            </a:ln>
          </p:spPr>
          <p:txBody>
            <a:bodyPr spcFirstLastPara="1" wrap="square" lIns="227575" tIns="227575" rIns="227575" bIns="227575" anchor="t" anchorCtr="0">
              <a:noAutofit/>
            </a:bodyPr>
            <a:lstStyle/>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dirty="0">
                  <a:solidFill>
                    <a:schemeClr val="dk2"/>
                  </a:solidFill>
                  <a:latin typeface="Century Gothic"/>
                  <a:ea typeface="Century Gothic"/>
                  <a:cs typeface="Century Gothic"/>
                  <a:sym typeface="Century Gothic"/>
                </a:rPr>
                <a:t>April 2</a:t>
              </a:r>
              <a:endParaRPr dirty="0"/>
            </a:p>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dirty="0">
                  <a:solidFill>
                    <a:schemeClr val="dk2"/>
                  </a:solidFill>
                  <a:latin typeface="Century Gothic"/>
                  <a:ea typeface="Century Gothic"/>
                  <a:cs typeface="Century Gothic"/>
                  <a:sym typeface="Century Gothic"/>
                </a:rPr>
                <a:t>2025</a:t>
              </a:r>
              <a:endParaRPr sz="1800" b="0" i="0" u="none" strike="noStrike" cap="none" dirty="0">
                <a:solidFill>
                  <a:schemeClr val="dk2"/>
                </a:solidFill>
                <a:latin typeface="Play"/>
                <a:ea typeface="Play"/>
                <a:cs typeface="Play"/>
                <a:sym typeface="Play"/>
              </a:endParaRPr>
            </a:p>
          </p:txBody>
        </p:sp>
        <p:sp>
          <p:nvSpPr>
            <p:cNvPr id="186" name="Google Shape;186;p6"/>
            <p:cNvSpPr/>
            <p:nvPr/>
          </p:nvSpPr>
          <p:spPr>
            <a:xfrm>
              <a:off x="6587247" y="3797770"/>
              <a:ext cx="443502" cy="443502"/>
            </a:xfrm>
            <a:prstGeom prst="ellipse">
              <a:avLst/>
            </a:prstGeom>
            <a:solidFill>
              <a:schemeClr val="lt1"/>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7" name="Google Shape;187;p6"/>
            <p:cNvSpPr/>
            <p:nvPr/>
          </p:nvSpPr>
          <p:spPr>
            <a:xfrm>
              <a:off x="6302310" y="0"/>
              <a:ext cx="2998936" cy="1774008"/>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sp>
          <p:nvSpPr>
            <p:cNvPr id="188" name="Google Shape;188;p6"/>
            <p:cNvSpPr txBox="1"/>
            <p:nvPr/>
          </p:nvSpPr>
          <p:spPr>
            <a:xfrm>
              <a:off x="6142006" y="111950"/>
              <a:ext cx="3291528" cy="1774008"/>
            </a:xfrm>
            <a:prstGeom prst="rect">
              <a:avLst/>
            </a:prstGeom>
            <a:noFill/>
            <a:ln>
              <a:noFill/>
            </a:ln>
          </p:spPr>
          <p:txBody>
            <a:bodyPr spcFirstLastPara="1" wrap="square" lIns="227575" tIns="227575" rIns="227575" bIns="227575" anchor="b" anchorCtr="0">
              <a:noAutofit/>
            </a:bodyPr>
            <a:lstStyle/>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a:solidFill>
                    <a:schemeClr val="dk2"/>
                  </a:solidFill>
                  <a:latin typeface="Century Gothic"/>
                  <a:ea typeface="Century Gothic"/>
                  <a:cs typeface="Century Gothic"/>
                  <a:sym typeface="Century Gothic"/>
                </a:rPr>
                <a:t>October 21</a:t>
              </a:r>
              <a:endParaRPr/>
            </a:p>
            <a:p>
              <a:pPr marL="0" marR="0" lvl="0" indent="0" algn="ctr" rtl="0">
                <a:lnSpc>
                  <a:spcPct val="90000"/>
                </a:lnSpc>
                <a:spcBef>
                  <a:spcPts val="0"/>
                </a:spcBef>
                <a:spcAft>
                  <a:spcPts val="0"/>
                </a:spcAft>
                <a:buClr>
                  <a:schemeClr val="accent1"/>
                </a:buClr>
                <a:buSzPts val="3200"/>
                <a:buFont typeface="Century Gothic"/>
                <a:buNone/>
              </a:pPr>
              <a:r>
                <a:rPr lang="en-US" sz="3200" b="1" i="0" u="none" strike="noStrike" cap="none">
                  <a:solidFill>
                    <a:schemeClr val="dk2"/>
                  </a:solidFill>
                  <a:latin typeface="Century Gothic"/>
                  <a:ea typeface="Century Gothic"/>
                  <a:cs typeface="Century Gothic"/>
                  <a:sym typeface="Century Gothic"/>
                </a:rPr>
                <a:t>2025</a:t>
              </a:r>
              <a:endParaRPr sz="1800" b="0" i="0" u="none" strike="noStrike" cap="none">
                <a:solidFill>
                  <a:schemeClr val="dk2"/>
                </a:solidFill>
                <a:latin typeface="Play"/>
                <a:ea typeface="Play"/>
                <a:cs typeface="Play"/>
                <a:sym typeface="Play"/>
              </a:endParaRPr>
            </a:p>
          </p:txBody>
        </p:sp>
        <p:sp>
          <p:nvSpPr>
            <p:cNvPr id="189" name="Google Shape;189;p6"/>
            <p:cNvSpPr/>
            <p:nvPr/>
          </p:nvSpPr>
          <p:spPr>
            <a:xfrm>
              <a:off x="9348732" y="3797770"/>
              <a:ext cx="443502" cy="443502"/>
            </a:xfrm>
            <a:prstGeom prst="ellipse">
              <a:avLst/>
            </a:prstGeom>
            <a:solidFill>
              <a:schemeClr val="lt1"/>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Play"/>
                <a:buNone/>
              </a:pPr>
              <a:endParaRPr sz="1800" b="0" i="0" u="none" strike="noStrike" cap="none">
                <a:solidFill>
                  <a:schemeClr val="accent1"/>
                </a:solidFill>
                <a:latin typeface="Play"/>
                <a:ea typeface="Play"/>
                <a:cs typeface="Play"/>
                <a:sym typeface="Play"/>
              </a:endParaRPr>
            </a:p>
          </p:txBody>
        </p:sp>
      </p:grpSp>
      <p:sp>
        <p:nvSpPr>
          <p:cNvPr id="190" name="Google Shape;190;p6"/>
          <p:cNvSpPr txBox="1"/>
          <p:nvPr/>
        </p:nvSpPr>
        <p:spPr>
          <a:xfrm>
            <a:off x="789812" y="3287939"/>
            <a:ext cx="3454967" cy="707846"/>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000"/>
              <a:buFont typeface="Century Gothic"/>
              <a:buNone/>
            </a:pPr>
            <a:r>
              <a:rPr lang="en-US" sz="2000" b="0" i="0" u="none" strike="noStrike" cap="none" dirty="0">
                <a:solidFill>
                  <a:schemeClr val="dk1"/>
                </a:solidFill>
                <a:latin typeface="Century Gothic"/>
                <a:ea typeface="Century Gothic"/>
                <a:cs typeface="Century Gothic"/>
                <a:sym typeface="Century Gothic"/>
              </a:rPr>
              <a:t>Valkey 8.0</a:t>
            </a:r>
            <a:endParaRPr sz="2000" b="0" i="0" u="none" strike="noStrike" cap="none" dirty="0">
              <a:solidFill>
                <a:schemeClr val="lt1"/>
              </a:solidFill>
              <a:latin typeface="Play"/>
              <a:ea typeface="Play"/>
              <a:cs typeface="Play"/>
              <a:sym typeface="Play"/>
            </a:endParaRPr>
          </a:p>
          <a:p>
            <a:pPr marL="0" marR="0" lvl="0" indent="0" algn="ctr" rtl="0">
              <a:spcBef>
                <a:spcPts val="0"/>
              </a:spcBef>
              <a:spcAft>
                <a:spcPts val="0"/>
              </a:spcAft>
              <a:buClr>
                <a:schemeClr val="dk1"/>
              </a:buClr>
              <a:buSzPts val="2000"/>
              <a:buFont typeface="Century Gothic"/>
              <a:buNone/>
            </a:pPr>
            <a:r>
              <a:rPr lang="en-US" sz="2000" b="0" i="0" u="none" strike="noStrike" cap="none" dirty="0">
                <a:solidFill>
                  <a:schemeClr val="dk1"/>
                </a:solidFill>
                <a:latin typeface="Century Gothic"/>
                <a:ea typeface="Century Gothic"/>
                <a:cs typeface="Century Gothic"/>
                <a:sym typeface="Century Gothic"/>
              </a:rPr>
              <a:t>Release</a:t>
            </a:r>
            <a:endParaRPr sz="2000" b="0" i="0" u="none" strike="noStrike" cap="none" dirty="0">
              <a:solidFill>
                <a:schemeClr val="lt1"/>
              </a:solidFill>
              <a:latin typeface="Play"/>
              <a:ea typeface="Play"/>
              <a:cs typeface="Play"/>
              <a:sym typeface="Play"/>
            </a:endParaRPr>
          </a:p>
        </p:txBody>
      </p:sp>
      <p:sp>
        <p:nvSpPr>
          <p:cNvPr id="191" name="Google Shape;191;p6"/>
          <p:cNvSpPr txBox="1"/>
          <p:nvPr/>
        </p:nvSpPr>
        <p:spPr>
          <a:xfrm>
            <a:off x="6904683" y="3262193"/>
            <a:ext cx="3454967" cy="707846"/>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000"/>
              <a:buFont typeface="Century Gothic"/>
              <a:buNone/>
            </a:pPr>
            <a:r>
              <a:rPr lang="en-US" sz="2000" b="0" i="0" u="none" strike="noStrike" cap="none">
                <a:solidFill>
                  <a:schemeClr val="dk1"/>
                </a:solidFill>
                <a:latin typeface="Century Gothic"/>
                <a:ea typeface="Century Gothic"/>
                <a:cs typeface="Century Gothic"/>
                <a:sym typeface="Century Gothic"/>
              </a:rPr>
              <a:t>Valkey 9.0</a:t>
            </a:r>
            <a:endParaRPr/>
          </a:p>
          <a:p>
            <a:pPr marL="0" marR="0" lvl="0" indent="0" algn="ctr" rtl="0">
              <a:spcBef>
                <a:spcPts val="0"/>
              </a:spcBef>
              <a:spcAft>
                <a:spcPts val="0"/>
              </a:spcAft>
              <a:buClr>
                <a:schemeClr val="dk1"/>
              </a:buClr>
              <a:buSzPts val="2000"/>
              <a:buFont typeface="Century Gothic"/>
              <a:buNone/>
            </a:pPr>
            <a:r>
              <a:rPr lang="en-US" sz="2000" b="0" i="0" u="none" strike="noStrike" cap="none">
                <a:solidFill>
                  <a:schemeClr val="dk1"/>
                </a:solidFill>
                <a:latin typeface="Century Gothic"/>
                <a:ea typeface="Century Gothic"/>
                <a:cs typeface="Century Gothic"/>
                <a:sym typeface="Century Gothic"/>
              </a:rPr>
              <a:t>Release</a:t>
            </a:r>
            <a:endParaRPr sz="1800" b="0" i="0" u="none" strike="noStrike" cap="none">
              <a:solidFill>
                <a:schemeClr val="lt1"/>
              </a:solidFill>
              <a:latin typeface="Play"/>
              <a:ea typeface="Play"/>
              <a:cs typeface="Play"/>
              <a:sym typeface="Play"/>
            </a:endParaRPr>
          </a:p>
        </p:txBody>
      </p:sp>
      <p:sp>
        <p:nvSpPr>
          <p:cNvPr id="192" name="Google Shape;192;p6"/>
          <p:cNvSpPr txBox="1"/>
          <p:nvPr/>
        </p:nvSpPr>
        <p:spPr>
          <a:xfrm>
            <a:off x="3851527" y="3306972"/>
            <a:ext cx="3454967" cy="707886"/>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000"/>
              <a:buFont typeface="Century Gothic"/>
              <a:buNone/>
            </a:pPr>
            <a:r>
              <a:rPr lang="en-US" sz="2000" b="0" i="0" u="none" strike="noStrike" cap="none">
                <a:solidFill>
                  <a:schemeClr val="dk1"/>
                </a:solidFill>
                <a:latin typeface="Century Gothic"/>
                <a:ea typeface="Century Gothic"/>
                <a:cs typeface="Century Gothic"/>
                <a:sym typeface="Century Gothic"/>
              </a:rPr>
              <a:t>Valkey 8.1</a:t>
            </a:r>
            <a:endParaRPr sz="1800" b="0" i="0" u="none" strike="noStrike" cap="none">
              <a:solidFill>
                <a:schemeClr val="lt1"/>
              </a:solidFill>
              <a:latin typeface="Play"/>
              <a:ea typeface="Play"/>
              <a:cs typeface="Play"/>
              <a:sym typeface="Play"/>
            </a:endParaRPr>
          </a:p>
          <a:p>
            <a:pPr marL="0" marR="0" lvl="0" indent="0" algn="ctr" rtl="0">
              <a:spcBef>
                <a:spcPts val="0"/>
              </a:spcBef>
              <a:spcAft>
                <a:spcPts val="0"/>
              </a:spcAft>
              <a:buClr>
                <a:schemeClr val="dk1"/>
              </a:buClr>
              <a:buSzPts val="2000"/>
              <a:buFont typeface="Century Gothic"/>
              <a:buNone/>
            </a:pPr>
            <a:r>
              <a:rPr lang="en-US" sz="2000" b="0" i="0" u="none" strike="noStrike" cap="none">
                <a:solidFill>
                  <a:schemeClr val="dk1"/>
                </a:solidFill>
                <a:latin typeface="Century Gothic"/>
                <a:ea typeface="Century Gothic"/>
                <a:cs typeface="Century Gothic"/>
                <a:sym typeface="Century Gothic"/>
              </a:rPr>
              <a:t>Release</a:t>
            </a:r>
            <a:endParaRPr sz="1800" b="0" i="0" u="none" strike="noStrike" cap="none">
              <a:solidFill>
                <a:schemeClr val="lt1"/>
              </a:solidFill>
              <a:latin typeface="Play"/>
              <a:ea typeface="Play"/>
              <a:cs typeface="Play"/>
              <a:sym typeface="Pla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Valkey 7.2 (April 2024)</a:t>
            </a:r>
          </a:p>
        </p:txBody>
      </p:sp>
      <p:sp>
        <p:nvSpPr>
          <p:cNvPr id="3" name="Text Placeholder 2"/>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First stable Valkey release, forked from Redis 7.2</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100%</a:t>
            </a:r>
            <a:r>
              <a:rPr sz="2400" b="0" dirty="0">
                <a:solidFill>
                  <a:schemeClr val="dk1"/>
                </a:solidFill>
                <a:latin typeface="Arial" panose="020B0604020202020204" pitchFamily="34" charset="0"/>
                <a:cs typeface="Arial" panose="020B0604020202020204" pitchFamily="34" charset="0"/>
              </a:rPr>
              <a:t> API compatible with Redis OSS 7.2</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Community governance under the Linux Foundation</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ACL improvements and security hardening</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Foundation for all future Valkey development</a:t>
            </a:r>
          </a:p>
        </p:txBody>
      </p:sp>
      <p:sp>
        <p:nvSpPr>
          <p:cNvPr id="4" name="TextBox 3"/>
          <p:cNvSpPr txBox="1"/>
          <p:nvPr/>
        </p:nvSpPr>
        <p:spPr>
          <a:xfrm>
            <a:off x="609600" y="5943597"/>
            <a:ext cx="11062800" cy="300000"/>
          </a:xfrm>
          <a:prstGeom prst="rect">
            <a:avLst/>
          </a:prstGeom>
          <a:noFill/>
        </p:spPr>
        <p:txBody>
          <a:bodyPr wrap="none">
            <a:spAutoFit/>
          </a:bodyPr>
          <a:lstStyle/>
          <a:p>
            <a:r>
              <a:rPr sz="1000" i="1">
                <a:solidFill>
                  <a:schemeClr val="dk1"/>
                </a:solidFill>
              </a:rPr>
              <a:t>Source: valkey.io/blog/valkey-7-2-5-out/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Valkey 8.0 (September 2024)</a:t>
            </a:r>
          </a:p>
        </p:txBody>
      </p:sp>
      <p:sp>
        <p:nvSpPr>
          <p:cNvPr id="3" name="Text Placeholder 2"/>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3x</a:t>
            </a:r>
            <a:r>
              <a:rPr sz="2400" b="0" dirty="0">
                <a:solidFill>
                  <a:schemeClr val="dk1"/>
                </a:solidFill>
                <a:latin typeface="Arial" panose="020B0604020202020204" pitchFamily="34" charset="0"/>
                <a:cs typeface="Arial" panose="020B0604020202020204" pitchFamily="34" charset="0"/>
              </a:rPr>
              <a:t> throughput with multi-threaded I/O</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25%+</a:t>
            </a:r>
            <a:r>
              <a:rPr sz="2400" b="0" dirty="0">
                <a:solidFill>
                  <a:schemeClr val="dk1"/>
                </a:solidFill>
                <a:latin typeface="Arial" panose="020B0604020202020204" pitchFamily="34" charset="0"/>
                <a:cs typeface="Arial" panose="020B0604020202020204" pitchFamily="34" charset="0"/>
              </a:rPr>
              <a:t> memory reduction with embedded </a:t>
            </a:r>
            <a:r>
              <a:rPr sz="2400" b="0" dirty="0" err="1">
                <a:solidFill>
                  <a:schemeClr val="dk1"/>
                </a:solidFill>
                <a:latin typeface="Arial" panose="020B0604020202020204" pitchFamily="34" charset="0"/>
                <a:cs typeface="Arial" panose="020B0604020202020204" pitchFamily="34" charset="0"/>
              </a:rPr>
              <a:t>hashtable</a:t>
            </a:r>
            <a:r>
              <a:rPr sz="2400" b="0" dirty="0">
                <a:solidFill>
                  <a:schemeClr val="dk1"/>
                </a:solidFill>
                <a:latin typeface="Arial" panose="020B0604020202020204" pitchFamily="34" charset="0"/>
                <a:cs typeface="Arial" panose="020B0604020202020204" pitchFamily="34" charset="0"/>
              </a:rPr>
              <a:t> entries</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1M+</a:t>
            </a:r>
            <a:r>
              <a:rPr sz="2400" b="0" dirty="0">
                <a:solidFill>
                  <a:schemeClr val="dk1"/>
                </a:solidFill>
                <a:latin typeface="Arial" panose="020B0604020202020204" pitchFamily="34" charset="0"/>
                <a:cs typeface="Arial" panose="020B0604020202020204" pitchFamily="34" charset="0"/>
              </a:rPr>
              <a:t> RPS on a single node</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Dual-channel replication for faster failovers</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Improved cluster bus reliability</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Enhanced observability with per-slot metrics</a:t>
            </a:r>
          </a:p>
        </p:txBody>
      </p:sp>
      <p:sp>
        <p:nvSpPr>
          <p:cNvPr id="4" name="TextBox 3"/>
          <p:cNvSpPr txBox="1"/>
          <p:nvPr/>
        </p:nvSpPr>
        <p:spPr>
          <a:xfrm>
            <a:off x="609600" y="5943597"/>
            <a:ext cx="11062800" cy="300000"/>
          </a:xfrm>
          <a:prstGeom prst="rect">
            <a:avLst/>
          </a:prstGeom>
          <a:noFill/>
        </p:spPr>
        <p:txBody>
          <a:bodyPr wrap="none">
            <a:spAutoFit/>
          </a:bodyPr>
          <a:lstStyle/>
          <a:p>
            <a:r>
              <a:rPr sz="1000" i="1">
                <a:solidFill>
                  <a:schemeClr val="dk1"/>
                </a:solidFill>
              </a:rPr>
              <a:t>Source: valkey.io/blog/valkey-8-0-ga/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Valkey 8.1 (April 2025)</a:t>
            </a:r>
          </a:p>
        </p:txBody>
      </p:sp>
      <p:sp>
        <p:nvSpPr>
          <p:cNvPr id="3" name="Text Placeholder 2"/>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20%+</a:t>
            </a:r>
            <a:r>
              <a:rPr sz="2400" b="0" dirty="0">
                <a:solidFill>
                  <a:schemeClr val="dk1"/>
                </a:solidFill>
                <a:latin typeface="Arial" panose="020B0604020202020204" pitchFamily="34" charset="0"/>
                <a:cs typeface="Arial" panose="020B0604020202020204" pitchFamily="34" charset="0"/>
              </a:rPr>
              <a:t> memory reduction with new hash table</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300%+</a:t>
            </a:r>
            <a:r>
              <a:rPr sz="2400" b="0" dirty="0">
                <a:solidFill>
                  <a:schemeClr val="dk1"/>
                </a:solidFill>
                <a:latin typeface="Arial" panose="020B0604020202020204" pitchFamily="34" charset="0"/>
                <a:cs typeface="Arial" panose="020B0604020202020204" pitchFamily="34" charset="0"/>
              </a:rPr>
              <a:t> faster TLS via offloaded negotiations</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90%+</a:t>
            </a:r>
            <a:r>
              <a:rPr sz="2400" b="0" dirty="0">
                <a:solidFill>
                  <a:schemeClr val="dk1"/>
                </a:solidFill>
                <a:latin typeface="Arial" panose="020B0604020202020204" pitchFamily="34" charset="0"/>
                <a:cs typeface="Arial" panose="020B0604020202020204" pitchFamily="34" charset="0"/>
              </a:rPr>
              <a:t> P100 latency reduction with new defrag algorithm</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Improved full-sync with prefetching iterator</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Conditional updates built into SET command</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New latency monitor events</a:t>
            </a:r>
          </a:p>
        </p:txBody>
      </p:sp>
      <p:sp>
        <p:nvSpPr>
          <p:cNvPr id="4" name="TextBox 3"/>
          <p:cNvSpPr txBox="1"/>
          <p:nvPr/>
        </p:nvSpPr>
        <p:spPr>
          <a:xfrm>
            <a:off x="609600" y="5943597"/>
            <a:ext cx="11062800" cy="300000"/>
          </a:xfrm>
          <a:prstGeom prst="rect">
            <a:avLst/>
          </a:prstGeom>
          <a:noFill/>
        </p:spPr>
        <p:txBody>
          <a:bodyPr wrap="none">
            <a:spAutoFit/>
          </a:bodyPr>
          <a:lstStyle/>
          <a:p>
            <a:r>
              <a:rPr sz="1000" i="1">
                <a:solidFill>
                  <a:schemeClr val="dk1"/>
                </a:solidFill>
              </a:rPr>
              <a:t>Source: valkey.io/blog/valkey-8-1/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Valkey 9.0 (October 2025)</a:t>
            </a:r>
          </a:p>
        </p:txBody>
      </p:sp>
      <p:sp>
        <p:nvSpPr>
          <p:cNvPr id="3" name="Text Placeholder 2"/>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1B+</a:t>
            </a:r>
            <a:r>
              <a:rPr sz="2400" b="0" dirty="0">
                <a:solidFill>
                  <a:schemeClr val="dk1"/>
                </a:solidFill>
                <a:latin typeface="Arial" panose="020B0604020202020204" pitchFamily="34" charset="0"/>
                <a:cs typeface="Arial" panose="020B0604020202020204" pitchFamily="34" charset="0"/>
              </a:rPr>
              <a:t> requests/second with clusters up to 2,000 nodes</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40%+</a:t>
            </a:r>
            <a:r>
              <a:rPr sz="2400" b="0" dirty="0">
                <a:solidFill>
                  <a:schemeClr val="dk1"/>
                </a:solidFill>
                <a:latin typeface="Arial" panose="020B0604020202020204" pitchFamily="34" charset="0"/>
                <a:cs typeface="Arial" panose="020B0604020202020204" pitchFamily="34" charset="0"/>
              </a:rPr>
              <a:t> throughput gain via pipeline memory prefetching</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Atomic slot migration for zero-error resharding</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Hash field expiration with fine-grained TTLs</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Numbered databases in cluster mode</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Zero-copy responses, Multipath TCP, SIMD optimizations</a:t>
            </a:r>
          </a:p>
        </p:txBody>
      </p:sp>
      <p:sp>
        <p:nvSpPr>
          <p:cNvPr id="4" name="TextBox 3"/>
          <p:cNvSpPr txBox="1"/>
          <p:nvPr/>
        </p:nvSpPr>
        <p:spPr>
          <a:xfrm>
            <a:off x="609600" y="5943597"/>
            <a:ext cx="11062800" cy="300000"/>
          </a:xfrm>
          <a:prstGeom prst="rect">
            <a:avLst/>
          </a:prstGeom>
          <a:noFill/>
        </p:spPr>
        <p:txBody>
          <a:bodyPr wrap="none">
            <a:spAutoFit/>
          </a:bodyPr>
          <a:lstStyle/>
          <a:p>
            <a:r>
              <a:rPr sz="1000" i="1">
                <a:solidFill>
                  <a:schemeClr val="dk1"/>
                </a:solidFill>
              </a:rPr>
              <a:t>Source: valkey.io/blog/introducing-valkey-9/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Valkey 9.1 (May 2026)</a:t>
            </a:r>
          </a:p>
        </p:txBody>
      </p:sp>
      <p:sp>
        <p:nvSpPr>
          <p:cNvPr id="3" name="Text Placeholder 2"/>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2.1M+</a:t>
            </a:r>
            <a:r>
              <a:rPr sz="2400" b="0" dirty="0">
                <a:solidFill>
                  <a:schemeClr val="dk1"/>
                </a:solidFill>
                <a:latin typeface="Arial" panose="020B0604020202020204" pitchFamily="34" charset="0"/>
                <a:cs typeface="Arial" panose="020B0604020202020204" pitchFamily="34" charset="0"/>
              </a:rPr>
              <a:t> requests/second on a single server</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17%+</a:t>
            </a:r>
            <a:r>
              <a:rPr sz="2400" b="0" dirty="0">
                <a:solidFill>
                  <a:schemeClr val="dk1"/>
                </a:solidFill>
                <a:latin typeface="Arial" panose="020B0604020202020204" pitchFamily="34" charset="0"/>
                <a:cs typeface="Arial" panose="020B0604020202020204" pitchFamily="34" charset="0"/>
              </a:rPr>
              <a:t> throughput gain from IO threading redesign</a:t>
            </a:r>
          </a:p>
          <a:p>
            <a:pPr marL="457200" marR="0" lvl="0" indent="-350520" algn="l" rtl="0">
              <a:lnSpc>
                <a:spcPct val="100000"/>
              </a:lnSpc>
              <a:spcBef>
                <a:spcPts val="1000"/>
              </a:spcBef>
              <a:spcAft>
                <a:spcPts val="0"/>
              </a:spcAft>
              <a:buClr>
                <a:schemeClr val="accent1"/>
              </a:buClr>
              <a:buSzPts val="1920"/>
              <a:buFont typeface="Play"/>
              <a:buChar char="►"/>
            </a:pPr>
            <a:r>
              <a:rPr sz="2400" b="1" dirty="0">
                <a:solidFill>
                  <a:schemeClr val="accent1"/>
                </a:solidFill>
                <a:latin typeface="Arial" panose="020B0604020202020204" pitchFamily="34" charset="0"/>
                <a:cs typeface="Arial" panose="020B0604020202020204" pitchFamily="34" charset="0"/>
              </a:rPr>
              <a:t>20%+</a:t>
            </a:r>
            <a:r>
              <a:rPr sz="2400" b="0" dirty="0">
                <a:solidFill>
                  <a:schemeClr val="dk1"/>
                </a:solidFill>
                <a:latin typeface="Arial" panose="020B0604020202020204" pitchFamily="34" charset="0"/>
                <a:cs typeface="Arial" panose="020B0604020202020204" pitchFamily="34" charset="0"/>
              </a:rPr>
              <a:t> memory reduction for strings under 128 bytes</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Database-level access control (per-DB ACLs)</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Lua scripting moved to a module</a:t>
            </a:r>
          </a:p>
          <a:p>
            <a:pPr marL="457200" marR="0" lvl="0" indent="-350520" algn="l" rtl="0">
              <a:lnSpc>
                <a:spcPct val="100000"/>
              </a:lnSpc>
              <a:spcBef>
                <a:spcPts val="1000"/>
              </a:spcBef>
              <a:spcAft>
                <a:spcPts val="0"/>
              </a:spcAft>
              <a:buClr>
                <a:schemeClr val="accent1"/>
              </a:buClr>
              <a:buSzPts val="1920"/>
              <a:buFont typeface="Play"/>
              <a:buChar char="►"/>
            </a:pPr>
            <a:r>
              <a:rPr sz="2400" b="0" dirty="0">
                <a:solidFill>
                  <a:schemeClr val="dk1"/>
                </a:solidFill>
                <a:latin typeface="Arial" panose="020B0604020202020204" pitchFamily="34" charset="0"/>
                <a:cs typeface="Arial" panose="020B0604020202020204" pitchFamily="34" charset="0"/>
              </a:rPr>
              <a:t>New commands: HGETDEL, MSETEX, CLUSTERSCAN</a:t>
            </a:r>
          </a:p>
        </p:txBody>
      </p:sp>
      <p:sp>
        <p:nvSpPr>
          <p:cNvPr id="4" name="TextBox 3"/>
          <p:cNvSpPr txBox="1"/>
          <p:nvPr/>
        </p:nvSpPr>
        <p:spPr>
          <a:xfrm>
            <a:off x="609600" y="5943597"/>
            <a:ext cx="11062800" cy="300000"/>
          </a:xfrm>
          <a:prstGeom prst="rect">
            <a:avLst/>
          </a:prstGeom>
          <a:noFill/>
        </p:spPr>
        <p:txBody>
          <a:bodyPr wrap="none">
            <a:spAutoFit/>
          </a:bodyPr>
          <a:lstStyle/>
          <a:p>
            <a:r>
              <a:rPr sz="1000" i="1">
                <a:solidFill>
                  <a:schemeClr val="dk1"/>
                </a:solidFill>
              </a:rPr>
              <a:t>Source: valkey.io/blog/valkey-9-1-delivers-improvements-in-security-performance-and-more/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Get involved in the project</a:t>
            </a:r>
            <a:endParaRPr dirty="0"/>
          </a:p>
        </p:txBody>
      </p:sp>
      <p:sp>
        <p:nvSpPr>
          <p:cNvPr id="400" name="Google Shape;400;p23"/>
          <p:cNvSpPr txBox="1"/>
          <p:nvPr/>
        </p:nvSpPr>
        <p:spPr>
          <a:xfrm>
            <a:off x="7514303" y="4302370"/>
            <a:ext cx="4522029" cy="4616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err="1">
                <a:solidFill>
                  <a:schemeClr val="dk1"/>
                </a:solidFill>
                <a:latin typeface="Century Gothic"/>
                <a:ea typeface="Century Gothic"/>
                <a:cs typeface="Century Gothic"/>
                <a:sym typeface="Century Gothic"/>
              </a:rPr>
              <a:t>github.com</a:t>
            </a:r>
            <a:r>
              <a:rPr lang="en-US" sz="2400" b="0" i="0" u="none" strike="noStrike" cap="none" dirty="0">
                <a:solidFill>
                  <a:schemeClr val="dk1"/>
                </a:solidFill>
                <a:latin typeface="Century Gothic"/>
                <a:ea typeface="Century Gothic"/>
                <a:cs typeface="Century Gothic"/>
                <a:sym typeface="Century Gothic"/>
              </a:rPr>
              <a:t>/</a:t>
            </a:r>
            <a:r>
              <a:rPr lang="en-US" sz="2400" b="0" i="0" u="none" strike="noStrike" cap="none" dirty="0" err="1">
                <a:solidFill>
                  <a:schemeClr val="dk1"/>
                </a:solidFill>
                <a:latin typeface="Century Gothic"/>
                <a:ea typeface="Century Gothic"/>
                <a:cs typeface="Century Gothic"/>
                <a:sym typeface="Century Gothic"/>
              </a:rPr>
              <a:t>valkey</a:t>
            </a:r>
            <a:r>
              <a:rPr lang="en-US" sz="2400" b="0" i="0" u="none" strike="noStrike" cap="none" dirty="0">
                <a:solidFill>
                  <a:schemeClr val="dk1"/>
                </a:solidFill>
                <a:latin typeface="Century Gothic"/>
                <a:ea typeface="Century Gothic"/>
                <a:cs typeface="Century Gothic"/>
                <a:sym typeface="Century Gothic"/>
              </a:rPr>
              <a:t>-io</a:t>
            </a:r>
            <a:endParaRPr sz="1800" b="0" i="0" u="none" strike="noStrike" cap="none" dirty="0">
              <a:solidFill>
                <a:schemeClr val="lt1"/>
              </a:solidFill>
              <a:latin typeface="Play"/>
              <a:ea typeface="Play"/>
              <a:cs typeface="Play"/>
              <a:sym typeface="Play"/>
            </a:endParaRPr>
          </a:p>
        </p:txBody>
      </p:sp>
      <p:sp>
        <p:nvSpPr>
          <p:cNvPr id="401" name="Google Shape;401;p23"/>
          <p:cNvSpPr txBox="1"/>
          <p:nvPr/>
        </p:nvSpPr>
        <p:spPr>
          <a:xfrm>
            <a:off x="3752492" y="4233005"/>
            <a:ext cx="4522029" cy="4616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err="1">
                <a:solidFill>
                  <a:schemeClr val="dk1"/>
                </a:solidFill>
                <a:latin typeface="Century Gothic"/>
                <a:ea typeface="Century Gothic"/>
                <a:cs typeface="Century Gothic"/>
                <a:sym typeface="Century Gothic"/>
              </a:rPr>
              <a:t>valkey</a:t>
            </a:r>
            <a:r>
              <a:rPr lang="en-US" sz="2400" b="0" i="0" u="none" strike="noStrike" cap="none" dirty="0">
                <a:solidFill>
                  <a:schemeClr val="dk1"/>
                </a:solidFill>
                <a:latin typeface="Century Gothic"/>
                <a:ea typeface="Century Gothic"/>
                <a:cs typeface="Century Gothic"/>
                <a:sym typeface="Century Gothic"/>
              </a:rPr>
              <a:t>/</a:t>
            </a:r>
            <a:r>
              <a:rPr lang="en-US" sz="2400" b="0" i="0" u="none" strike="noStrike" cap="none" dirty="0" err="1">
                <a:solidFill>
                  <a:schemeClr val="dk1"/>
                </a:solidFill>
                <a:latin typeface="Century Gothic"/>
                <a:ea typeface="Century Gothic"/>
                <a:cs typeface="Century Gothic"/>
                <a:sym typeface="Century Gothic"/>
              </a:rPr>
              <a:t>valkey</a:t>
            </a:r>
            <a:endParaRPr sz="2400" b="0" i="0" u="none" strike="noStrike" cap="none" dirty="0">
              <a:solidFill>
                <a:schemeClr val="dk1"/>
              </a:solidFill>
              <a:latin typeface="Century Gothic"/>
              <a:ea typeface="Century Gothic"/>
              <a:cs typeface="Century Gothic"/>
              <a:sym typeface="Century Gothic"/>
            </a:endParaRPr>
          </a:p>
        </p:txBody>
      </p:sp>
      <p:sp>
        <p:nvSpPr>
          <p:cNvPr id="402" name="Google Shape;402;p23"/>
          <p:cNvSpPr txBox="1"/>
          <p:nvPr/>
        </p:nvSpPr>
        <p:spPr>
          <a:xfrm>
            <a:off x="165688" y="4302369"/>
            <a:ext cx="4522029" cy="4616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err="1">
                <a:solidFill>
                  <a:schemeClr val="dk1"/>
                </a:solidFill>
                <a:latin typeface="Century Gothic"/>
                <a:ea typeface="Century Gothic"/>
                <a:cs typeface="Century Gothic"/>
                <a:sym typeface="Century Gothic"/>
              </a:rPr>
              <a:t>valkey.io</a:t>
            </a:r>
            <a:endParaRPr sz="2400" b="0" i="0" u="none" strike="noStrike" cap="none" dirty="0">
              <a:solidFill>
                <a:schemeClr val="dk1"/>
              </a:solidFill>
              <a:latin typeface="Century Gothic"/>
              <a:ea typeface="Century Gothic"/>
              <a:cs typeface="Century Gothic"/>
              <a:sym typeface="Century Gothic"/>
            </a:endParaRPr>
          </a:p>
        </p:txBody>
      </p:sp>
      <p:pic>
        <p:nvPicPr>
          <p:cNvPr id="403" name="Google Shape;403;p23"/>
          <p:cNvPicPr preferRelativeResize="0"/>
          <p:nvPr/>
        </p:nvPicPr>
        <p:blipFill rotWithShape="1">
          <a:blip r:embed="rId3">
            <a:alphaModFix/>
          </a:blip>
          <a:srcRect/>
          <a:stretch/>
        </p:blipFill>
        <p:spPr>
          <a:xfrm>
            <a:off x="4975806" y="2408312"/>
            <a:ext cx="2075403" cy="1638909"/>
          </a:xfrm>
          <a:prstGeom prst="rect">
            <a:avLst/>
          </a:prstGeom>
          <a:noFill/>
          <a:ln>
            <a:noFill/>
          </a:ln>
        </p:spPr>
      </p:pic>
      <p:pic>
        <p:nvPicPr>
          <p:cNvPr id="404" name="Google Shape;404;p23"/>
          <p:cNvPicPr preferRelativeResize="0"/>
          <p:nvPr/>
        </p:nvPicPr>
        <p:blipFill rotWithShape="1">
          <a:blip r:embed="rId4">
            <a:alphaModFix/>
          </a:blip>
          <a:srcRect/>
          <a:stretch/>
        </p:blipFill>
        <p:spPr>
          <a:xfrm>
            <a:off x="1646434" y="2408312"/>
            <a:ext cx="1540488" cy="1780119"/>
          </a:xfrm>
          <a:prstGeom prst="rect">
            <a:avLst/>
          </a:prstGeom>
          <a:noFill/>
          <a:ln>
            <a:noFill/>
          </a:ln>
        </p:spPr>
      </p:pic>
      <p:pic>
        <p:nvPicPr>
          <p:cNvPr id="405" name="Google Shape;405;p23" descr="github&quot; Icon - Download for free – Iconduck"/>
          <p:cNvPicPr preferRelativeResize="0"/>
          <p:nvPr/>
        </p:nvPicPr>
        <p:blipFill rotWithShape="1">
          <a:blip r:embed="rId5">
            <a:alphaModFix/>
          </a:blip>
          <a:srcRect l="19312" t="23871" r="22999" b="18993"/>
          <a:stretch/>
        </p:blipFill>
        <p:spPr>
          <a:xfrm>
            <a:off x="8799397" y="2336466"/>
            <a:ext cx="1843549" cy="182588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Valkey module distribution</a:t>
            </a:r>
            <a:endParaRPr dirty="0"/>
          </a:p>
        </p:txBody>
      </p:sp>
      <p:sp>
        <p:nvSpPr>
          <p:cNvPr id="264" name="Google Shape;264;p16"/>
          <p:cNvSpPr txBox="1">
            <a:spLocks noGrp="1"/>
          </p:cNvSpPr>
          <p:nvPr>
            <p:ph type="body" idx="1"/>
          </p:nvPr>
        </p:nvSpPr>
        <p:spPr>
          <a:xfrm>
            <a:off x="609599" y="1662252"/>
            <a:ext cx="3483900" cy="307800"/>
          </a:xfrm>
          <a:prstGeom prst="rect">
            <a:avLst/>
          </a:prstGeom>
          <a:noFill/>
          <a:ln>
            <a:noFill/>
          </a:ln>
        </p:spPr>
        <p:txBody>
          <a:bodyPr spcFirstLastPara="1" wrap="square" lIns="0" tIns="0" rIns="0" bIns="0" anchor="b" anchorCtr="0">
            <a:spAutoFit/>
          </a:bodyPr>
          <a:lstStyle/>
          <a:p>
            <a:pPr marL="0" lvl="0" indent="0" algn="ctr" rtl="0">
              <a:lnSpc>
                <a:spcPct val="100000"/>
              </a:lnSpc>
              <a:spcBef>
                <a:spcPts val="0"/>
              </a:spcBef>
              <a:spcAft>
                <a:spcPts val="0"/>
              </a:spcAft>
              <a:buClr>
                <a:schemeClr val="dk2"/>
              </a:buClr>
              <a:buSzPts val="1800"/>
              <a:buNone/>
            </a:pPr>
            <a:r>
              <a:rPr lang="en-US" dirty="0"/>
              <a:t>JSON</a:t>
            </a:r>
            <a:endParaRPr dirty="0"/>
          </a:p>
        </p:txBody>
      </p:sp>
      <p:sp>
        <p:nvSpPr>
          <p:cNvPr id="265" name="Google Shape;265;p16"/>
          <p:cNvSpPr txBox="1">
            <a:spLocks noGrp="1"/>
          </p:cNvSpPr>
          <p:nvPr>
            <p:ph type="body" idx="3"/>
          </p:nvPr>
        </p:nvSpPr>
        <p:spPr>
          <a:xfrm>
            <a:off x="4399068" y="1662252"/>
            <a:ext cx="3483864" cy="307777"/>
          </a:xfrm>
          <a:prstGeom prst="rect">
            <a:avLst/>
          </a:prstGeom>
          <a:noFill/>
          <a:ln>
            <a:noFill/>
          </a:ln>
        </p:spPr>
        <p:txBody>
          <a:bodyPr spcFirstLastPara="1" wrap="square" lIns="0" tIns="0" rIns="0" bIns="0" anchor="b" anchorCtr="0">
            <a:spAutoFit/>
          </a:bodyPr>
          <a:lstStyle/>
          <a:p>
            <a:pPr marL="0" lvl="0" indent="0" algn="ctr" rtl="0">
              <a:lnSpc>
                <a:spcPct val="100000"/>
              </a:lnSpc>
              <a:spcBef>
                <a:spcPts val="0"/>
              </a:spcBef>
              <a:spcAft>
                <a:spcPts val="0"/>
              </a:spcAft>
              <a:buClr>
                <a:schemeClr val="dk2"/>
              </a:buClr>
              <a:buSzPts val="1800"/>
              <a:buNone/>
            </a:pPr>
            <a:r>
              <a:rPr lang="en-US" dirty="0"/>
              <a:t>Bloom Filter</a:t>
            </a:r>
            <a:endParaRPr dirty="0"/>
          </a:p>
        </p:txBody>
      </p:sp>
      <p:sp>
        <p:nvSpPr>
          <p:cNvPr id="266" name="Google Shape;266;p16"/>
          <p:cNvSpPr txBox="1">
            <a:spLocks noGrp="1"/>
          </p:cNvSpPr>
          <p:nvPr>
            <p:ph type="body" idx="5"/>
          </p:nvPr>
        </p:nvSpPr>
        <p:spPr>
          <a:xfrm>
            <a:off x="7882932" y="1046699"/>
            <a:ext cx="3789468" cy="923330"/>
          </a:xfrm>
          <a:prstGeom prst="rect">
            <a:avLst/>
          </a:prstGeom>
          <a:noFill/>
          <a:ln>
            <a:noFill/>
          </a:ln>
        </p:spPr>
        <p:txBody>
          <a:bodyPr spcFirstLastPara="1" wrap="square" lIns="0" tIns="0" rIns="0" bIns="0" anchor="b" anchorCtr="0">
            <a:spAutoFit/>
          </a:bodyPr>
          <a:lstStyle/>
          <a:p>
            <a:pPr marL="0" lvl="0" indent="0" algn="ctr" rtl="0">
              <a:lnSpc>
                <a:spcPct val="100000"/>
              </a:lnSpc>
              <a:spcBef>
                <a:spcPts val="0"/>
              </a:spcBef>
              <a:spcAft>
                <a:spcPts val="0"/>
              </a:spcAft>
              <a:buClr>
                <a:schemeClr val="dk2"/>
              </a:buClr>
              <a:buSzPts val="1800"/>
              <a:buNone/>
            </a:pPr>
            <a:r>
              <a:rPr lang="en-US"/>
              <a:t>Search</a:t>
            </a:r>
            <a:br>
              <a:rPr lang="en-US"/>
            </a:br>
            <a:r>
              <a:rPr lang="en-US"/>
              <a:t>(Vector similarity and Full-text)</a:t>
            </a:r>
            <a:endParaRPr/>
          </a:p>
        </p:txBody>
      </p:sp>
      <p:pic>
        <p:nvPicPr>
          <p:cNvPr id="267" name="Google Shape;267;p16"/>
          <p:cNvPicPr preferRelativeResize="0"/>
          <p:nvPr/>
        </p:nvPicPr>
        <p:blipFill rotWithShape="1">
          <a:blip r:embed="rId3">
            <a:alphaModFix/>
          </a:blip>
          <a:srcRect/>
          <a:stretch/>
        </p:blipFill>
        <p:spPr>
          <a:xfrm>
            <a:off x="1081531" y="2518924"/>
            <a:ext cx="2540000" cy="2540000"/>
          </a:xfrm>
          <a:prstGeom prst="rect">
            <a:avLst/>
          </a:prstGeom>
          <a:noFill/>
          <a:ln>
            <a:noFill/>
          </a:ln>
        </p:spPr>
      </p:pic>
      <p:pic>
        <p:nvPicPr>
          <p:cNvPr id="268" name="Google Shape;268;p16"/>
          <p:cNvPicPr preferRelativeResize="0"/>
          <p:nvPr/>
        </p:nvPicPr>
        <p:blipFill rotWithShape="1">
          <a:blip r:embed="rId4">
            <a:alphaModFix/>
          </a:blip>
          <a:srcRect/>
          <a:stretch/>
        </p:blipFill>
        <p:spPr>
          <a:xfrm>
            <a:off x="4870999" y="2518924"/>
            <a:ext cx="2540000" cy="2540000"/>
          </a:xfrm>
          <a:prstGeom prst="rect">
            <a:avLst/>
          </a:prstGeom>
          <a:noFill/>
          <a:ln>
            <a:noFill/>
          </a:ln>
        </p:spPr>
      </p:pic>
      <p:pic>
        <p:nvPicPr>
          <p:cNvPr id="269" name="Google Shape;269;p16"/>
          <p:cNvPicPr preferRelativeResize="0"/>
          <p:nvPr/>
        </p:nvPicPr>
        <p:blipFill rotWithShape="1">
          <a:blip r:embed="rId5">
            <a:alphaModFix/>
          </a:blip>
          <a:srcRect/>
          <a:stretch/>
        </p:blipFill>
        <p:spPr>
          <a:xfrm>
            <a:off x="8570469" y="2518924"/>
            <a:ext cx="2540000" cy="2540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Valkey GLIDE</a:t>
            </a:r>
          </a:p>
        </p:txBody>
      </p:sp>
      <p:sp>
        <p:nvSpPr>
          <p:cNvPr id="7" name="Rounded Rectangle 6"/>
          <p:cNvSpPr/>
          <p:nvPr/>
        </p:nvSpPr>
        <p:spPr>
          <a:xfrm>
            <a:off x="1866000" y="2350000"/>
            <a:ext cx="8460000" cy="1950000"/>
          </a:xfrm>
          <a:prstGeom prst="roundRect">
            <a:avLst/>
          </a:prstGeom>
          <a:noFill/>
          <a:ln w="19050">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46000" y="1500000"/>
            <a:ext cx="8500000" cy="600000"/>
          </a:xfrm>
          <a:prstGeom prst="roundRect">
            <a:avLst/>
          </a:prstGeom>
          <a:solidFill>
            <a:srgbClr val="F0F0F0"/>
          </a:solidFill>
          <a:ln w="25400">
            <a:solidFill>
              <a:srgbClr val="B4B4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3C3C3C"/>
                </a:solidFill>
              </a:rPr>
              <a:t>Your Application</a:t>
            </a:r>
          </a:p>
        </p:txBody>
      </p:sp>
      <p:cxnSp>
        <p:nvCxnSpPr>
          <p:cNvPr id="6" name="Connector 5"/>
          <p:cNvCxnSpPr/>
          <p:nvPr/>
        </p:nvCxnSpPr>
        <p:spPr>
          <a:xfrm>
            <a:off x="6096000" y="2100000"/>
            <a:ext cx="0" cy="250000"/>
          </a:xfrm>
          <a:prstGeom prst="line">
            <a:avLst/>
          </a:prstGeom>
          <a:ln w="31750">
            <a:solidFill>
              <a:srgbClr val="A0A0A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066000" y="2430000"/>
            <a:ext cx="5000000" cy="292388"/>
          </a:xfrm>
          <a:prstGeom prst="rect">
            <a:avLst/>
          </a:prstGeom>
          <a:noFill/>
        </p:spPr>
        <p:txBody>
          <a:bodyPr wrap="square">
            <a:spAutoFit/>
          </a:bodyPr>
          <a:lstStyle/>
          <a:p>
            <a:r>
              <a:rPr sz="1300" b="1" dirty="0">
                <a:solidFill>
                  <a:srgbClr val="505050"/>
                </a:solidFill>
              </a:rPr>
              <a:t>Interface Layer</a:t>
            </a:r>
          </a:p>
        </p:txBody>
      </p:sp>
      <p:sp>
        <p:nvSpPr>
          <p:cNvPr id="9" name="Rounded Rectangle 8"/>
          <p:cNvSpPr/>
          <p:nvPr/>
        </p:nvSpPr>
        <p:spPr>
          <a:xfrm>
            <a:off x="2016000" y="28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Java</a:t>
            </a:r>
          </a:p>
        </p:txBody>
      </p:sp>
      <p:sp>
        <p:nvSpPr>
          <p:cNvPr id="10" name="Rounded Rectangle 9"/>
          <p:cNvSpPr/>
          <p:nvPr/>
        </p:nvSpPr>
        <p:spPr>
          <a:xfrm>
            <a:off x="4086000" y="28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Python</a:t>
            </a:r>
          </a:p>
        </p:txBody>
      </p:sp>
      <p:sp>
        <p:nvSpPr>
          <p:cNvPr id="11" name="Rounded Rectangle 10"/>
          <p:cNvSpPr/>
          <p:nvPr/>
        </p:nvSpPr>
        <p:spPr>
          <a:xfrm>
            <a:off x="6156000" y="28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Node.js</a:t>
            </a:r>
          </a:p>
        </p:txBody>
      </p:sp>
      <p:sp>
        <p:nvSpPr>
          <p:cNvPr id="12" name="Rounded Rectangle 11"/>
          <p:cNvSpPr/>
          <p:nvPr/>
        </p:nvSpPr>
        <p:spPr>
          <a:xfrm>
            <a:off x="8226000" y="28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Go</a:t>
            </a:r>
          </a:p>
        </p:txBody>
      </p:sp>
      <p:sp>
        <p:nvSpPr>
          <p:cNvPr id="13" name="Rounded Rectangle 12"/>
          <p:cNvSpPr/>
          <p:nvPr/>
        </p:nvSpPr>
        <p:spPr>
          <a:xfrm>
            <a:off x="2016000" y="35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C#</a:t>
            </a:r>
          </a:p>
        </p:txBody>
      </p:sp>
      <p:sp>
        <p:nvSpPr>
          <p:cNvPr id="14" name="Rounded Rectangle 13"/>
          <p:cNvSpPr/>
          <p:nvPr/>
        </p:nvSpPr>
        <p:spPr>
          <a:xfrm>
            <a:off x="4086000" y="35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PHP</a:t>
            </a:r>
          </a:p>
        </p:txBody>
      </p:sp>
      <p:sp>
        <p:nvSpPr>
          <p:cNvPr id="15" name="Rounded Rectangle 14"/>
          <p:cNvSpPr/>
          <p:nvPr/>
        </p:nvSpPr>
        <p:spPr>
          <a:xfrm>
            <a:off x="6156000" y="35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C++</a:t>
            </a:r>
          </a:p>
        </p:txBody>
      </p:sp>
      <p:sp>
        <p:nvSpPr>
          <p:cNvPr id="16" name="Rounded Rectangle 15"/>
          <p:cNvSpPr/>
          <p:nvPr/>
        </p:nvSpPr>
        <p:spPr>
          <a:xfrm>
            <a:off x="8226000" y="3550000"/>
            <a:ext cx="1950000" cy="600000"/>
          </a:xfrm>
          <a:prstGeom prst="roundRect">
            <a:avLst/>
          </a:prstGeom>
          <a:solidFill>
            <a:srgbClr val="DCEBFA"/>
          </a:solidFill>
          <a:ln w="25400">
            <a:solidFill>
              <a:srgbClr val="0072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72CE"/>
                </a:solidFill>
              </a:rPr>
              <a:t>Ruby</a:t>
            </a:r>
          </a:p>
        </p:txBody>
      </p:sp>
      <p:cxnSp>
        <p:nvCxnSpPr>
          <p:cNvPr id="17" name="Connector 16"/>
          <p:cNvCxnSpPr/>
          <p:nvPr/>
        </p:nvCxnSpPr>
        <p:spPr>
          <a:xfrm>
            <a:off x="6096000" y="4300000"/>
            <a:ext cx="0" cy="250000"/>
          </a:xfrm>
          <a:prstGeom prst="line">
            <a:avLst/>
          </a:prstGeom>
          <a:ln w="31750">
            <a:solidFill>
              <a:srgbClr val="A0A0A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46000" y="4550000"/>
            <a:ext cx="8500000" cy="600000"/>
          </a:xfrm>
          <a:prstGeom prst="roundRect">
            <a:avLst/>
          </a:prstGeom>
          <a:solidFill>
            <a:srgbClr val="DE6B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FFFFFF"/>
                </a:solidFill>
              </a:rPr>
              <a:t>glide-core (Rust)</a:t>
            </a:r>
          </a:p>
        </p:txBody>
      </p:sp>
      <p:cxnSp>
        <p:nvCxnSpPr>
          <p:cNvPr id="19" name="Connector 18"/>
          <p:cNvCxnSpPr/>
          <p:nvPr/>
        </p:nvCxnSpPr>
        <p:spPr>
          <a:xfrm>
            <a:off x="6096000" y="5150000"/>
            <a:ext cx="0" cy="250000"/>
          </a:xfrm>
          <a:prstGeom prst="line">
            <a:avLst/>
          </a:prstGeom>
          <a:ln w="31750">
            <a:solidFill>
              <a:srgbClr val="A0A0A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846000" y="5400000"/>
            <a:ext cx="8500000" cy="600000"/>
          </a:xfrm>
          <a:prstGeom prst="round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rPr>
              <a:t>Valkey Server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9"/>
          <p:cNvSpPr txBox="1">
            <a:spLocks noGrp="1"/>
          </p:cNvSpPr>
          <p:nvPr>
            <p:ph type="title"/>
          </p:nvPr>
        </p:nvSpPr>
        <p:spPr>
          <a:xfrm>
            <a:off x="609600" y="3124301"/>
            <a:ext cx="9194800" cy="609398"/>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lt1"/>
              </a:buClr>
              <a:buSzPts val="4400"/>
              <a:buFont typeface="Play"/>
              <a:buNone/>
            </a:pPr>
            <a:r>
              <a:rPr lang="en-US" dirty="0"/>
              <a:t>Migrations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0"/>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Migrating from Redis OSS to Valkey</a:t>
            </a:r>
            <a:endParaRPr dirty="0"/>
          </a:p>
        </p:txBody>
      </p:sp>
      <p:sp>
        <p:nvSpPr>
          <p:cNvPr id="294" name="Google Shape;294;p20"/>
          <p:cNvSpPr/>
          <p:nvPr/>
        </p:nvSpPr>
        <p:spPr>
          <a:xfrm>
            <a:off x="2443565" y="1550324"/>
            <a:ext cx="2360815" cy="1878676"/>
          </a:xfrm>
          <a:prstGeom prst="flowChartMultidocument">
            <a:avLst/>
          </a:prstGeom>
          <a:solidFill>
            <a:srgbClr val="C00000"/>
          </a:solidFill>
          <a:ln w="19050" cap="rnd" cmpd="sng">
            <a:solidFill>
              <a:srgbClr val="1113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dirty="0" err="1">
                <a:solidFill>
                  <a:schemeClr val="lt1"/>
                </a:solidFill>
                <a:latin typeface="Century Gothic"/>
                <a:ea typeface="Century Gothic"/>
                <a:cs typeface="Century Gothic"/>
                <a:sym typeface="Century Gothic"/>
              </a:rPr>
              <a:t>redis</a:t>
            </a:r>
            <a:r>
              <a:rPr lang="en-US" sz="1800" b="0" i="0" u="none" strike="noStrike" cap="none" dirty="0">
                <a:solidFill>
                  <a:schemeClr val="lt1"/>
                </a:solidFill>
                <a:latin typeface="Century Gothic"/>
                <a:ea typeface="Century Gothic"/>
                <a:cs typeface="Century Gothic"/>
                <a:sym typeface="Century Gothic"/>
              </a:rPr>
              <a:t>/redis:7.2</a:t>
            </a:r>
            <a:endParaRPr sz="1800" b="0" i="0" u="none" strike="noStrike" cap="none" dirty="0">
              <a:solidFill>
                <a:schemeClr val="lt1"/>
              </a:solidFill>
              <a:latin typeface="Play"/>
              <a:ea typeface="Play"/>
              <a:cs typeface="Play"/>
              <a:sym typeface="Play"/>
            </a:endParaRPr>
          </a:p>
        </p:txBody>
      </p:sp>
      <p:grpSp>
        <p:nvGrpSpPr>
          <p:cNvPr id="295" name="Google Shape;295;p20"/>
          <p:cNvGrpSpPr/>
          <p:nvPr/>
        </p:nvGrpSpPr>
        <p:grpSpPr>
          <a:xfrm>
            <a:off x="5198758" y="1550324"/>
            <a:ext cx="4504980" cy="1878676"/>
            <a:chOff x="5198758" y="1350267"/>
            <a:chExt cx="4504980" cy="1878676"/>
          </a:xfrm>
        </p:grpSpPr>
        <p:sp>
          <p:nvSpPr>
            <p:cNvPr id="296" name="Google Shape;296;p20"/>
            <p:cNvSpPr/>
            <p:nvPr/>
          </p:nvSpPr>
          <p:spPr>
            <a:xfrm>
              <a:off x="5198758" y="2289605"/>
              <a:ext cx="1750481" cy="369118"/>
            </a:xfrm>
            <a:prstGeom prst="rightArrow">
              <a:avLst>
                <a:gd name="adj1" fmla="val 58542"/>
                <a:gd name="adj2" fmla="val 71721"/>
              </a:avLst>
            </a:prstGeom>
            <a:solidFill>
              <a:srgbClr val="F5E5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90A4D"/>
                </a:buClr>
                <a:buSzPts val="1400"/>
                <a:buFont typeface="Century Gothic"/>
                <a:buNone/>
              </a:pPr>
              <a:r>
                <a:rPr lang="en-US" sz="1400" b="0" i="0" u="none" strike="noStrike" cap="none" dirty="0">
                  <a:solidFill>
                    <a:srgbClr val="090A4D"/>
                  </a:solidFill>
                  <a:latin typeface="Century Gothic"/>
                  <a:ea typeface="Century Gothic"/>
                  <a:cs typeface="Century Gothic"/>
                  <a:sym typeface="Century Gothic"/>
                </a:rPr>
                <a:t>Re-brand</a:t>
              </a:r>
              <a:endParaRPr sz="1800" b="0" i="0" u="none" strike="noStrike" cap="none" dirty="0">
                <a:solidFill>
                  <a:schemeClr val="lt1"/>
                </a:solidFill>
                <a:latin typeface="Play"/>
                <a:ea typeface="Play"/>
                <a:cs typeface="Play"/>
                <a:sym typeface="Play"/>
              </a:endParaRPr>
            </a:p>
          </p:txBody>
        </p:sp>
        <p:sp>
          <p:nvSpPr>
            <p:cNvPr id="297" name="Google Shape;297;p20"/>
            <p:cNvSpPr/>
            <p:nvPr/>
          </p:nvSpPr>
          <p:spPr>
            <a:xfrm>
              <a:off x="7342923" y="1350267"/>
              <a:ext cx="2360815" cy="1878676"/>
            </a:xfrm>
            <a:prstGeom prst="flowChartMultidocument">
              <a:avLst/>
            </a:prstGeom>
            <a:solidFill>
              <a:schemeClr val="accent1"/>
            </a:solidFill>
            <a:ln w="19050" cap="rnd" cmpd="sng">
              <a:solidFill>
                <a:srgbClr val="11133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dirty="0" err="1">
                  <a:solidFill>
                    <a:schemeClr val="lt1"/>
                  </a:solidFill>
                  <a:latin typeface="Century Gothic"/>
                  <a:ea typeface="Century Gothic"/>
                  <a:cs typeface="Century Gothic"/>
                  <a:sym typeface="Century Gothic"/>
                </a:rPr>
                <a:t>valkey</a:t>
              </a:r>
              <a:r>
                <a:rPr lang="en-US" sz="1800" b="0" i="0" u="none" strike="noStrike" cap="none" dirty="0">
                  <a:solidFill>
                    <a:schemeClr val="lt1"/>
                  </a:solidFill>
                  <a:latin typeface="Century Gothic"/>
                  <a:ea typeface="Century Gothic"/>
                  <a:cs typeface="Century Gothic"/>
                  <a:sym typeface="Century Gothic"/>
                </a:rPr>
                <a:t>-io/</a:t>
              </a:r>
              <a:r>
                <a:rPr lang="en-US" sz="1800" b="0" i="0" u="none" strike="noStrike" cap="none" dirty="0" err="1">
                  <a:solidFill>
                    <a:schemeClr val="lt1"/>
                  </a:solidFill>
                  <a:latin typeface="Century Gothic"/>
                  <a:ea typeface="Century Gothic"/>
                  <a:cs typeface="Century Gothic"/>
                  <a:sym typeface="Century Gothic"/>
                </a:rPr>
                <a:t>valkey</a:t>
              </a:r>
              <a:endParaRPr sz="1800" b="0" i="0" u="none" strike="noStrike" cap="none" dirty="0">
                <a:solidFill>
                  <a:schemeClr val="lt1"/>
                </a:solidFill>
                <a:latin typeface="Play"/>
                <a:ea typeface="Play"/>
                <a:cs typeface="Play"/>
                <a:sym typeface="Play"/>
              </a:endParaRPr>
            </a:p>
          </p:txBody>
        </p:sp>
      </p:grpSp>
      <p:grpSp>
        <p:nvGrpSpPr>
          <p:cNvPr id="298" name="Google Shape;298;p20"/>
          <p:cNvGrpSpPr/>
          <p:nvPr/>
        </p:nvGrpSpPr>
        <p:grpSpPr>
          <a:xfrm>
            <a:off x="2443565" y="3796106"/>
            <a:ext cx="7260172" cy="504000"/>
            <a:chOff x="2443565" y="3596049"/>
            <a:chExt cx="7260172" cy="504000"/>
          </a:xfrm>
        </p:grpSpPr>
        <p:sp>
          <p:nvSpPr>
            <p:cNvPr id="299" name="Google Shape;299;p20"/>
            <p:cNvSpPr/>
            <p:nvPr/>
          </p:nvSpPr>
          <p:spPr>
            <a:xfrm>
              <a:off x="2443565" y="3596050"/>
              <a:ext cx="2360815" cy="50399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dirty="0">
                  <a:solidFill>
                    <a:schemeClr val="lt1"/>
                  </a:solidFill>
                  <a:latin typeface="Century Gothic"/>
                  <a:ea typeface="Century Gothic"/>
                  <a:cs typeface="Century Gothic"/>
                  <a:sym typeface="Century Gothic"/>
                </a:rPr>
                <a:t>Config</a:t>
              </a:r>
              <a:endParaRPr sz="1800" b="0" i="0" u="none" strike="noStrike" cap="none" dirty="0">
                <a:solidFill>
                  <a:schemeClr val="lt1"/>
                </a:solidFill>
                <a:latin typeface="Play"/>
                <a:ea typeface="Play"/>
                <a:cs typeface="Play"/>
                <a:sym typeface="Play"/>
              </a:endParaRPr>
            </a:p>
          </p:txBody>
        </p:sp>
        <p:sp>
          <p:nvSpPr>
            <p:cNvPr id="300" name="Google Shape;300;p20"/>
            <p:cNvSpPr/>
            <p:nvPr/>
          </p:nvSpPr>
          <p:spPr>
            <a:xfrm>
              <a:off x="7342922" y="3596049"/>
              <a:ext cx="2360815" cy="503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Config</a:t>
              </a:r>
              <a:endParaRPr sz="1800" b="0" i="0" u="none" strike="noStrike" cap="none">
                <a:solidFill>
                  <a:schemeClr val="lt1"/>
                </a:solidFill>
                <a:latin typeface="Play"/>
                <a:ea typeface="Play"/>
                <a:cs typeface="Play"/>
                <a:sym typeface="Play"/>
              </a:endParaRPr>
            </a:p>
          </p:txBody>
        </p:sp>
        <p:sp>
          <p:nvSpPr>
            <p:cNvPr id="301" name="Google Shape;301;p20"/>
            <p:cNvSpPr/>
            <p:nvPr/>
          </p:nvSpPr>
          <p:spPr>
            <a:xfrm>
              <a:off x="5198759" y="3610485"/>
              <a:ext cx="1750480" cy="475126"/>
            </a:xfrm>
            <a:prstGeom prst="leftRightArrow">
              <a:avLst>
                <a:gd name="adj1" fmla="val 45159"/>
                <a:gd name="adj2" fmla="val 54841"/>
              </a:avLst>
            </a:prstGeom>
            <a:solidFill>
              <a:srgbClr val="F5E5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90A4D"/>
                </a:buClr>
                <a:buSzPts val="1400"/>
                <a:buFont typeface="Century Gothic"/>
                <a:buNone/>
              </a:pPr>
              <a:r>
                <a:rPr lang="en-US" sz="1400" b="0" i="0" u="none" strike="noStrike" cap="none">
                  <a:solidFill>
                    <a:srgbClr val="090A4D"/>
                  </a:solidFill>
                  <a:latin typeface="Century Gothic"/>
                  <a:ea typeface="Century Gothic"/>
                  <a:cs typeface="Century Gothic"/>
                  <a:sym typeface="Century Gothic"/>
                </a:rPr>
                <a:t>Same</a:t>
              </a:r>
              <a:endParaRPr sz="1800" b="0" i="0" u="none" strike="noStrike" cap="none">
                <a:solidFill>
                  <a:schemeClr val="lt1"/>
                </a:solidFill>
                <a:latin typeface="Play"/>
                <a:ea typeface="Play"/>
                <a:cs typeface="Play"/>
                <a:sym typeface="Play"/>
              </a:endParaRPr>
            </a:p>
          </p:txBody>
        </p:sp>
      </p:grpSp>
      <p:grpSp>
        <p:nvGrpSpPr>
          <p:cNvPr id="302" name="Google Shape;302;p20"/>
          <p:cNvGrpSpPr/>
          <p:nvPr/>
        </p:nvGrpSpPr>
        <p:grpSpPr>
          <a:xfrm>
            <a:off x="2443565" y="4373188"/>
            <a:ext cx="7260172" cy="504000"/>
            <a:chOff x="2443565" y="4173131"/>
            <a:chExt cx="7260172" cy="504000"/>
          </a:xfrm>
        </p:grpSpPr>
        <p:sp>
          <p:nvSpPr>
            <p:cNvPr id="303" name="Google Shape;303;p20"/>
            <p:cNvSpPr/>
            <p:nvPr/>
          </p:nvSpPr>
          <p:spPr>
            <a:xfrm>
              <a:off x="2443565" y="4173132"/>
              <a:ext cx="2360815" cy="50399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API and commands</a:t>
              </a:r>
              <a:endParaRPr sz="1800" b="0" i="0" u="none" strike="noStrike" cap="none">
                <a:solidFill>
                  <a:schemeClr val="lt1"/>
                </a:solidFill>
                <a:latin typeface="Play"/>
                <a:ea typeface="Play"/>
                <a:cs typeface="Play"/>
                <a:sym typeface="Play"/>
              </a:endParaRPr>
            </a:p>
          </p:txBody>
        </p:sp>
        <p:sp>
          <p:nvSpPr>
            <p:cNvPr id="304" name="Google Shape;304;p20"/>
            <p:cNvSpPr/>
            <p:nvPr/>
          </p:nvSpPr>
          <p:spPr>
            <a:xfrm>
              <a:off x="7342922" y="4173131"/>
              <a:ext cx="2360815" cy="503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API and commands</a:t>
              </a:r>
              <a:endParaRPr sz="1800" b="0" i="0" u="none" strike="noStrike" cap="none">
                <a:solidFill>
                  <a:schemeClr val="lt1"/>
                </a:solidFill>
                <a:latin typeface="Play"/>
                <a:ea typeface="Play"/>
                <a:cs typeface="Play"/>
                <a:sym typeface="Play"/>
              </a:endParaRPr>
            </a:p>
          </p:txBody>
        </p:sp>
        <p:sp>
          <p:nvSpPr>
            <p:cNvPr id="305" name="Google Shape;305;p20"/>
            <p:cNvSpPr/>
            <p:nvPr/>
          </p:nvSpPr>
          <p:spPr>
            <a:xfrm>
              <a:off x="5198759" y="4187567"/>
              <a:ext cx="1750480" cy="475126"/>
            </a:xfrm>
            <a:prstGeom prst="leftRightArrow">
              <a:avLst>
                <a:gd name="adj1" fmla="val 45159"/>
                <a:gd name="adj2" fmla="val 54841"/>
              </a:avLst>
            </a:prstGeom>
            <a:solidFill>
              <a:srgbClr val="F5E5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90A4D"/>
                </a:buClr>
                <a:buSzPts val="1400"/>
                <a:buFont typeface="Century Gothic"/>
                <a:buNone/>
              </a:pPr>
              <a:r>
                <a:rPr lang="en-US" sz="1400" b="0" i="0" u="none" strike="noStrike" cap="none">
                  <a:solidFill>
                    <a:srgbClr val="090A4D"/>
                  </a:solidFill>
                  <a:latin typeface="Century Gothic"/>
                  <a:ea typeface="Century Gothic"/>
                  <a:cs typeface="Century Gothic"/>
                  <a:sym typeface="Century Gothic"/>
                </a:rPr>
                <a:t>Same</a:t>
              </a:r>
              <a:endParaRPr sz="1800" b="0" i="0" u="none" strike="noStrike" cap="none">
                <a:solidFill>
                  <a:schemeClr val="lt1"/>
                </a:solidFill>
                <a:latin typeface="Play"/>
                <a:ea typeface="Play"/>
                <a:cs typeface="Play"/>
                <a:sym typeface="Play"/>
              </a:endParaRPr>
            </a:p>
          </p:txBody>
        </p:sp>
      </p:grpSp>
      <p:grpSp>
        <p:nvGrpSpPr>
          <p:cNvPr id="306" name="Google Shape;306;p20"/>
          <p:cNvGrpSpPr/>
          <p:nvPr/>
        </p:nvGrpSpPr>
        <p:grpSpPr>
          <a:xfrm>
            <a:off x="2443565" y="4950270"/>
            <a:ext cx="7260172" cy="504000"/>
            <a:chOff x="2443565" y="4750213"/>
            <a:chExt cx="7260172" cy="504000"/>
          </a:xfrm>
        </p:grpSpPr>
        <p:sp>
          <p:nvSpPr>
            <p:cNvPr id="307" name="Google Shape;307;p20"/>
            <p:cNvSpPr/>
            <p:nvPr/>
          </p:nvSpPr>
          <p:spPr>
            <a:xfrm>
              <a:off x="2443565" y="4750214"/>
              <a:ext cx="2360815" cy="50399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RESP protocol</a:t>
              </a:r>
              <a:endParaRPr sz="1800" b="0" i="0" u="none" strike="noStrike" cap="none">
                <a:solidFill>
                  <a:schemeClr val="lt1"/>
                </a:solidFill>
                <a:latin typeface="Play"/>
                <a:ea typeface="Play"/>
                <a:cs typeface="Play"/>
                <a:sym typeface="Play"/>
              </a:endParaRPr>
            </a:p>
          </p:txBody>
        </p:sp>
        <p:sp>
          <p:nvSpPr>
            <p:cNvPr id="308" name="Google Shape;308;p20"/>
            <p:cNvSpPr/>
            <p:nvPr/>
          </p:nvSpPr>
          <p:spPr>
            <a:xfrm>
              <a:off x="7342922" y="4750213"/>
              <a:ext cx="2360815" cy="503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RESP protocol</a:t>
              </a:r>
              <a:endParaRPr sz="1800" b="0" i="0" u="none" strike="noStrike" cap="none">
                <a:solidFill>
                  <a:schemeClr val="lt1"/>
                </a:solidFill>
                <a:latin typeface="Play"/>
                <a:ea typeface="Play"/>
                <a:cs typeface="Play"/>
                <a:sym typeface="Play"/>
              </a:endParaRPr>
            </a:p>
          </p:txBody>
        </p:sp>
        <p:sp>
          <p:nvSpPr>
            <p:cNvPr id="309" name="Google Shape;309;p20"/>
            <p:cNvSpPr/>
            <p:nvPr/>
          </p:nvSpPr>
          <p:spPr>
            <a:xfrm>
              <a:off x="5198759" y="4764649"/>
              <a:ext cx="1750480" cy="475126"/>
            </a:xfrm>
            <a:prstGeom prst="leftRightArrow">
              <a:avLst>
                <a:gd name="adj1" fmla="val 45159"/>
                <a:gd name="adj2" fmla="val 54841"/>
              </a:avLst>
            </a:prstGeom>
            <a:solidFill>
              <a:srgbClr val="F5E5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90A4D"/>
                </a:buClr>
                <a:buSzPts val="1400"/>
                <a:buFont typeface="Century Gothic"/>
                <a:buNone/>
              </a:pPr>
              <a:r>
                <a:rPr lang="en-US" sz="1400" b="0" i="0" u="none" strike="noStrike" cap="none">
                  <a:solidFill>
                    <a:srgbClr val="090A4D"/>
                  </a:solidFill>
                  <a:latin typeface="Century Gothic"/>
                  <a:ea typeface="Century Gothic"/>
                  <a:cs typeface="Century Gothic"/>
                  <a:sym typeface="Century Gothic"/>
                </a:rPr>
                <a:t>Same</a:t>
              </a:r>
              <a:endParaRPr sz="1800" b="0" i="0" u="none" strike="noStrike" cap="none">
                <a:solidFill>
                  <a:schemeClr val="lt1"/>
                </a:solidFill>
                <a:latin typeface="Play"/>
                <a:ea typeface="Play"/>
                <a:cs typeface="Play"/>
                <a:sym typeface="Play"/>
              </a:endParaRPr>
            </a:p>
          </p:txBody>
        </p:sp>
      </p:grpSp>
      <p:grpSp>
        <p:nvGrpSpPr>
          <p:cNvPr id="310" name="Google Shape;310;p20"/>
          <p:cNvGrpSpPr/>
          <p:nvPr/>
        </p:nvGrpSpPr>
        <p:grpSpPr>
          <a:xfrm>
            <a:off x="2443565" y="5527352"/>
            <a:ext cx="7260172" cy="504000"/>
            <a:chOff x="2443565" y="5327295"/>
            <a:chExt cx="7260172" cy="504000"/>
          </a:xfrm>
        </p:grpSpPr>
        <p:sp>
          <p:nvSpPr>
            <p:cNvPr id="311" name="Google Shape;311;p20"/>
            <p:cNvSpPr/>
            <p:nvPr/>
          </p:nvSpPr>
          <p:spPr>
            <a:xfrm>
              <a:off x="2443565" y="5327296"/>
              <a:ext cx="2360815" cy="50399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Client libraries</a:t>
              </a:r>
              <a:endParaRPr sz="1800" b="0" i="0" u="none" strike="noStrike" cap="none">
                <a:solidFill>
                  <a:schemeClr val="lt1"/>
                </a:solidFill>
                <a:latin typeface="Play"/>
                <a:ea typeface="Play"/>
                <a:cs typeface="Play"/>
                <a:sym typeface="Play"/>
              </a:endParaRPr>
            </a:p>
          </p:txBody>
        </p:sp>
        <p:sp>
          <p:nvSpPr>
            <p:cNvPr id="312" name="Google Shape;312;p20"/>
            <p:cNvSpPr/>
            <p:nvPr/>
          </p:nvSpPr>
          <p:spPr>
            <a:xfrm>
              <a:off x="7342922" y="5327295"/>
              <a:ext cx="2360815" cy="50399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Client libraries</a:t>
              </a:r>
              <a:endParaRPr sz="1800" b="0" i="0" u="none" strike="noStrike" cap="none">
                <a:solidFill>
                  <a:schemeClr val="lt1"/>
                </a:solidFill>
                <a:latin typeface="Play"/>
                <a:ea typeface="Play"/>
                <a:cs typeface="Play"/>
                <a:sym typeface="Play"/>
              </a:endParaRPr>
            </a:p>
          </p:txBody>
        </p:sp>
        <p:sp>
          <p:nvSpPr>
            <p:cNvPr id="313" name="Google Shape;313;p20"/>
            <p:cNvSpPr/>
            <p:nvPr/>
          </p:nvSpPr>
          <p:spPr>
            <a:xfrm>
              <a:off x="5198759" y="5341732"/>
              <a:ext cx="1750480" cy="475126"/>
            </a:xfrm>
            <a:prstGeom prst="leftRightArrow">
              <a:avLst>
                <a:gd name="adj1" fmla="val 45159"/>
                <a:gd name="adj2" fmla="val 54841"/>
              </a:avLst>
            </a:prstGeom>
            <a:solidFill>
              <a:srgbClr val="F5E5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90A4D"/>
                </a:buClr>
                <a:buSzPts val="1400"/>
                <a:buFont typeface="Century Gothic"/>
                <a:buNone/>
              </a:pPr>
              <a:r>
                <a:rPr lang="en-US" sz="1400" b="0" i="0" u="none" strike="noStrike" cap="none">
                  <a:solidFill>
                    <a:srgbClr val="090A4D"/>
                  </a:solidFill>
                  <a:latin typeface="Century Gothic"/>
                  <a:ea typeface="Century Gothic"/>
                  <a:cs typeface="Century Gothic"/>
                  <a:sym typeface="Century Gothic"/>
                </a:rPr>
                <a:t>Same</a:t>
              </a:r>
              <a:endParaRPr sz="1800" b="0" i="0" u="none" strike="noStrike" cap="none">
                <a:solidFill>
                  <a:schemeClr val="lt1"/>
                </a:solidFill>
                <a:latin typeface="Play"/>
                <a:ea typeface="Play"/>
                <a:cs typeface="Play"/>
                <a:sym typeface="Play"/>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1"/>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a:t>Strategies for migration</a:t>
            </a:r>
            <a:endParaRPr/>
          </a:p>
        </p:txBody>
      </p:sp>
      <p:sp>
        <p:nvSpPr>
          <p:cNvPr id="320" name="Google Shape;320;p21"/>
          <p:cNvSpPr txBox="1"/>
          <p:nvPr/>
        </p:nvSpPr>
        <p:spPr>
          <a:xfrm>
            <a:off x="4928703" y="4121015"/>
            <a:ext cx="2601639" cy="830997"/>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Backup and restore</a:t>
            </a:r>
            <a:endParaRPr sz="1800" b="0" i="0" u="none" strike="noStrike" cap="none" dirty="0">
              <a:solidFill>
                <a:schemeClr val="lt1"/>
              </a:solidFill>
              <a:latin typeface="Play"/>
              <a:ea typeface="Play"/>
              <a:cs typeface="Play"/>
              <a:sym typeface="Play"/>
            </a:endParaRPr>
          </a:p>
        </p:txBody>
      </p:sp>
      <p:sp>
        <p:nvSpPr>
          <p:cNvPr id="321" name="Google Shape;321;p21"/>
          <p:cNvSpPr txBox="1"/>
          <p:nvPr/>
        </p:nvSpPr>
        <p:spPr>
          <a:xfrm>
            <a:off x="1118184" y="4121015"/>
            <a:ext cx="2910431" cy="4616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dirty="0">
                <a:solidFill>
                  <a:schemeClr val="dk1"/>
                </a:solidFill>
                <a:latin typeface="Century Gothic"/>
                <a:ea typeface="Century Gothic"/>
                <a:cs typeface="Century Gothic"/>
                <a:sym typeface="Century Gothic"/>
              </a:rPr>
              <a:t>Rolling updates</a:t>
            </a:r>
            <a:endParaRPr sz="1800" b="0" i="0" u="none" strike="noStrike" cap="none" dirty="0">
              <a:solidFill>
                <a:schemeClr val="lt1"/>
              </a:solidFill>
              <a:latin typeface="Play"/>
              <a:ea typeface="Play"/>
              <a:cs typeface="Play"/>
              <a:sym typeface="Play"/>
            </a:endParaRPr>
          </a:p>
        </p:txBody>
      </p:sp>
      <p:sp>
        <p:nvSpPr>
          <p:cNvPr id="322" name="Google Shape;322;p21"/>
          <p:cNvSpPr txBox="1"/>
          <p:nvPr/>
        </p:nvSpPr>
        <p:spPr>
          <a:xfrm>
            <a:off x="7958816" y="4121015"/>
            <a:ext cx="3856074" cy="461665"/>
          </a:xfrm>
          <a:prstGeom prst="rect">
            <a:avLst/>
          </a:prstGeom>
          <a:noFill/>
          <a:ln>
            <a:noFill/>
          </a:ln>
        </p:spPr>
        <p:txBody>
          <a:bodyPr spcFirstLastPara="1" wrap="square" lIns="0" tIns="45700" rIns="0" bIns="45700" anchor="t" anchorCtr="0">
            <a:spAutoFit/>
          </a:bodyPr>
          <a:lstStyle/>
          <a:p>
            <a:pPr marL="0" marR="0" lvl="0" indent="0" algn="ctr" rtl="0">
              <a:spcBef>
                <a:spcPts val="0"/>
              </a:spcBef>
              <a:spcAft>
                <a:spcPts val="0"/>
              </a:spcAft>
              <a:buClr>
                <a:schemeClr val="dk1"/>
              </a:buClr>
              <a:buSzPts val="2400"/>
              <a:buFont typeface="Century Gothic"/>
              <a:buNone/>
            </a:pPr>
            <a:r>
              <a:rPr lang="en-US" sz="2400" b="0" i="0" u="none" strike="noStrike" cap="none">
                <a:solidFill>
                  <a:schemeClr val="dk1"/>
                </a:solidFill>
                <a:latin typeface="Century Gothic"/>
                <a:ea typeface="Century Gothic"/>
                <a:cs typeface="Century Gothic"/>
                <a:sym typeface="Century Gothic"/>
              </a:rPr>
              <a:t>Third party tooling</a:t>
            </a:r>
            <a:endParaRPr sz="1800" b="0" i="0" u="none" strike="noStrike" cap="none">
              <a:solidFill>
                <a:schemeClr val="lt1"/>
              </a:solidFill>
              <a:latin typeface="Play"/>
              <a:ea typeface="Play"/>
              <a:cs typeface="Play"/>
              <a:sym typeface="Play"/>
            </a:endParaRPr>
          </a:p>
        </p:txBody>
      </p:sp>
      <p:grpSp>
        <p:nvGrpSpPr>
          <p:cNvPr id="323" name="Google Shape;323;p21"/>
          <p:cNvGrpSpPr/>
          <p:nvPr/>
        </p:nvGrpSpPr>
        <p:grpSpPr>
          <a:xfrm>
            <a:off x="5607791" y="2407106"/>
            <a:ext cx="1243462" cy="1618183"/>
            <a:chOff x="4743044" y="4832123"/>
            <a:chExt cx="448681" cy="583892"/>
          </a:xfrm>
        </p:grpSpPr>
        <p:grpSp>
          <p:nvGrpSpPr>
            <p:cNvPr id="324" name="Google Shape;324;p21"/>
            <p:cNvGrpSpPr/>
            <p:nvPr/>
          </p:nvGrpSpPr>
          <p:grpSpPr>
            <a:xfrm>
              <a:off x="4743044" y="4832123"/>
              <a:ext cx="373026" cy="534861"/>
              <a:chOff x="5551642" y="1656583"/>
              <a:chExt cx="341155" cy="421616"/>
            </a:xfrm>
          </p:grpSpPr>
          <p:sp>
            <p:nvSpPr>
              <p:cNvPr id="325" name="Google Shape;325;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no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26" name="Google Shape;326;p21"/>
              <p:cNvSpPr/>
              <p:nvPr/>
            </p:nvSpPr>
            <p:spPr>
              <a:xfrm>
                <a:off x="5551642" y="1656583"/>
                <a:ext cx="341155" cy="119082"/>
              </a:xfrm>
              <a:custGeom>
                <a:avLst/>
                <a:gdLst/>
                <a:ahLst/>
                <a:cxnLst/>
                <a:rect l="l" t="t" r="r" b="b"/>
                <a:pathLst>
                  <a:path w="341155" h="119082" extrusionOk="0">
                    <a:moveTo>
                      <a:pt x="338902" y="63403"/>
                    </a:moveTo>
                    <a:cubicBezTo>
                      <a:pt x="338902" y="92048"/>
                      <a:pt x="268740" y="115542"/>
                      <a:pt x="171865" y="115542"/>
                    </a:cubicBezTo>
                    <a:cubicBezTo>
                      <a:pt x="74990" y="115542"/>
                      <a:pt x="4828" y="92369"/>
                      <a:pt x="4828" y="63403"/>
                    </a:cubicBezTo>
                    <a:cubicBezTo>
                      <a:pt x="4828" y="34437"/>
                      <a:pt x="75312" y="4828"/>
                      <a:pt x="171865" y="4828"/>
                    </a:cubicBezTo>
                    <a:cubicBezTo>
                      <a:pt x="268418" y="4828"/>
                      <a:pt x="338902" y="34437"/>
                      <a:pt x="338902" y="63403"/>
                    </a:cubicBez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27" name="Google Shape;327;p21"/>
              <p:cNvSpPr/>
              <p:nvPr/>
            </p:nvSpPr>
            <p:spPr>
              <a:xfrm>
                <a:off x="5551642" y="1818471"/>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28" name="Google Shape;328;p21"/>
              <p:cNvSpPr/>
              <p:nvPr/>
            </p:nvSpPr>
            <p:spPr>
              <a:xfrm>
                <a:off x="5551642" y="1920817"/>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29" name="Google Shape;329;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grpSp>
        <p:grpSp>
          <p:nvGrpSpPr>
            <p:cNvPr id="330" name="Google Shape;330;p21"/>
            <p:cNvGrpSpPr/>
            <p:nvPr/>
          </p:nvGrpSpPr>
          <p:grpSpPr>
            <a:xfrm>
              <a:off x="4936686" y="5147347"/>
              <a:ext cx="255039" cy="268668"/>
              <a:chOff x="7387525" y="1786750"/>
              <a:chExt cx="517467" cy="456992"/>
            </a:xfrm>
          </p:grpSpPr>
          <p:sp>
            <p:nvSpPr>
              <p:cNvPr id="331" name="Google Shape;331;p21"/>
              <p:cNvSpPr/>
              <p:nvPr/>
            </p:nvSpPr>
            <p:spPr>
              <a:xfrm>
                <a:off x="7387525" y="1786750"/>
                <a:ext cx="517467" cy="456992"/>
              </a:xfrm>
              <a:prstGeom prst="ellipse">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300"/>
                  <a:buFont typeface="Play"/>
                  <a:buNone/>
                </a:pPr>
                <a:endParaRPr sz="2300" b="0" i="0" u="none" strike="noStrike" cap="none">
                  <a:solidFill>
                    <a:schemeClr val="accent1"/>
                  </a:solidFill>
                  <a:latin typeface="Century Gothic"/>
                  <a:ea typeface="Century Gothic"/>
                  <a:cs typeface="Century Gothic"/>
                  <a:sym typeface="Century Gothic"/>
                </a:endParaRPr>
              </a:p>
            </p:txBody>
          </p:sp>
          <p:sp>
            <p:nvSpPr>
              <p:cNvPr id="332" name="Google Shape;332;p21"/>
              <p:cNvSpPr/>
              <p:nvPr/>
            </p:nvSpPr>
            <p:spPr>
              <a:xfrm rot="-4500000">
                <a:off x="7516806" y="1868977"/>
                <a:ext cx="257466" cy="303179"/>
              </a:xfrm>
              <a:prstGeom prst="arc">
                <a:avLst>
                  <a:gd name="adj1" fmla="val 16771733"/>
                  <a:gd name="adj2" fmla="val 12525015"/>
                </a:avLst>
              </a:prstGeom>
              <a:noFill/>
              <a:ln w="19050" cap="flat" cmpd="sng">
                <a:solidFill>
                  <a:schemeClr val="dk2"/>
                </a:solidFill>
                <a:prstDash val="solid"/>
                <a:round/>
                <a:headEnd type="triangle"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grpSp>
      </p:grpSp>
      <p:cxnSp>
        <p:nvCxnSpPr>
          <p:cNvPr id="333" name="Google Shape;333;p21"/>
          <p:cNvCxnSpPr/>
          <p:nvPr/>
        </p:nvCxnSpPr>
        <p:spPr>
          <a:xfrm rot="10800000">
            <a:off x="1986288" y="3206571"/>
            <a:ext cx="1122793" cy="2"/>
          </a:xfrm>
          <a:prstGeom prst="straightConnector1">
            <a:avLst/>
          </a:prstGeom>
          <a:noFill/>
          <a:ln w="28575" cap="flat" cmpd="sng">
            <a:solidFill>
              <a:schemeClr val="dk2"/>
            </a:solidFill>
            <a:prstDash val="solid"/>
            <a:round/>
            <a:headEnd type="triangle" w="med" len="med"/>
            <a:tailEnd type="none" w="sm" len="sm"/>
          </a:ln>
        </p:spPr>
      </p:cxnSp>
      <p:sp>
        <p:nvSpPr>
          <p:cNvPr id="334" name="Google Shape;334;p21"/>
          <p:cNvSpPr txBox="1"/>
          <p:nvPr/>
        </p:nvSpPr>
        <p:spPr>
          <a:xfrm>
            <a:off x="1885791" y="2640716"/>
            <a:ext cx="1302726"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27FAA"/>
              </a:buClr>
              <a:buSzPts val="2000"/>
              <a:buFont typeface="Century Gothic"/>
              <a:buNone/>
            </a:pPr>
            <a:r>
              <a:rPr lang="en-US" sz="2000" b="1" i="1" u="none" strike="noStrike" cap="none">
                <a:solidFill>
                  <a:srgbClr val="027FAA"/>
                </a:solidFill>
                <a:latin typeface="Century Gothic"/>
                <a:ea typeface="Century Gothic"/>
                <a:cs typeface="Century Gothic"/>
                <a:sym typeface="Century Gothic"/>
              </a:rPr>
              <a:t>LRU</a:t>
            </a:r>
            <a:endParaRPr sz="1800" b="0" i="0" u="none" strike="noStrike" cap="none">
              <a:solidFill>
                <a:schemeClr val="lt1"/>
              </a:solidFill>
              <a:latin typeface="Play"/>
              <a:ea typeface="Play"/>
              <a:cs typeface="Play"/>
              <a:sym typeface="Play"/>
            </a:endParaRPr>
          </a:p>
        </p:txBody>
      </p:sp>
      <p:grpSp>
        <p:nvGrpSpPr>
          <p:cNvPr id="335" name="Google Shape;335;p21"/>
          <p:cNvGrpSpPr/>
          <p:nvPr/>
        </p:nvGrpSpPr>
        <p:grpSpPr>
          <a:xfrm>
            <a:off x="936659" y="2537313"/>
            <a:ext cx="1033794" cy="1482300"/>
            <a:chOff x="5551642" y="1656583"/>
            <a:chExt cx="341155" cy="421616"/>
          </a:xfrm>
        </p:grpSpPr>
        <p:sp>
          <p:nvSpPr>
            <p:cNvPr id="336" name="Google Shape;336;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solidFill>
              <a:srgbClr val="FF0000"/>
            </a:solid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37" name="Google Shape;337;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solidFill>
              <a:srgbClr val="FF0000"/>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38" name="Google Shape;338;p21"/>
            <p:cNvSpPr/>
            <p:nvPr/>
          </p:nvSpPr>
          <p:spPr>
            <a:xfrm>
              <a:off x="5551642" y="1656583"/>
              <a:ext cx="341155" cy="119082"/>
            </a:xfrm>
            <a:custGeom>
              <a:avLst/>
              <a:gdLst/>
              <a:ahLst/>
              <a:cxnLst/>
              <a:rect l="l" t="t" r="r" b="b"/>
              <a:pathLst>
                <a:path w="341155" h="119082" extrusionOk="0">
                  <a:moveTo>
                    <a:pt x="338902" y="63403"/>
                  </a:moveTo>
                  <a:cubicBezTo>
                    <a:pt x="338902" y="92048"/>
                    <a:pt x="268740" y="115542"/>
                    <a:pt x="171865" y="115542"/>
                  </a:cubicBezTo>
                  <a:cubicBezTo>
                    <a:pt x="74990" y="115542"/>
                    <a:pt x="4828" y="92369"/>
                    <a:pt x="4828" y="63403"/>
                  </a:cubicBezTo>
                  <a:cubicBezTo>
                    <a:pt x="4828" y="34437"/>
                    <a:pt x="75312" y="4828"/>
                    <a:pt x="171865" y="4828"/>
                  </a:cubicBezTo>
                  <a:cubicBezTo>
                    <a:pt x="268418" y="4828"/>
                    <a:pt x="338902" y="34437"/>
                    <a:pt x="338902" y="63403"/>
                  </a:cubicBezTo>
                  <a:close/>
                </a:path>
              </a:pathLst>
            </a:custGeom>
            <a:solidFill>
              <a:srgbClr val="FF0000"/>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39" name="Google Shape;339;p21"/>
            <p:cNvSpPr/>
            <p:nvPr/>
          </p:nvSpPr>
          <p:spPr>
            <a:xfrm>
              <a:off x="5551642" y="1818471"/>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solidFill>
              <a:srgbClr val="FF0000"/>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40" name="Google Shape;340;p21"/>
            <p:cNvSpPr/>
            <p:nvPr/>
          </p:nvSpPr>
          <p:spPr>
            <a:xfrm>
              <a:off x="5551642" y="1920817"/>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solidFill>
              <a:srgbClr val="FF0000"/>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grpSp>
      <p:cxnSp>
        <p:nvCxnSpPr>
          <p:cNvPr id="341" name="Google Shape;341;p21"/>
          <p:cNvCxnSpPr/>
          <p:nvPr/>
        </p:nvCxnSpPr>
        <p:spPr>
          <a:xfrm rot="10800000">
            <a:off x="9726615" y="3200478"/>
            <a:ext cx="761321" cy="0"/>
          </a:xfrm>
          <a:prstGeom prst="straightConnector1">
            <a:avLst/>
          </a:prstGeom>
          <a:noFill/>
          <a:ln w="28575" cap="flat" cmpd="sng">
            <a:solidFill>
              <a:schemeClr val="dk2"/>
            </a:solidFill>
            <a:prstDash val="solid"/>
            <a:round/>
            <a:headEnd type="triangle" w="med" len="med"/>
            <a:tailEnd type="triangle" w="sm" len="sm"/>
          </a:ln>
        </p:spPr>
      </p:cxnSp>
      <p:grpSp>
        <p:nvGrpSpPr>
          <p:cNvPr id="342" name="Google Shape;342;p21"/>
          <p:cNvGrpSpPr/>
          <p:nvPr/>
        </p:nvGrpSpPr>
        <p:grpSpPr>
          <a:xfrm>
            <a:off x="10521378" y="2473920"/>
            <a:ext cx="1033794" cy="1482300"/>
            <a:chOff x="5551642" y="1656583"/>
            <a:chExt cx="341155" cy="421616"/>
          </a:xfrm>
        </p:grpSpPr>
        <p:sp>
          <p:nvSpPr>
            <p:cNvPr id="343" name="Google Shape;343;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no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44" name="Google Shape;344;p21"/>
            <p:cNvSpPr/>
            <p:nvPr/>
          </p:nvSpPr>
          <p:spPr>
            <a:xfrm>
              <a:off x="5551642" y="1656583"/>
              <a:ext cx="341155" cy="119082"/>
            </a:xfrm>
            <a:custGeom>
              <a:avLst/>
              <a:gdLst/>
              <a:ahLst/>
              <a:cxnLst/>
              <a:rect l="l" t="t" r="r" b="b"/>
              <a:pathLst>
                <a:path w="341155" h="119082" extrusionOk="0">
                  <a:moveTo>
                    <a:pt x="338902" y="63403"/>
                  </a:moveTo>
                  <a:cubicBezTo>
                    <a:pt x="338902" y="92048"/>
                    <a:pt x="268740" y="115542"/>
                    <a:pt x="171865" y="115542"/>
                  </a:cubicBezTo>
                  <a:cubicBezTo>
                    <a:pt x="74990" y="115542"/>
                    <a:pt x="4828" y="92369"/>
                    <a:pt x="4828" y="63403"/>
                  </a:cubicBezTo>
                  <a:cubicBezTo>
                    <a:pt x="4828" y="34437"/>
                    <a:pt x="75312" y="4828"/>
                    <a:pt x="171865" y="4828"/>
                  </a:cubicBezTo>
                  <a:cubicBezTo>
                    <a:pt x="268418" y="4828"/>
                    <a:pt x="338902" y="34437"/>
                    <a:pt x="338902" y="63403"/>
                  </a:cubicBez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45" name="Google Shape;345;p21"/>
            <p:cNvSpPr/>
            <p:nvPr/>
          </p:nvSpPr>
          <p:spPr>
            <a:xfrm>
              <a:off x="5551642" y="1818471"/>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46" name="Google Shape;346;p21"/>
            <p:cNvSpPr/>
            <p:nvPr/>
          </p:nvSpPr>
          <p:spPr>
            <a:xfrm>
              <a:off x="5551642" y="1920817"/>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47" name="Google Shape;347;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grpSp>
      <p:grpSp>
        <p:nvGrpSpPr>
          <p:cNvPr id="348" name="Google Shape;348;p21"/>
          <p:cNvGrpSpPr/>
          <p:nvPr/>
        </p:nvGrpSpPr>
        <p:grpSpPr>
          <a:xfrm>
            <a:off x="8535943" y="2684866"/>
            <a:ext cx="1147290" cy="1041513"/>
            <a:chOff x="8357813" y="3278632"/>
            <a:chExt cx="1147290" cy="1041513"/>
          </a:xfrm>
        </p:grpSpPr>
        <p:grpSp>
          <p:nvGrpSpPr>
            <p:cNvPr id="349" name="Google Shape;349;p21"/>
            <p:cNvGrpSpPr/>
            <p:nvPr/>
          </p:nvGrpSpPr>
          <p:grpSpPr>
            <a:xfrm>
              <a:off x="8357813" y="3278632"/>
              <a:ext cx="1147290" cy="1041513"/>
              <a:chOff x="682166" y="4198907"/>
              <a:chExt cx="471727" cy="547268"/>
            </a:xfrm>
          </p:grpSpPr>
          <p:sp>
            <p:nvSpPr>
              <p:cNvPr id="350" name="Google Shape;350;p21"/>
              <p:cNvSpPr/>
              <p:nvPr/>
            </p:nvSpPr>
            <p:spPr>
              <a:xfrm>
                <a:off x="744817" y="4264455"/>
                <a:ext cx="346424" cy="410766"/>
              </a:xfrm>
              <a:custGeom>
                <a:avLst/>
                <a:gdLst/>
                <a:ahLst/>
                <a:cxnLst/>
                <a:rect l="l" t="t" r="r" b="b"/>
                <a:pathLst>
                  <a:path w="67" h="67" extrusionOk="0">
                    <a:moveTo>
                      <a:pt x="58" y="67"/>
                    </a:moveTo>
                    <a:cubicBezTo>
                      <a:pt x="9" y="67"/>
                      <a:pt x="9" y="67"/>
                      <a:pt x="9" y="67"/>
                    </a:cubicBezTo>
                    <a:cubicBezTo>
                      <a:pt x="4" y="67"/>
                      <a:pt x="0" y="63"/>
                      <a:pt x="0" y="58"/>
                    </a:cubicBezTo>
                    <a:cubicBezTo>
                      <a:pt x="0" y="9"/>
                      <a:pt x="0" y="9"/>
                      <a:pt x="0" y="9"/>
                    </a:cubicBezTo>
                    <a:cubicBezTo>
                      <a:pt x="0" y="4"/>
                      <a:pt x="4" y="0"/>
                      <a:pt x="9" y="0"/>
                    </a:cubicBezTo>
                    <a:cubicBezTo>
                      <a:pt x="58" y="0"/>
                      <a:pt x="58" y="0"/>
                      <a:pt x="58" y="0"/>
                    </a:cubicBezTo>
                    <a:cubicBezTo>
                      <a:pt x="63" y="0"/>
                      <a:pt x="67" y="4"/>
                      <a:pt x="67" y="9"/>
                    </a:cubicBezTo>
                    <a:cubicBezTo>
                      <a:pt x="67" y="58"/>
                      <a:pt x="67" y="58"/>
                      <a:pt x="67" y="58"/>
                    </a:cubicBezTo>
                    <a:cubicBezTo>
                      <a:pt x="67" y="63"/>
                      <a:pt x="63" y="67"/>
                      <a:pt x="58" y="67"/>
                    </a:cubicBezTo>
                    <a:close/>
                  </a:path>
                </a:pathLst>
              </a:custGeom>
              <a:solidFill>
                <a:schemeClr val="accent1"/>
              </a:solidFill>
              <a:ln w="28575" cap="flat" cmpd="sng">
                <a:solidFill>
                  <a:schemeClr val="dk2"/>
                </a:solidFill>
                <a:prstDash val="solid"/>
                <a:round/>
                <a:headEnd type="none" w="sm" len="sm"/>
                <a:tailEnd type="none" w="sm" len="sm"/>
              </a:ln>
            </p:spPr>
            <p:txBody>
              <a:bodyPr spcFirstLastPara="1" wrap="square" lIns="182875" tIns="146300" rIns="182875" bIns="146300" anchor="t" anchorCtr="0">
                <a:noAutofit/>
              </a:bodyPr>
              <a:lstStyle/>
              <a:p>
                <a:pPr marL="0" marR="0" lvl="0" indent="0" algn="ctr" rtl="0">
                  <a:lnSpc>
                    <a:spcPct val="90000"/>
                  </a:lnSpc>
                  <a:spcBef>
                    <a:spcPts val="0"/>
                  </a:spcBef>
                  <a:spcAft>
                    <a:spcPts val="0"/>
                  </a:spcAft>
                  <a:buClr>
                    <a:schemeClr val="lt1"/>
                  </a:buClr>
                  <a:buSzPts val="2300"/>
                  <a:buFont typeface="Play"/>
                  <a:buNone/>
                </a:pPr>
                <a:endParaRPr sz="2300" b="0" i="0" u="none" strike="noStrike" cap="none">
                  <a:solidFill>
                    <a:schemeClr val="lt1"/>
                  </a:solidFill>
                  <a:latin typeface="Century Gothic"/>
                  <a:ea typeface="Century Gothic"/>
                  <a:cs typeface="Century Gothic"/>
                  <a:sym typeface="Century Gothic"/>
                </a:endParaRPr>
              </a:p>
            </p:txBody>
          </p:sp>
          <p:cxnSp>
            <p:nvCxnSpPr>
              <p:cNvPr id="351" name="Google Shape;351;p21"/>
              <p:cNvCxnSpPr/>
              <p:nvPr/>
            </p:nvCxnSpPr>
            <p:spPr>
              <a:xfrm>
                <a:off x="873804"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2" name="Google Shape;352;p21"/>
              <p:cNvCxnSpPr/>
              <p:nvPr/>
            </p:nvCxnSpPr>
            <p:spPr>
              <a:xfrm>
                <a:off x="844322"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3" name="Google Shape;353;p21"/>
              <p:cNvCxnSpPr/>
              <p:nvPr/>
            </p:nvCxnSpPr>
            <p:spPr>
              <a:xfrm>
                <a:off x="906973"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4" name="Google Shape;354;p21"/>
              <p:cNvCxnSpPr/>
              <p:nvPr/>
            </p:nvCxnSpPr>
            <p:spPr>
              <a:xfrm>
                <a:off x="936456"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5" name="Google Shape;355;p21"/>
              <p:cNvCxnSpPr/>
              <p:nvPr/>
            </p:nvCxnSpPr>
            <p:spPr>
              <a:xfrm>
                <a:off x="962254"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6" name="Google Shape;356;p21"/>
              <p:cNvCxnSpPr/>
              <p:nvPr/>
            </p:nvCxnSpPr>
            <p:spPr>
              <a:xfrm>
                <a:off x="991736" y="419890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7" name="Google Shape;357;p21"/>
              <p:cNvCxnSpPr/>
              <p:nvPr/>
            </p:nvCxnSpPr>
            <p:spPr>
              <a:xfrm>
                <a:off x="873804"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8" name="Google Shape;358;p21"/>
              <p:cNvCxnSpPr/>
              <p:nvPr/>
            </p:nvCxnSpPr>
            <p:spPr>
              <a:xfrm>
                <a:off x="844322"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59" name="Google Shape;359;p21"/>
              <p:cNvCxnSpPr/>
              <p:nvPr/>
            </p:nvCxnSpPr>
            <p:spPr>
              <a:xfrm>
                <a:off x="906973"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0" name="Google Shape;360;p21"/>
              <p:cNvCxnSpPr/>
              <p:nvPr/>
            </p:nvCxnSpPr>
            <p:spPr>
              <a:xfrm>
                <a:off x="936456"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1" name="Google Shape;361;p21"/>
              <p:cNvCxnSpPr/>
              <p:nvPr/>
            </p:nvCxnSpPr>
            <p:spPr>
              <a:xfrm>
                <a:off x="962254"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2" name="Google Shape;362;p21"/>
              <p:cNvCxnSpPr/>
              <p:nvPr/>
            </p:nvCxnSpPr>
            <p:spPr>
              <a:xfrm>
                <a:off x="991736" y="4680627"/>
                <a:ext cx="0" cy="65548"/>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3" name="Google Shape;363;p21"/>
              <p:cNvCxnSpPr/>
              <p:nvPr/>
            </p:nvCxnSpPr>
            <p:spPr>
              <a:xfrm rot="10800000">
                <a:off x="1094927" y="4417400"/>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4" name="Google Shape;364;p21"/>
              <p:cNvCxnSpPr/>
              <p:nvPr/>
            </p:nvCxnSpPr>
            <p:spPr>
              <a:xfrm rot="10800000">
                <a:off x="1094927" y="4382441"/>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5" name="Google Shape;365;p21"/>
              <p:cNvCxnSpPr/>
              <p:nvPr/>
            </p:nvCxnSpPr>
            <p:spPr>
              <a:xfrm rot="10800000">
                <a:off x="1094927" y="4447989"/>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6" name="Google Shape;366;p21"/>
              <p:cNvCxnSpPr/>
              <p:nvPr/>
            </p:nvCxnSpPr>
            <p:spPr>
              <a:xfrm rot="10800000">
                <a:off x="1094927" y="4482947"/>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7" name="Google Shape;367;p21"/>
              <p:cNvCxnSpPr/>
              <p:nvPr/>
            </p:nvCxnSpPr>
            <p:spPr>
              <a:xfrm rot="10800000">
                <a:off x="1094927" y="4522276"/>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8" name="Google Shape;368;p21"/>
              <p:cNvCxnSpPr/>
              <p:nvPr/>
            </p:nvCxnSpPr>
            <p:spPr>
              <a:xfrm rot="10800000">
                <a:off x="1094927" y="4557235"/>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69" name="Google Shape;369;p21"/>
              <p:cNvCxnSpPr/>
              <p:nvPr/>
            </p:nvCxnSpPr>
            <p:spPr>
              <a:xfrm rot="10800000">
                <a:off x="682166" y="4417400"/>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0" name="Google Shape;370;p21"/>
              <p:cNvCxnSpPr/>
              <p:nvPr/>
            </p:nvCxnSpPr>
            <p:spPr>
              <a:xfrm rot="10800000">
                <a:off x="682166" y="4382441"/>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1" name="Google Shape;371;p21"/>
              <p:cNvCxnSpPr/>
              <p:nvPr/>
            </p:nvCxnSpPr>
            <p:spPr>
              <a:xfrm rot="10800000">
                <a:off x="682166" y="4447989"/>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2" name="Google Shape;372;p21"/>
              <p:cNvCxnSpPr/>
              <p:nvPr/>
            </p:nvCxnSpPr>
            <p:spPr>
              <a:xfrm rot="10800000">
                <a:off x="682166" y="4482947"/>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3" name="Google Shape;373;p21"/>
              <p:cNvCxnSpPr/>
              <p:nvPr/>
            </p:nvCxnSpPr>
            <p:spPr>
              <a:xfrm rot="10800000">
                <a:off x="682166" y="4522276"/>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4" name="Google Shape;374;p21"/>
              <p:cNvCxnSpPr/>
              <p:nvPr/>
            </p:nvCxnSpPr>
            <p:spPr>
              <a:xfrm rot="10800000">
                <a:off x="682166" y="4557235"/>
                <a:ext cx="58966" cy="0"/>
              </a:xfrm>
              <a:prstGeom prst="straightConnector1">
                <a:avLst/>
              </a:prstGeom>
              <a:solidFill>
                <a:schemeClr val="accent1"/>
              </a:solidFill>
              <a:ln w="28575" cap="flat" cmpd="sng">
                <a:solidFill>
                  <a:schemeClr val="dk2"/>
                </a:solidFill>
                <a:prstDash val="solid"/>
                <a:round/>
                <a:headEnd type="none" w="sm" len="sm"/>
                <a:tailEnd type="none" w="sm" len="sm"/>
              </a:ln>
            </p:spPr>
          </p:cxnSp>
          <p:sp>
            <p:nvSpPr>
              <p:cNvPr id="375" name="Google Shape;375;p21"/>
              <p:cNvSpPr/>
              <p:nvPr/>
            </p:nvSpPr>
            <p:spPr>
              <a:xfrm>
                <a:off x="813979" y="4339241"/>
                <a:ext cx="213165" cy="252758"/>
              </a:xfrm>
              <a:custGeom>
                <a:avLst/>
                <a:gdLst/>
                <a:ahLst/>
                <a:cxnLst/>
                <a:rect l="l" t="t" r="r" b="b"/>
                <a:pathLst>
                  <a:path w="67" h="67" extrusionOk="0">
                    <a:moveTo>
                      <a:pt x="58" y="67"/>
                    </a:moveTo>
                    <a:cubicBezTo>
                      <a:pt x="9" y="67"/>
                      <a:pt x="9" y="67"/>
                      <a:pt x="9" y="67"/>
                    </a:cubicBezTo>
                    <a:cubicBezTo>
                      <a:pt x="4" y="67"/>
                      <a:pt x="0" y="63"/>
                      <a:pt x="0" y="58"/>
                    </a:cubicBezTo>
                    <a:cubicBezTo>
                      <a:pt x="0" y="9"/>
                      <a:pt x="0" y="9"/>
                      <a:pt x="0" y="9"/>
                    </a:cubicBezTo>
                    <a:cubicBezTo>
                      <a:pt x="0" y="4"/>
                      <a:pt x="4" y="0"/>
                      <a:pt x="9" y="0"/>
                    </a:cubicBezTo>
                    <a:cubicBezTo>
                      <a:pt x="58" y="0"/>
                      <a:pt x="58" y="0"/>
                      <a:pt x="58" y="0"/>
                    </a:cubicBezTo>
                    <a:cubicBezTo>
                      <a:pt x="63" y="0"/>
                      <a:pt x="67" y="4"/>
                      <a:pt x="67" y="9"/>
                    </a:cubicBezTo>
                    <a:cubicBezTo>
                      <a:pt x="67" y="58"/>
                      <a:pt x="67" y="58"/>
                      <a:pt x="67" y="58"/>
                    </a:cubicBezTo>
                    <a:cubicBezTo>
                      <a:pt x="67" y="63"/>
                      <a:pt x="63" y="67"/>
                      <a:pt x="58" y="67"/>
                    </a:cubicBezTo>
                    <a:close/>
                  </a:path>
                </a:pathLst>
              </a:custGeom>
              <a:solidFill>
                <a:schemeClr val="accent1"/>
              </a:solidFill>
              <a:ln w="28575" cap="flat" cmpd="sng">
                <a:solidFill>
                  <a:schemeClr val="dk2"/>
                </a:solidFill>
                <a:prstDash val="solid"/>
                <a:round/>
                <a:headEnd type="none" w="sm" len="sm"/>
                <a:tailEnd type="none" w="sm" len="sm"/>
              </a:ln>
            </p:spPr>
            <p:txBody>
              <a:bodyPr spcFirstLastPara="1" wrap="square" lIns="182875" tIns="146300" rIns="182875" bIns="146300" anchor="t" anchorCtr="0">
                <a:noAutofit/>
              </a:bodyPr>
              <a:lstStyle/>
              <a:p>
                <a:pPr marL="0" marR="0" lvl="0" indent="0" algn="ctr" rtl="0">
                  <a:lnSpc>
                    <a:spcPct val="90000"/>
                  </a:lnSpc>
                  <a:spcBef>
                    <a:spcPts val="0"/>
                  </a:spcBef>
                  <a:spcAft>
                    <a:spcPts val="0"/>
                  </a:spcAft>
                  <a:buClr>
                    <a:schemeClr val="lt1"/>
                  </a:buClr>
                  <a:buSzPts val="2300"/>
                  <a:buFont typeface="Play"/>
                  <a:buNone/>
                </a:pPr>
                <a:endParaRPr sz="2300" b="0" i="0" u="none" strike="noStrike" cap="none">
                  <a:solidFill>
                    <a:schemeClr val="lt1"/>
                  </a:solidFill>
                  <a:latin typeface="Century Gothic"/>
                  <a:ea typeface="Century Gothic"/>
                  <a:cs typeface="Century Gothic"/>
                  <a:sym typeface="Century Gothic"/>
                </a:endParaRPr>
              </a:p>
            </p:txBody>
          </p:sp>
        </p:grpSp>
        <p:sp>
          <p:nvSpPr>
            <p:cNvPr id="376" name="Google Shape;376;p21"/>
            <p:cNvSpPr/>
            <p:nvPr/>
          </p:nvSpPr>
          <p:spPr>
            <a:xfrm>
              <a:off x="8777142" y="3644055"/>
              <a:ext cx="161483" cy="138227"/>
            </a:xfrm>
            <a:prstGeom prst="ellipse">
              <a:avLst/>
            </a:prstGeom>
            <a:solidFill>
              <a:schemeClr val="accent1"/>
            </a:solidFill>
            <a:ln w="28575" cap="flat" cmpd="sng">
              <a:solidFill>
                <a:schemeClr val="dk2"/>
              </a:solidFill>
              <a:prstDash val="solid"/>
              <a:round/>
              <a:headEnd type="none" w="sm" len="sm"/>
              <a:tailEnd type="none" w="sm" len="sm"/>
            </a:ln>
          </p:spPr>
          <p:txBody>
            <a:bodyPr spcFirstLastPara="1" wrap="square" lIns="182875" tIns="146300" rIns="182875" bIns="146300" anchor="t" anchorCtr="0">
              <a:noAutofit/>
            </a:bodyPr>
            <a:lstStyle/>
            <a:p>
              <a:pPr marL="0" marR="0" lvl="0" indent="0" algn="ctr" rtl="0">
                <a:lnSpc>
                  <a:spcPct val="90000"/>
                </a:lnSpc>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77" name="Google Shape;377;p21"/>
            <p:cNvSpPr/>
            <p:nvPr/>
          </p:nvSpPr>
          <p:spPr>
            <a:xfrm>
              <a:off x="8945351" y="3809642"/>
              <a:ext cx="161483" cy="138227"/>
            </a:xfrm>
            <a:prstGeom prst="ellipse">
              <a:avLst/>
            </a:prstGeom>
            <a:solidFill>
              <a:schemeClr val="accent1"/>
            </a:solidFill>
            <a:ln w="28575" cap="flat" cmpd="sng">
              <a:solidFill>
                <a:schemeClr val="dk2"/>
              </a:solidFill>
              <a:prstDash val="solid"/>
              <a:round/>
              <a:headEnd type="none" w="sm" len="sm"/>
              <a:tailEnd type="none" w="sm" len="sm"/>
            </a:ln>
          </p:spPr>
          <p:txBody>
            <a:bodyPr spcFirstLastPara="1" wrap="square" lIns="182875" tIns="146300" rIns="182875" bIns="146300" anchor="t" anchorCtr="0">
              <a:noAutofit/>
            </a:bodyPr>
            <a:lstStyle/>
            <a:p>
              <a:pPr marL="0" marR="0" lvl="0" indent="0" algn="ctr" rtl="0">
                <a:lnSpc>
                  <a:spcPct val="90000"/>
                </a:lnSpc>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cxnSp>
          <p:nvCxnSpPr>
            <p:cNvPr id="378" name="Google Shape;378;p21"/>
            <p:cNvCxnSpPr/>
            <p:nvPr/>
          </p:nvCxnSpPr>
          <p:spPr>
            <a:xfrm rot="10800000">
              <a:off x="8938624" y="3713169"/>
              <a:ext cx="241750" cy="0"/>
            </a:xfrm>
            <a:prstGeom prst="straightConnector1">
              <a:avLst/>
            </a:prstGeom>
            <a:solidFill>
              <a:schemeClr val="accent1"/>
            </a:solidFill>
            <a:ln w="28575" cap="flat" cmpd="sng">
              <a:solidFill>
                <a:schemeClr val="dk2"/>
              </a:solidFill>
              <a:prstDash val="solid"/>
              <a:round/>
              <a:headEnd type="none" w="sm" len="sm"/>
              <a:tailEnd type="none" w="sm" len="sm"/>
            </a:ln>
          </p:spPr>
        </p:cxnSp>
        <p:cxnSp>
          <p:nvCxnSpPr>
            <p:cNvPr id="379" name="Google Shape;379;p21"/>
            <p:cNvCxnSpPr/>
            <p:nvPr/>
          </p:nvCxnSpPr>
          <p:spPr>
            <a:xfrm>
              <a:off x="8678396" y="3885952"/>
              <a:ext cx="266955" cy="0"/>
            </a:xfrm>
            <a:prstGeom prst="straightConnector1">
              <a:avLst/>
            </a:prstGeom>
            <a:solidFill>
              <a:schemeClr val="accent1"/>
            </a:solidFill>
            <a:ln w="28575" cap="flat" cmpd="sng">
              <a:solidFill>
                <a:schemeClr val="dk2"/>
              </a:solidFill>
              <a:prstDash val="solid"/>
              <a:round/>
              <a:headEnd type="none" w="sm" len="sm"/>
              <a:tailEnd type="none" w="sm" len="sm"/>
            </a:ln>
          </p:spPr>
        </p:cxnSp>
      </p:grpSp>
      <p:grpSp>
        <p:nvGrpSpPr>
          <p:cNvPr id="380" name="Google Shape;380;p21"/>
          <p:cNvGrpSpPr/>
          <p:nvPr/>
        </p:nvGrpSpPr>
        <p:grpSpPr>
          <a:xfrm>
            <a:off x="3085966" y="2568938"/>
            <a:ext cx="1033794" cy="1482300"/>
            <a:chOff x="5551642" y="1656583"/>
            <a:chExt cx="341155" cy="421616"/>
          </a:xfrm>
        </p:grpSpPr>
        <p:sp>
          <p:nvSpPr>
            <p:cNvPr id="381" name="Google Shape;381;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solidFill>
              <a:schemeClr val="accent1"/>
            </a:solid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82" name="Google Shape;382;p21"/>
            <p:cNvSpPr/>
            <p:nvPr/>
          </p:nvSpPr>
          <p:spPr>
            <a:xfrm>
              <a:off x="5551642" y="1656583"/>
              <a:ext cx="341155" cy="421616"/>
            </a:xfrm>
            <a:custGeom>
              <a:avLst/>
              <a:gdLst/>
              <a:ahLst/>
              <a:cxnLst/>
              <a:rect l="l" t="t" r="r" b="b"/>
              <a:pathLst>
                <a:path w="341155" h="421616" extrusionOk="0">
                  <a:moveTo>
                    <a:pt x="171865" y="4828"/>
                  </a:moveTo>
                  <a:cubicBezTo>
                    <a:pt x="75312" y="4828"/>
                    <a:pt x="4828" y="32184"/>
                    <a:pt x="4828" y="65656"/>
                  </a:cubicBezTo>
                  <a:lnTo>
                    <a:pt x="4828" y="190532"/>
                  </a:lnTo>
                  <a:lnTo>
                    <a:pt x="4828" y="303821"/>
                  </a:lnTo>
                  <a:lnTo>
                    <a:pt x="4828" y="358857"/>
                  </a:lnTo>
                  <a:cubicBezTo>
                    <a:pt x="4828" y="382995"/>
                    <a:pt x="37334" y="403915"/>
                    <a:pt x="95910" y="413570"/>
                  </a:cubicBezTo>
                  <a:cubicBezTo>
                    <a:pt x="108783" y="415823"/>
                    <a:pt x="122301" y="417432"/>
                    <a:pt x="136462" y="418398"/>
                  </a:cubicBezTo>
                  <a:cubicBezTo>
                    <a:pt x="142255" y="418720"/>
                    <a:pt x="148048" y="419042"/>
                    <a:pt x="153842" y="419363"/>
                  </a:cubicBezTo>
                  <a:cubicBezTo>
                    <a:pt x="159635" y="419685"/>
                    <a:pt x="165750" y="419685"/>
                    <a:pt x="171865" y="419685"/>
                  </a:cubicBezTo>
                  <a:lnTo>
                    <a:pt x="171865" y="419685"/>
                  </a:lnTo>
                  <a:lnTo>
                    <a:pt x="171865" y="419685"/>
                  </a:lnTo>
                  <a:cubicBezTo>
                    <a:pt x="177980" y="419685"/>
                    <a:pt x="183773" y="419685"/>
                    <a:pt x="189888" y="419363"/>
                  </a:cubicBezTo>
                  <a:cubicBezTo>
                    <a:pt x="195681" y="419042"/>
                    <a:pt x="201475" y="418720"/>
                    <a:pt x="207268" y="418398"/>
                  </a:cubicBezTo>
                  <a:cubicBezTo>
                    <a:pt x="221429" y="417432"/>
                    <a:pt x="234946" y="415823"/>
                    <a:pt x="247820" y="413570"/>
                  </a:cubicBezTo>
                  <a:cubicBezTo>
                    <a:pt x="306396" y="403593"/>
                    <a:pt x="338902" y="382995"/>
                    <a:pt x="338902" y="358857"/>
                  </a:cubicBezTo>
                  <a:lnTo>
                    <a:pt x="338902" y="302212"/>
                  </a:lnTo>
                  <a:lnTo>
                    <a:pt x="338902" y="188923"/>
                  </a:lnTo>
                  <a:lnTo>
                    <a:pt x="338902" y="159635"/>
                  </a:lnTo>
                  <a:lnTo>
                    <a:pt x="338902" y="65656"/>
                  </a:lnTo>
                  <a:cubicBezTo>
                    <a:pt x="338902" y="32184"/>
                    <a:pt x="268418" y="4828"/>
                    <a:pt x="171865" y="4828"/>
                  </a:cubicBezTo>
                  <a:close/>
                </a:path>
              </a:pathLst>
            </a:custGeom>
            <a:solidFill>
              <a:schemeClr val="accen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83" name="Google Shape;383;p21"/>
            <p:cNvSpPr/>
            <p:nvPr/>
          </p:nvSpPr>
          <p:spPr>
            <a:xfrm>
              <a:off x="5551642" y="1656583"/>
              <a:ext cx="341155" cy="119082"/>
            </a:xfrm>
            <a:custGeom>
              <a:avLst/>
              <a:gdLst/>
              <a:ahLst/>
              <a:cxnLst/>
              <a:rect l="l" t="t" r="r" b="b"/>
              <a:pathLst>
                <a:path w="341155" h="119082" extrusionOk="0">
                  <a:moveTo>
                    <a:pt x="338902" y="63403"/>
                  </a:moveTo>
                  <a:cubicBezTo>
                    <a:pt x="338902" y="92048"/>
                    <a:pt x="268740" y="115542"/>
                    <a:pt x="171865" y="115542"/>
                  </a:cubicBezTo>
                  <a:cubicBezTo>
                    <a:pt x="74990" y="115542"/>
                    <a:pt x="4828" y="92369"/>
                    <a:pt x="4828" y="63403"/>
                  </a:cubicBezTo>
                  <a:cubicBezTo>
                    <a:pt x="4828" y="34437"/>
                    <a:pt x="75312" y="4828"/>
                    <a:pt x="171865" y="4828"/>
                  </a:cubicBezTo>
                  <a:cubicBezTo>
                    <a:pt x="268418" y="4828"/>
                    <a:pt x="338902" y="34437"/>
                    <a:pt x="338902" y="63403"/>
                  </a:cubicBezTo>
                  <a:close/>
                </a:path>
              </a:pathLst>
            </a:custGeom>
            <a:solidFill>
              <a:schemeClr val="accen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84" name="Google Shape;384;p21"/>
            <p:cNvSpPr/>
            <p:nvPr/>
          </p:nvSpPr>
          <p:spPr>
            <a:xfrm>
              <a:off x="5551642" y="1818471"/>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solidFill>
              <a:schemeClr val="accen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sp>
          <p:nvSpPr>
            <p:cNvPr id="385" name="Google Shape;385;p21"/>
            <p:cNvSpPr/>
            <p:nvPr/>
          </p:nvSpPr>
          <p:spPr>
            <a:xfrm>
              <a:off x="5551642" y="1920817"/>
              <a:ext cx="341155" cy="61150"/>
            </a:xfrm>
            <a:custGeom>
              <a:avLst/>
              <a:gdLst/>
              <a:ahLst/>
              <a:cxnLst/>
              <a:rect l="l" t="t" r="r" b="b"/>
              <a:pathLst>
                <a:path w="341155" h="61150" extrusionOk="0">
                  <a:moveTo>
                    <a:pt x="338902" y="4828"/>
                  </a:moveTo>
                  <a:cubicBezTo>
                    <a:pt x="338902" y="33472"/>
                    <a:pt x="268740" y="56966"/>
                    <a:pt x="171865" y="56966"/>
                  </a:cubicBezTo>
                  <a:cubicBezTo>
                    <a:pt x="74990" y="56966"/>
                    <a:pt x="4828" y="33794"/>
                    <a:pt x="4828" y="4828"/>
                  </a:cubicBezTo>
                </a:path>
              </a:pathLst>
            </a:custGeom>
            <a:solidFill>
              <a:schemeClr val="accen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2300"/>
                <a:buFont typeface="Play"/>
                <a:buNone/>
              </a:pPr>
              <a:endParaRPr sz="2300" b="0" i="0" u="none" strike="noStrike" cap="none">
                <a:solidFill>
                  <a:schemeClr val="dk1"/>
                </a:solidFill>
                <a:latin typeface="Century Gothic"/>
                <a:ea typeface="Century Gothic"/>
                <a:cs typeface="Century Gothic"/>
                <a:sym typeface="Century Gothic"/>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txBox="1">
            <a:spLocks noGrp="1"/>
          </p:cNvSpPr>
          <p:nvPr>
            <p:ph type="title"/>
          </p:nvPr>
        </p:nvSpPr>
        <p:spPr>
          <a:xfrm>
            <a:off x="609600" y="3124301"/>
            <a:ext cx="9194800" cy="609398"/>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lt1"/>
              </a:buClr>
              <a:buSzPts val="4400"/>
              <a:buFont typeface="Play"/>
              <a:buNone/>
            </a:pPr>
            <a:r>
              <a:rPr lang="en-US" dirty="0"/>
              <a:t>Memory Efficiency</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B79F90BF-EEF9-F3F8-93EA-46ADBA0391FB}"/>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71F61A0A-18A6-3EE5-917A-1CE659711E55}"/>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AA2EAE32-E41F-2A49-9506-49DFCB61C474}"/>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grpSp>
        <p:nvGrpSpPr>
          <p:cNvPr id="55" name="Group 54">
            <a:extLst>
              <a:ext uri="{FF2B5EF4-FFF2-40B4-BE49-F238E27FC236}">
                <a16:creationId xmlns:a16="http://schemas.microsoft.com/office/drawing/2014/main" id="{0B89ED70-89CC-7D35-0BBE-EA19D14A4C89}"/>
              </a:ext>
            </a:extLst>
          </p:cNvPr>
          <p:cNvGrpSpPr/>
          <p:nvPr/>
        </p:nvGrpSpPr>
        <p:grpSpPr>
          <a:xfrm>
            <a:off x="4315790" y="1472707"/>
            <a:ext cx="3273590" cy="866297"/>
            <a:chOff x="4315790" y="1472707"/>
            <a:chExt cx="3273590" cy="866297"/>
          </a:xfrm>
        </p:grpSpPr>
        <p:sp>
          <p:nvSpPr>
            <p:cNvPr id="11" name="Rectangle 10">
              <a:extLst>
                <a:ext uri="{FF2B5EF4-FFF2-40B4-BE49-F238E27FC236}">
                  <a16:creationId xmlns:a16="http://schemas.microsoft.com/office/drawing/2014/main" id="{53F98DAF-AD23-357A-10B4-97B0AE3440F9}"/>
                </a:ext>
              </a:extLst>
            </p:cNvPr>
            <p:cNvSpPr/>
            <p:nvPr/>
          </p:nvSpPr>
          <p:spPr>
            <a:xfrm>
              <a:off x="4315791" y="1472707"/>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sp>
          <p:nvSpPr>
            <p:cNvPr id="12" name="Rectangle 11">
              <a:extLst>
                <a:ext uri="{FF2B5EF4-FFF2-40B4-BE49-F238E27FC236}">
                  <a16:creationId xmlns:a16="http://schemas.microsoft.com/office/drawing/2014/main" id="{C205C24B-A537-8003-DFD5-F19181BDBBD5}"/>
                </a:ext>
              </a:extLst>
            </p:cNvPr>
            <p:cNvSpPr/>
            <p:nvPr/>
          </p:nvSpPr>
          <p:spPr>
            <a:xfrm>
              <a:off x="4315790"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000</a:t>
              </a:r>
            </a:p>
          </p:txBody>
        </p:sp>
        <p:sp>
          <p:nvSpPr>
            <p:cNvPr id="13" name="Rectangle 12">
              <a:extLst>
                <a:ext uri="{FF2B5EF4-FFF2-40B4-BE49-F238E27FC236}">
                  <a16:creationId xmlns:a16="http://schemas.microsoft.com/office/drawing/2014/main" id="{6DB4CF3B-C087-0C71-5348-5E825A657496}"/>
                </a:ext>
              </a:extLst>
            </p:cNvPr>
            <p:cNvSpPr/>
            <p:nvPr/>
          </p:nvSpPr>
          <p:spPr>
            <a:xfrm>
              <a:off x="4725486"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001</a:t>
              </a:r>
            </a:p>
          </p:txBody>
        </p:sp>
        <p:sp>
          <p:nvSpPr>
            <p:cNvPr id="14" name="Rectangle 13">
              <a:extLst>
                <a:ext uri="{FF2B5EF4-FFF2-40B4-BE49-F238E27FC236}">
                  <a16:creationId xmlns:a16="http://schemas.microsoft.com/office/drawing/2014/main" id="{64AF8077-5543-C267-2CB6-CA521811BEF3}"/>
                </a:ext>
              </a:extLst>
            </p:cNvPr>
            <p:cNvSpPr/>
            <p:nvPr/>
          </p:nvSpPr>
          <p:spPr>
            <a:xfrm>
              <a:off x="5133856"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010</a:t>
              </a:r>
            </a:p>
          </p:txBody>
        </p:sp>
        <p:sp>
          <p:nvSpPr>
            <p:cNvPr id="15" name="Rectangle 14">
              <a:extLst>
                <a:ext uri="{FF2B5EF4-FFF2-40B4-BE49-F238E27FC236}">
                  <a16:creationId xmlns:a16="http://schemas.microsoft.com/office/drawing/2014/main" id="{DDD2A410-6139-769B-8B5A-A9CBE4C8C5A4}"/>
                </a:ext>
              </a:extLst>
            </p:cNvPr>
            <p:cNvSpPr/>
            <p:nvPr/>
          </p:nvSpPr>
          <p:spPr>
            <a:xfrm>
              <a:off x="554355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a:t>
              </a:r>
            </a:p>
          </p:txBody>
        </p:sp>
        <p:sp>
          <p:nvSpPr>
            <p:cNvPr id="16" name="Rectangle 15">
              <a:extLst>
                <a:ext uri="{FF2B5EF4-FFF2-40B4-BE49-F238E27FC236}">
                  <a16:creationId xmlns:a16="http://schemas.microsoft.com/office/drawing/2014/main" id="{230CE467-F8F8-9B20-DDBB-638CB2CBD889}"/>
                </a:ext>
              </a:extLst>
            </p:cNvPr>
            <p:cNvSpPr/>
            <p:nvPr/>
          </p:nvSpPr>
          <p:spPr>
            <a:xfrm>
              <a:off x="595192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17" name="Rectangle 16">
              <a:extLst>
                <a:ext uri="{FF2B5EF4-FFF2-40B4-BE49-F238E27FC236}">
                  <a16:creationId xmlns:a16="http://schemas.microsoft.com/office/drawing/2014/main" id="{3D5B3A23-D1ED-5CD4-A5EB-E1BEC4145CF1}"/>
                </a:ext>
              </a:extLst>
            </p:cNvPr>
            <p:cNvSpPr/>
            <p:nvPr/>
          </p:nvSpPr>
          <p:spPr>
            <a:xfrm>
              <a:off x="6361618"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101</a:t>
              </a:r>
            </a:p>
          </p:txBody>
        </p:sp>
        <p:sp>
          <p:nvSpPr>
            <p:cNvPr id="18" name="Rectangle 17">
              <a:extLst>
                <a:ext uri="{FF2B5EF4-FFF2-40B4-BE49-F238E27FC236}">
                  <a16:creationId xmlns:a16="http://schemas.microsoft.com/office/drawing/2014/main" id="{943F410A-D4E9-559E-726D-74EDA880DBFD}"/>
                </a:ext>
              </a:extLst>
            </p:cNvPr>
            <p:cNvSpPr/>
            <p:nvPr/>
          </p:nvSpPr>
          <p:spPr>
            <a:xfrm>
              <a:off x="6769988"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110</a:t>
              </a:r>
            </a:p>
          </p:txBody>
        </p:sp>
        <p:sp>
          <p:nvSpPr>
            <p:cNvPr id="19" name="Rectangle 18">
              <a:extLst>
                <a:ext uri="{FF2B5EF4-FFF2-40B4-BE49-F238E27FC236}">
                  <a16:creationId xmlns:a16="http://schemas.microsoft.com/office/drawing/2014/main" id="{8F2F5C80-D6C2-4E4E-38D0-3376723E394B}"/>
                </a:ext>
              </a:extLst>
            </p:cNvPr>
            <p:cNvSpPr/>
            <p:nvPr/>
          </p:nvSpPr>
          <p:spPr>
            <a:xfrm>
              <a:off x="7179684"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cxnSp>
        <p:nvCxnSpPr>
          <p:cNvPr id="20" name="Straight Arrow Connector 19">
            <a:extLst>
              <a:ext uri="{FF2B5EF4-FFF2-40B4-BE49-F238E27FC236}">
                <a16:creationId xmlns:a16="http://schemas.microsoft.com/office/drawing/2014/main" id="{481206F2-4744-53A6-D8CE-7AB06CD1E4D8}"/>
              </a:ext>
            </a:extLst>
          </p:cNvPr>
          <p:cNvCxnSpPr>
            <a:cxnSpLocks/>
            <a:stCxn id="13" idx="2"/>
          </p:cNvCxnSpPr>
          <p:nvPr/>
        </p:nvCxnSpPr>
        <p:spPr>
          <a:xfrm>
            <a:off x="4930334" y="2339003"/>
            <a:ext cx="0" cy="848404"/>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1730DD21-92D6-6372-6DBA-926850622D91}"/>
              </a:ext>
            </a:extLst>
          </p:cNvPr>
          <p:cNvSpPr/>
          <p:nvPr/>
        </p:nvSpPr>
        <p:spPr>
          <a:xfrm>
            <a:off x="4315791" y="3187406"/>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730B7FE0-E276-1E7B-568B-1BF66CB4541B}"/>
              </a:ext>
            </a:extLst>
          </p:cNvPr>
          <p:cNvSpPr/>
          <p:nvPr/>
        </p:nvSpPr>
        <p:spPr>
          <a:xfrm>
            <a:off x="4315790" y="3620555"/>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a:t>
            </a:r>
          </a:p>
          <a:p>
            <a:pPr algn="ctr"/>
            <a:r>
              <a:rPr lang="en-US" dirty="0">
                <a:solidFill>
                  <a:schemeClr val="tx1"/>
                </a:solidFill>
              </a:rPr>
              <a:t>Value</a:t>
            </a:r>
          </a:p>
          <a:p>
            <a:pPr algn="ctr"/>
            <a:r>
              <a:rPr lang="en-US" dirty="0">
                <a:solidFill>
                  <a:schemeClr val="tx1"/>
                </a:solidFill>
              </a:rPr>
              <a:t>Next</a:t>
            </a:r>
          </a:p>
        </p:txBody>
      </p:sp>
      <p:cxnSp>
        <p:nvCxnSpPr>
          <p:cNvPr id="29" name="Elbow Connector 28">
            <a:extLst>
              <a:ext uri="{FF2B5EF4-FFF2-40B4-BE49-F238E27FC236}">
                <a16:creationId xmlns:a16="http://schemas.microsoft.com/office/drawing/2014/main" id="{860383B9-607D-9CCF-FC95-5311ACB41B0A}"/>
              </a:ext>
            </a:extLst>
          </p:cNvPr>
          <p:cNvCxnSpPr>
            <a:cxnSpLocks/>
          </p:cNvCxnSpPr>
          <p:nvPr/>
        </p:nvCxnSpPr>
        <p:spPr>
          <a:xfrm flipV="1">
            <a:off x="5256184" y="3117067"/>
            <a:ext cx="1837845" cy="719437"/>
          </a:xfrm>
          <a:prstGeom prst="bentConnector3">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9F1041E1-5D2D-49BC-4942-0A617BC42DC0}"/>
              </a:ext>
            </a:extLst>
          </p:cNvPr>
          <p:cNvCxnSpPr>
            <a:cxnSpLocks/>
          </p:cNvCxnSpPr>
          <p:nvPr/>
        </p:nvCxnSpPr>
        <p:spPr>
          <a:xfrm rot="5400000">
            <a:off x="4770302" y="4416224"/>
            <a:ext cx="645914" cy="325849"/>
          </a:xfrm>
          <a:prstGeom prst="bentConnector3">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545E1788-453B-317E-7963-919E8C776574}"/>
              </a:ext>
            </a:extLst>
          </p:cNvPr>
          <p:cNvGrpSpPr/>
          <p:nvPr/>
        </p:nvGrpSpPr>
        <p:grpSpPr>
          <a:xfrm>
            <a:off x="4315790" y="4902105"/>
            <a:ext cx="1287068" cy="1282551"/>
            <a:chOff x="4315790" y="4902105"/>
            <a:chExt cx="1287068" cy="1282551"/>
          </a:xfrm>
        </p:grpSpPr>
        <p:sp>
          <p:nvSpPr>
            <p:cNvPr id="35" name="Rectangle 34">
              <a:extLst>
                <a:ext uri="{FF2B5EF4-FFF2-40B4-BE49-F238E27FC236}">
                  <a16:creationId xmlns:a16="http://schemas.microsoft.com/office/drawing/2014/main" id="{A7D35EAB-2AC3-233F-B3F0-55CE2D918EC7}"/>
                </a:ext>
              </a:extLst>
            </p:cNvPr>
            <p:cNvSpPr/>
            <p:nvPr/>
          </p:nvSpPr>
          <p:spPr>
            <a:xfrm>
              <a:off x="4315791" y="4902105"/>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36" name="Rectangle 35">
              <a:extLst>
                <a:ext uri="{FF2B5EF4-FFF2-40B4-BE49-F238E27FC236}">
                  <a16:creationId xmlns:a16="http://schemas.microsoft.com/office/drawing/2014/main" id="{948007BB-5F82-39FE-35AE-4E5715C1665E}"/>
                </a:ext>
              </a:extLst>
            </p:cNvPr>
            <p:cNvSpPr/>
            <p:nvPr/>
          </p:nvSpPr>
          <p:spPr>
            <a:xfrm>
              <a:off x="4315790" y="5335254"/>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a:t>
              </a:r>
            </a:p>
            <a:p>
              <a:pPr algn="ctr"/>
              <a:r>
                <a:rPr lang="en-US" dirty="0">
                  <a:solidFill>
                    <a:schemeClr val="tx1"/>
                  </a:solidFill>
                </a:rPr>
                <a:t>Value</a:t>
              </a:r>
            </a:p>
            <a:p>
              <a:pPr algn="ctr"/>
              <a:r>
                <a:rPr lang="en-US" dirty="0">
                  <a:solidFill>
                    <a:schemeClr val="tx1"/>
                  </a:solidFill>
                </a:rPr>
                <a:t>Next</a:t>
              </a:r>
            </a:p>
          </p:txBody>
        </p:sp>
      </p:grpSp>
      <p:cxnSp>
        <p:nvCxnSpPr>
          <p:cNvPr id="38" name="Elbow Connector 37">
            <a:extLst>
              <a:ext uri="{FF2B5EF4-FFF2-40B4-BE49-F238E27FC236}">
                <a16:creationId xmlns:a16="http://schemas.microsoft.com/office/drawing/2014/main" id="{B28472CB-B43E-768D-0C2A-504FA72F3BFD}"/>
              </a:ext>
            </a:extLst>
          </p:cNvPr>
          <p:cNvCxnSpPr>
            <a:cxnSpLocks/>
          </p:cNvCxnSpPr>
          <p:nvPr/>
        </p:nvCxnSpPr>
        <p:spPr>
          <a:xfrm flipV="1">
            <a:off x="2570344" y="1694260"/>
            <a:ext cx="1739481" cy="149314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2AF00A5E-DBDD-37CA-1C8B-4728F10BC0B1}"/>
              </a:ext>
            </a:extLst>
          </p:cNvPr>
          <p:cNvCxnSpPr>
            <a:cxnSpLocks/>
          </p:cNvCxnSpPr>
          <p:nvPr/>
        </p:nvCxnSpPr>
        <p:spPr>
          <a:xfrm>
            <a:off x="5271259" y="4053702"/>
            <a:ext cx="1754912" cy="534979"/>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821F6CDA-BA3B-B122-212F-44C9D8DB17ED}"/>
              </a:ext>
            </a:extLst>
          </p:cNvPr>
          <p:cNvGrpSpPr/>
          <p:nvPr/>
        </p:nvGrpSpPr>
        <p:grpSpPr>
          <a:xfrm>
            <a:off x="7041246" y="4402627"/>
            <a:ext cx="1287068" cy="1282551"/>
            <a:chOff x="609600" y="3945834"/>
            <a:chExt cx="1287068" cy="1282551"/>
          </a:xfrm>
        </p:grpSpPr>
        <p:sp>
          <p:nvSpPr>
            <p:cNvPr id="46" name="Rectangle 45">
              <a:extLst>
                <a:ext uri="{FF2B5EF4-FFF2-40B4-BE49-F238E27FC236}">
                  <a16:creationId xmlns:a16="http://schemas.microsoft.com/office/drawing/2014/main" id="{B0B314BA-DB56-CF64-2C18-86D0520B627B}"/>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Valkey Object</a:t>
              </a:r>
            </a:p>
          </p:txBody>
        </p:sp>
        <p:sp>
          <p:nvSpPr>
            <p:cNvPr id="47" name="Rectangle 46">
              <a:extLst>
                <a:ext uri="{FF2B5EF4-FFF2-40B4-BE49-F238E27FC236}">
                  <a16:creationId xmlns:a16="http://schemas.microsoft.com/office/drawing/2014/main" id="{592A70BF-F7C0-63DD-74E6-5225F9BBD598}"/>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Value</a:t>
              </a:r>
            </a:p>
          </p:txBody>
        </p:sp>
      </p:grpSp>
      <p:sp>
        <p:nvSpPr>
          <p:cNvPr id="50" name="Rectangle 49">
            <a:extLst>
              <a:ext uri="{FF2B5EF4-FFF2-40B4-BE49-F238E27FC236}">
                <a16:creationId xmlns:a16="http://schemas.microsoft.com/office/drawing/2014/main" id="{509391A1-BA76-DF1F-0077-DE6B9A3A8A06}"/>
              </a:ext>
            </a:extLst>
          </p:cNvPr>
          <p:cNvSpPr/>
          <p:nvPr/>
        </p:nvSpPr>
        <p:spPr>
          <a:xfrm>
            <a:off x="7100203" y="2900493"/>
            <a:ext cx="1232747"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p:txBody>
      </p:sp>
      <p:cxnSp>
        <p:nvCxnSpPr>
          <p:cNvPr id="51" name="Elbow Connector 50">
            <a:extLst>
              <a:ext uri="{FF2B5EF4-FFF2-40B4-BE49-F238E27FC236}">
                <a16:creationId xmlns:a16="http://schemas.microsoft.com/office/drawing/2014/main" id="{6E42DF07-6035-CD4A-02C5-38F3BE8EFAF9}"/>
              </a:ext>
            </a:extLst>
          </p:cNvPr>
          <p:cNvCxnSpPr>
            <a:cxnSpLocks/>
          </p:cNvCxnSpPr>
          <p:nvPr/>
        </p:nvCxnSpPr>
        <p:spPr>
          <a:xfrm flipV="1">
            <a:off x="8011790" y="4135137"/>
            <a:ext cx="1470140" cy="1255780"/>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56F6017E-3B87-0F83-394C-0324512ACE3E}"/>
              </a:ext>
            </a:extLst>
          </p:cNvPr>
          <p:cNvSpPr/>
          <p:nvPr/>
        </p:nvSpPr>
        <p:spPr>
          <a:xfrm>
            <a:off x="9481930" y="3918563"/>
            <a:ext cx="1232747"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C535A78-2CE0-094F-AC60-EA5847161944}"/>
            </a:ext>
          </a:extLst>
        </p:cNvPr>
        <p:cNvGrpSpPr/>
        <p:nvPr/>
      </p:nvGrpSpPr>
      <p:grpSpPr>
        <a:xfrm>
          <a:off x="0" y="0"/>
          <a:ext cx="0" cy="0"/>
          <a:chOff x="0" y="0"/>
          <a:chExt cx="0" cy="0"/>
        </a:xfrm>
      </p:grpSpPr>
      <p:sp>
        <p:nvSpPr>
          <p:cNvPr id="241" name="Google Shape;241;p13">
            <a:extLst>
              <a:ext uri="{FF2B5EF4-FFF2-40B4-BE49-F238E27FC236}">
                <a16:creationId xmlns:a16="http://schemas.microsoft.com/office/drawing/2014/main" id="{07E3A5EC-6988-2820-9EED-D1464B5BB3BA}"/>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E8F76CA6-DF58-71F1-5C4D-7AD22E8CD1A0}"/>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926C5995-8DC5-150D-4D7B-9AE665E38673}"/>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C0F541E2-DC69-CBBE-414A-26ADC2F67BA4}"/>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sp>
        <p:nvSpPr>
          <p:cNvPr id="11" name="Rectangle 10">
            <a:extLst>
              <a:ext uri="{FF2B5EF4-FFF2-40B4-BE49-F238E27FC236}">
                <a16:creationId xmlns:a16="http://schemas.microsoft.com/office/drawing/2014/main" id="{EC856CD8-F38B-5C3C-638F-2FBEB2EE7EDE}"/>
              </a:ext>
            </a:extLst>
          </p:cNvPr>
          <p:cNvSpPr/>
          <p:nvPr/>
        </p:nvSpPr>
        <p:spPr>
          <a:xfrm>
            <a:off x="4315791" y="1472707"/>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cxnSp>
        <p:nvCxnSpPr>
          <p:cNvPr id="20" name="Straight Arrow Connector 19">
            <a:extLst>
              <a:ext uri="{FF2B5EF4-FFF2-40B4-BE49-F238E27FC236}">
                <a16:creationId xmlns:a16="http://schemas.microsoft.com/office/drawing/2014/main" id="{104DA82B-F49D-944B-E0DE-51459CEF29DD}"/>
              </a:ext>
            </a:extLst>
          </p:cNvPr>
          <p:cNvCxnSpPr>
            <a:cxnSpLocks/>
          </p:cNvCxnSpPr>
          <p:nvPr/>
        </p:nvCxnSpPr>
        <p:spPr>
          <a:xfrm>
            <a:off x="4930334" y="2339003"/>
            <a:ext cx="0" cy="848404"/>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C1566235-7DE0-FA15-761D-516EE2989AE1}"/>
              </a:ext>
            </a:extLst>
          </p:cNvPr>
          <p:cNvSpPr/>
          <p:nvPr/>
        </p:nvSpPr>
        <p:spPr>
          <a:xfrm>
            <a:off x="4315791" y="3187406"/>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D244BDE2-3F4F-1623-8AA6-1493757FB6C4}"/>
              </a:ext>
            </a:extLst>
          </p:cNvPr>
          <p:cNvSpPr/>
          <p:nvPr/>
        </p:nvSpPr>
        <p:spPr>
          <a:xfrm>
            <a:off x="4315790" y="3620555"/>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a:p>
            <a:pPr algn="ctr"/>
            <a:r>
              <a:rPr lang="en-US" dirty="0">
                <a:solidFill>
                  <a:schemeClr val="tx1"/>
                </a:solidFill>
              </a:rPr>
              <a:t>Value</a:t>
            </a:r>
          </a:p>
          <a:p>
            <a:pPr algn="ctr"/>
            <a:r>
              <a:rPr lang="en-US" dirty="0">
                <a:solidFill>
                  <a:schemeClr val="tx1"/>
                </a:solidFill>
              </a:rPr>
              <a:t>Next</a:t>
            </a:r>
          </a:p>
        </p:txBody>
      </p:sp>
      <p:cxnSp>
        <p:nvCxnSpPr>
          <p:cNvPr id="30" name="Elbow Connector 29">
            <a:extLst>
              <a:ext uri="{FF2B5EF4-FFF2-40B4-BE49-F238E27FC236}">
                <a16:creationId xmlns:a16="http://schemas.microsoft.com/office/drawing/2014/main" id="{F4BC1A2E-57C6-7ED6-D6CE-C53E2933A865}"/>
              </a:ext>
            </a:extLst>
          </p:cNvPr>
          <p:cNvCxnSpPr>
            <a:cxnSpLocks/>
          </p:cNvCxnSpPr>
          <p:nvPr/>
        </p:nvCxnSpPr>
        <p:spPr>
          <a:xfrm rot="5400000">
            <a:off x="4770302" y="4416224"/>
            <a:ext cx="645914" cy="325849"/>
          </a:xfrm>
          <a:prstGeom prst="bentConnector3">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76679ADB-3471-5A33-74CF-1996F89A8B19}"/>
              </a:ext>
            </a:extLst>
          </p:cNvPr>
          <p:cNvGrpSpPr/>
          <p:nvPr/>
        </p:nvGrpSpPr>
        <p:grpSpPr>
          <a:xfrm>
            <a:off x="4315790" y="4902105"/>
            <a:ext cx="1287068" cy="1282551"/>
            <a:chOff x="4315790" y="4902105"/>
            <a:chExt cx="1287068" cy="1282551"/>
          </a:xfrm>
        </p:grpSpPr>
        <p:sp>
          <p:nvSpPr>
            <p:cNvPr id="35" name="Rectangle 34">
              <a:extLst>
                <a:ext uri="{FF2B5EF4-FFF2-40B4-BE49-F238E27FC236}">
                  <a16:creationId xmlns:a16="http://schemas.microsoft.com/office/drawing/2014/main" id="{C80B5543-DAC5-12A0-6A4D-239961CBC2BD}"/>
                </a:ext>
              </a:extLst>
            </p:cNvPr>
            <p:cNvSpPr/>
            <p:nvPr/>
          </p:nvSpPr>
          <p:spPr>
            <a:xfrm>
              <a:off x="4315791" y="4902105"/>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36" name="Rectangle 35">
              <a:extLst>
                <a:ext uri="{FF2B5EF4-FFF2-40B4-BE49-F238E27FC236}">
                  <a16:creationId xmlns:a16="http://schemas.microsoft.com/office/drawing/2014/main" id="{948AB75B-0783-8268-FF2E-1833084C7AD5}"/>
                </a:ext>
              </a:extLst>
            </p:cNvPr>
            <p:cNvSpPr/>
            <p:nvPr/>
          </p:nvSpPr>
          <p:spPr>
            <a:xfrm>
              <a:off x="4315790" y="5335254"/>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a:t>
              </a:r>
            </a:p>
            <a:p>
              <a:pPr algn="ctr"/>
              <a:r>
                <a:rPr lang="en-US" dirty="0">
                  <a:solidFill>
                    <a:schemeClr val="tx1"/>
                  </a:solidFill>
                </a:rPr>
                <a:t>Value</a:t>
              </a:r>
            </a:p>
            <a:p>
              <a:pPr algn="ctr"/>
              <a:r>
                <a:rPr lang="en-US" dirty="0">
                  <a:solidFill>
                    <a:schemeClr val="tx1"/>
                  </a:solidFill>
                </a:rPr>
                <a:t>Next</a:t>
              </a:r>
            </a:p>
          </p:txBody>
        </p:sp>
      </p:grpSp>
      <p:cxnSp>
        <p:nvCxnSpPr>
          <p:cNvPr id="38" name="Elbow Connector 37">
            <a:extLst>
              <a:ext uri="{FF2B5EF4-FFF2-40B4-BE49-F238E27FC236}">
                <a16:creationId xmlns:a16="http://schemas.microsoft.com/office/drawing/2014/main" id="{E435E190-968F-D4E4-B3D4-E982A0CA3B92}"/>
              </a:ext>
            </a:extLst>
          </p:cNvPr>
          <p:cNvCxnSpPr>
            <a:cxnSpLocks/>
          </p:cNvCxnSpPr>
          <p:nvPr/>
        </p:nvCxnSpPr>
        <p:spPr>
          <a:xfrm flipV="1">
            <a:off x="2570344" y="1694260"/>
            <a:ext cx="1739481" cy="149314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8BFDC9CA-7B12-1963-CB0D-47689F92CDFD}"/>
              </a:ext>
            </a:extLst>
          </p:cNvPr>
          <p:cNvCxnSpPr>
            <a:cxnSpLocks/>
          </p:cNvCxnSpPr>
          <p:nvPr/>
        </p:nvCxnSpPr>
        <p:spPr>
          <a:xfrm>
            <a:off x="5271259" y="4053702"/>
            <a:ext cx="1754912" cy="534979"/>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E2FEFC50-70D1-0EB6-B688-635EDDD592D3}"/>
              </a:ext>
            </a:extLst>
          </p:cNvPr>
          <p:cNvGrpSpPr/>
          <p:nvPr/>
        </p:nvGrpSpPr>
        <p:grpSpPr>
          <a:xfrm>
            <a:off x="7041246" y="4402627"/>
            <a:ext cx="1287068" cy="1282551"/>
            <a:chOff x="609600" y="3945834"/>
            <a:chExt cx="1287068" cy="1282551"/>
          </a:xfrm>
        </p:grpSpPr>
        <p:sp>
          <p:nvSpPr>
            <p:cNvPr id="46" name="Rectangle 45">
              <a:extLst>
                <a:ext uri="{FF2B5EF4-FFF2-40B4-BE49-F238E27FC236}">
                  <a16:creationId xmlns:a16="http://schemas.microsoft.com/office/drawing/2014/main" id="{7B862094-FF52-98F4-9D23-4A391242F721}"/>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Valkey Object</a:t>
              </a:r>
            </a:p>
          </p:txBody>
        </p:sp>
        <p:sp>
          <p:nvSpPr>
            <p:cNvPr id="47" name="Rectangle 46">
              <a:extLst>
                <a:ext uri="{FF2B5EF4-FFF2-40B4-BE49-F238E27FC236}">
                  <a16:creationId xmlns:a16="http://schemas.microsoft.com/office/drawing/2014/main" id="{A7A84ECE-7AAB-ABB1-5775-325DE31502AE}"/>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Value</a:t>
              </a:r>
            </a:p>
          </p:txBody>
        </p:sp>
      </p:grpSp>
      <p:cxnSp>
        <p:nvCxnSpPr>
          <p:cNvPr id="51" name="Elbow Connector 50">
            <a:extLst>
              <a:ext uri="{FF2B5EF4-FFF2-40B4-BE49-F238E27FC236}">
                <a16:creationId xmlns:a16="http://schemas.microsoft.com/office/drawing/2014/main" id="{8EA5EB62-9958-B392-8814-406880D3F920}"/>
              </a:ext>
            </a:extLst>
          </p:cNvPr>
          <p:cNvCxnSpPr>
            <a:cxnSpLocks/>
          </p:cNvCxnSpPr>
          <p:nvPr/>
        </p:nvCxnSpPr>
        <p:spPr>
          <a:xfrm flipV="1">
            <a:off x="8011790" y="4135137"/>
            <a:ext cx="1470140" cy="1255780"/>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62B13AF0-1B5B-FC46-6602-B6AE50D03D51}"/>
              </a:ext>
            </a:extLst>
          </p:cNvPr>
          <p:cNvSpPr/>
          <p:nvPr/>
        </p:nvSpPr>
        <p:spPr>
          <a:xfrm>
            <a:off x="9481930" y="3918563"/>
            <a:ext cx="1232747"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a:t>
            </a:r>
          </a:p>
        </p:txBody>
      </p:sp>
      <p:cxnSp>
        <p:nvCxnSpPr>
          <p:cNvPr id="2" name="Elbow Connector 1">
            <a:extLst>
              <a:ext uri="{FF2B5EF4-FFF2-40B4-BE49-F238E27FC236}">
                <a16:creationId xmlns:a16="http://schemas.microsoft.com/office/drawing/2014/main" id="{6A933AF8-1A54-DB68-DD46-29046FE0F260}"/>
              </a:ext>
            </a:extLst>
          </p:cNvPr>
          <p:cNvCxnSpPr>
            <a:cxnSpLocks/>
          </p:cNvCxnSpPr>
          <p:nvPr/>
        </p:nvCxnSpPr>
        <p:spPr>
          <a:xfrm flipV="1">
            <a:off x="5271259" y="3117067"/>
            <a:ext cx="1822770" cy="729376"/>
          </a:xfrm>
          <a:prstGeom prst="bentConnector3">
            <a:avLst/>
          </a:prstGeom>
          <a:ln w="19050">
            <a:solidFill>
              <a:srgbClr val="000000">
                <a:alpha val="20000"/>
              </a:srgb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160E5B4-336C-0525-0B1D-2E6A1B85D759}"/>
              </a:ext>
            </a:extLst>
          </p:cNvPr>
          <p:cNvSpPr/>
          <p:nvPr/>
        </p:nvSpPr>
        <p:spPr>
          <a:xfrm>
            <a:off x="7100203" y="2900493"/>
            <a:ext cx="1232747" cy="433148"/>
          </a:xfrm>
          <a:prstGeom prst="rect">
            <a:avLst/>
          </a:prstGeom>
          <a:solidFill>
            <a:schemeClr val="bg1"/>
          </a:solidFill>
          <a:ln>
            <a:solidFill>
              <a:srgbClr val="00000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65000"/>
                </a:schemeClr>
              </a:solidFill>
            </a:endParaRPr>
          </a:p>
        </p:txBody>
      </p:sp>
      <p:sp>
        <p:nvSpPr>
          <p:cNvPr id="7" name="Rectangle 6">
            <a:extLst>
              <a:ext uri="{FF2B5EF4-FFF2-40B4-BE49-F238E27FC236}">
                <a16:creationId xmlns:a16="http://schemas.microsoft.com/office/drawing/2014/main" id="{FEBE0E1C-7B66-95D3-AFB5-107B54EE6733}"/>
              </a:ext>
            </a:extLst>
          </p:cNvPr>
          <p:cNvSpPr/>
          <p:nvPr/>
        </p:nvSpPr>
        <p:spPr>
          <a:xfrm>
            <a:off x="4315790"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000</a:t>
            </a:r>
          </a:p>
        </p:txBody>
      </p:sp>
      <p:sp>
        <p:nvSpPr>
          <p:cNvPr id="8" name="Rectangle 7">
            <a:extLst>
              <a:ext uri="{FF2B5EF4-FFF2-40B4-BE49-F238E27FC236}">
                <a16:creationId xmlns:a16="http://schemas.microsoft.com/office/drawing/2014/main" id="{EB085C63-3A9F-3B8A-CED2-9B0EB9FA6D26}"/>
              </a:ext>
            </a:extLst>
          </p:cNvPr>
          <p:cNvSpPr/>
          <p:nvPr/>
        </p:nvSpPr>
        <p:spPr>
          <a:xfrm>
            <a:off x="4725486"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001</a:t>
            </a:r>
          </a:p>
        </p:txBody>
      </p:sp>
      <p:sp>
        <p:nvSpPr>
          <p:cNvPr id="9" name="Rectangle 8">
            <a:extLst>
              <a:ext uri="{FF2B5EF4-FFF2-40B4-BE49-F238E27FC236}">
                <a16:creationId xmlns:a16="http://schemas.microsoft.com/office/drawing/2014/main" id="{F3E88D0A-647A-B64A-4CC0-CDDAEAB74413}"/>
              </a:ext>
            </a:extLst>
          </p:cNvPr>
          <p:cNvSpPr/>
          <p:nvPr/>
        </p:nvSpPr>
        <p:spPr>
          <a:xfrm>
            <a:off x="5133856"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010</a:t>
            </a:r>
          </a:p>
        </p:txBody>
      </p:sp>
      <p:sp>
        <p:nvSpPr>
          <p:cNvPr id="10" name="Rectangle 9">
            <a:extLst>
              <a:ext uri="{FF2B5EF4-FFF2-40B4-BE49-F238E27FC236}">
                <a16:creationId xmlns:a16="http://schemas.microsoft.com/office/drawing/2014/main" id="{96D73F94-9DB1-7CF6-0896-70C4DED90DCA}"/>
              </a:ext>
            </a:extLst>
          </p:cNvPr>
          <p:cNvSpPr/>
          <p:nvPr/>
        </p:nvSpPr>
        <p:spPr>
          <a:xfrm>
            <a:off x="554355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a:t>
            </a:r>
          </a:p>
        </p:txBody>
      </p:sp>
      <p:sp>
        <p:nvSpPr>
          <p:cNvPr id="23" name="Rectangle 22">
            <a:extLst>
              <a:ext uri="{FF2B5EF4-FFF2-40B4-BE49-F238E27FC236}">
                <a16:creationId xmlns:a16="http://schemas.microsoft.com/office/drawing/2014/main" id="{F4AA1B2C-3DA8-1670-8C8D-689E9B838B2A}"/>
              </a:ext>
            </a:extLst>
          </p:cNvPr>
          <p:cNvSpPr/>
          <p:nvPr/>
        </p:nvSpPr>
        <p:spPr>
          <a:xfrm>
            <a:off x="595192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24" name="Rectangle 23">
            <a:extLst>
              <a:ext uri="{FF2B5EF4-FFF2-40B4-BE49-F238E27FC236}">
                <a16:creationId xmlns:a16="http://schemas.microsoft.com/office/drawing/2014/main" id="{4BF8DEE5-9DCB-27A8-0F90-09E04CF1EFFD}"/>
              </a:ext>
            </a:extLst>
          </p:cNvPr>
          <p:cNvSpPr/>
          <p:nvPr/>
        </p:nvSpPr>
        <p:spPr>
          <a:xfrm>
            <a:off x="6361618"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101</a:t>
            </a:r>
          </a:p>
        </p:txBody>
      </p:sp>
      <p:sp>
        <p:nvSpPr>
          <p:cNvPr id="25" name="Rectangle 24">
            <a:extLst>
              <a:ext uri="{FF2B5EF4-FFF2-40B4-BE49-F238E27FC236}">
                <a16:creationId xmlns:a16="http://schemas.microsoft.com/office/drawing/2014/main" id="{2D0FA49A-34A4-4F3A-C20C-E838CB8C20D7}"/>
              </a:ext>
            </a:extLst>
          </p:cNvPr>
          <p:cNvSpPr/>
          <p:nvPr/>
        </p:nvSpPr>
        <p:spPr>
          <a:xfrm>
            <a:off x="6769988"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110</a:t>
            </a:r>
          </a:p>
        </p:txBody>
      </p:sp>
      <p:sp>
        <p:nvSpPr>
          <p:cNvPr id="26" name="Rectangle 25">
            <a:extLst>
              <a:ext uri="{FF2B5EF4-FFF2-40B4-BE49-F238E27FC236}">
                <a16:creationId xmlns:a16="http://schemas.microsoft.com/office/drawing/2014/main" id="{93D76BF9-C6E1-BC96-5027-A15FEBED97A6}"/>
              </a:ext>
            </a:extLst>
          </p:cNvPr>
          <p:cNvSpPr/>
          <p:nvPr/>
        </p:nvSpPr>
        <p:spPr>
          <a:xfrm>
            <a:off x="7179684"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Tree>
    <p:extLst>
      <p:ext uri="{BB962C8B-B14F-4D97-AF65-F5344CB8AC3E}">
        <p14:creationId xmlns:p14="http://schemas.microsoft.com/office/powerpoint/2010/main" val="2937935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90A3CF5-59E1-4455-FA88-30FBEAB8AAB9}"/>
            </a:ext>
          </a:extLst>
        </p:cNvPr>
        <p:cNvGrpSpPr/>
        <p:nvPr/>
      </p:nvGrpSpPr>
      <p:grpSpPr>
        <a:xfrm>
          <a:off x="0" y="0"/>
          <a:ext cx="0" cy="0"/>
          <a:chOff x="0" y="0"/>
          <a:chExt cx="0" cy="0"/>
        </a:xfrm>
      </p:grpSpPr>
      <p:sp>
        <p:nvSpPr>
          <p:cNvPr id="241" name="Google Shape;241;p13">
            <a:extLst>
              <a:ext uri="{FF2B5EF4-FFF2-40B4-BE49-F238E27FC236}">
                <a16:creationId xmlns:a16="http://schemas.microsoft.com/office/drawing/2014/main" id="{9B91268C-50A2-B508-D616-783415C213AF}"/>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2339ADD0-35A2-02F4-33AF-B86377A51E49}"/>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06174155-C469-0907-56D4-E9B1E2039391}"/>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0B6EF57A-0226-B95F-6EC8-32E0E9371F8F}"/>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sp>
        <p:nvSpPr>
          <p:cNvPr id="11" name="Rectangle 10">
            <a:extLst>
              <a:ext uri="{FF2B5EF4-FFF2-40B4-BE49-F238E27FC236}">
                <a16:creationId xmlns:a16="http://schemas.microsoft.com/office/drawing/2014/main" id="{C4BCA64F-D37A-D4EF-FDE8-0F86379EB976}"/>
              </a:ext>
            </a:extLst>
          </p:cNvPr>
          <p:cNvSpPr/>
          <p:nvPr/>
        </p:nvSpPr>
        <p:spPr>
          <a:xfrm>
            <a:off x="4315791" y="1472707"/>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cxnSp>
        <p:nvCxnSpPr>
          <p:cNvPr id="20" name="Straight Arrow Connector 19">
            <a:extLst>
              <a:ext uri="{FF2B5EF4-FFF2-40B4-BE49-F238E27FC236}">
                <a16:creationId xmlns:a16="http://schemas.microsoft.com/office/drawing/2014/main" id="{BC2DB9FA-22D8-66BE-38A5-24DDA1751721}"/>
              </a:ext>
            </a:extLst>
          </p:cNvPr>
          <p:cNvCxnSpPr>
            <a:cxnSpLocks/>
          </p:cNvCxnSpPr>
          <p:nvPr/>
        </p:nvCxnSpPr>
        <p:spPr>
          <a:xfrm>
            <a:off x="4930334" y="2339003"/>
            <a:ext cx="0" cy="848404"/>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2168FDDA-4B72-8AB9-645A-593196152498}"/>
              </a:ext>
            </a:extLst>
          </p:cNvPr>
          <p:cNvSpPr/>
          <p:nvPr/>
        </p:nvSpPr>
        <p:spPr>
          <a:xfrm>
            <a:off x="4315791" y="3187406"/>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5E5BA6E2-037B-6964-4FA8-B17EC293F8FA}"/>
              </a:ext>
            </a:extLst>
          </p:cNvPr>
          <p:cNvSpPr/>
          <p:nvPr/>
        </p:nvSpPr>
        <p:spPr>
          <a:xfrm>
            <a:off x="4315790" y="3620555"/>
            <a:ext cx="1287068" cy="1215220"/>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a:p>
            <a:pPr algn="ctr"/>
            <a:r>
              <a:rPr lang="en-US" dirty="0">
                <a:solidFill>
                  <a:schemeClr val="tx1"/>
                </a:solidFill>
              </a:rPr>
              <a:t>Metadata</a:t>
            </a:r>
          </a:p>
          <a:p>
            <a:pPr algn="ctr"/>
            <a:r>
              <a:rPr lang="en-US" dirty="0">
                <a:solidFill>
                  <a:schemeClr val="tx1"/>
                </a:solidFill>
              </a:rPr>
              <a:t>“BAR”</a:t>
            </a:r>
          </a:p>
          <a:p>
            <a:pPr algn="ctr"/>
            <a:r>
              <a:rPr lang="en-US" dirty="0">
                <a:solidFill>
                  <a:schemeClr val="tx1"/>
                </a:solidFill>
              </a:rPr>
              <a:t>Next</a:t>
            </a:r>
          </a:p>
        </p:txBody>
      </p:sp>
      <p:cxnSp>
        <p:nvCxnSpPr>
          <p:cNvPr id="30" name="Elbow Connector 29">
            <a:extLst>
              <a:ext uri="{FF2B5EF4-FFF2-40B4-BE49-F238E27FC236}">
                <a16:creationId xmlns:a16="http://schemas.microsoft.com/office/drawing/2014/main" id="{B09B3914-20F5-5B86-84E6-0EA79DD626BB}"/>
              </a:ext>
            </a:extLst>
          </p:cNvPr>
          <p:cNvCxnSpPr>
            <a:cxnSpLocks/>
            <a:endCxn id="35" idx="0"/>
          </p:cNvCxnSpPr>
          <p:nvPr/>
        </p:nvCxnSpPr>
        <p:spPr>
          <a:xfrm rot="5400000">
            <a:off x="4660938" y="4774972"/>
            <a:ext cx="849402" cy="371240"/>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4FCC2A34-7735-3FA5-FFF9-D4711BA31A28}"/>
              </a:ext>
            </a:extLst>
          </p:cNvPr>
          <p:cNvGrpSpPr/>
          <p:nvPr/>
        </p:nvGrpSpPr>
        <p:grpSpPr>
          <a:xfrm>
            <a:off x="4256484" y="5385293"/>
            <a:ext cx="1287068" cy="1282551"/>
            <a:chOff x="4315790" y="4902105"/>
            <a:chExt cx="1287068" cy="1282551"/>
          </a:xfrm>
        </p:grpSpPr>
        <p:sp>
          <p:nvSpPr>
            <p:cNvPr id="35" name="Rectangle 34">
              <a:extLst>
                <a:ext uri="{FF2B5EF4-FFF2-40B4-BE49-F238E27FC236}">
                  <a16:creationId xmlns:a16="http://schemas.microsoft.com/office/drawing/2014/main" id="{4355C40F-FA4E-11DC-68E1-FCA0F0EECC17}"/>
                </a:ext>
              </a:extLst>
            </p:cNvPr>
            <p:cNvSpPr/>
            <p:nvPr/>
          </p:nvSpPr>
          <p:spPr>
            <a:xfrm>
              <a:off x="4315791" y="4902105"/>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36" name="Rectangle 35">
              <a:extLst>
                <a:ext uri="{FF2B5EF4-FFF2-40B4-BE49-F238E27FC236}">
                  <a16:creationId xmlns:a16="http://schemas.microsoft.com/office/drawing/2014/main" id="{94E46D54-6AC9-1DE2-CB06-46CB05500ADD}"/>
                </a:ext>
              </a:extLst>
            </p:cNvPr>
            <p:cNvSpPr/>
            <p:nvPr/>
          </p:nvSpPr>
          <p:spPr>
            <a:xfrm>
              <a:off x="4315790" y="5335254"/>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a:t>
              </a:r>
            </a:p>
            <a:p>
              <a:pPr algn="ctr"/>
              <a:r>
                <a:rPr lang="en-US" dirty="0">
                  <a:solidFill>
                    <a:schemeClr val="tx1"/>
                  </a:solidFill>
                </a:rPr>
                <a:t>Metadata</a:t>
              </a:r>
            </a:p>
            <a:p>
              <a:pPr algn="ctr"/>
              <a:r>
                <a:rPr lang="en-US" dirty="0">
                  <a:solidFill>
                    <a:schemeClr val="tx1"/>
                  </a:solidFill>
                </a:rPr>
                <a:t>…</a:t>
              </a:r>
            </a:p>
          </p:txBody>
        </p:sp>
      </p:grpSp>
      <p:cxnSp>
        <p:nvCxnSpPr>
          <p:cNvPr id="38" name="Elbow Connector 37">
            <a:extLst>
              <a:ext uri="{FF2B5EF4-FFF2-40B4-BE49-F238E27FC236}">
                <a16:creationId xmlns:a16="http://schemas.microsoft.com/office/drawing/2014/main" id="{DCF20F84-9150-8C03-E231-AF408E8D4BC6}"/>
              </a:ext>
            </a:extLst>
          </p:cNvPr>
          <p:cNvCxnSpPr>
            <a:cxnSpLocks/>
          </p:cNvCxnSpPr>
          <p:nvPr/>
        </p:nvCxnSpPr>
        <p:spPr>
          <a:xfrm flipV="1">
            <a:off x="2570344" y="1694260"/>
            <a:ext cx="1739481" cy="149314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99E88D20-0AF7-A76E-27F5-38A74A4B78E9}"/>
              </a:ext>
            </a:extLst>
          </p:cNvPr>
          <p:cNvCxnSpPr>
            <a:cxnSpLocks/>
          </p:cNvCxnSpPr>
          <p:nvPr/>
        </p:nvCxnSpPr>
        <p:spPr>
          <a:xfrm>
            <a:off x="5271259" y="4322655"/>
            <a:ext cx="1754912" cy="266026"/>
          </a:xfrm>
          <a:prstGeom prst="bentConnector3">
            <a:avLst>
              <a:gd name="adj1" fmla="val 50000"/>
            </a:avLst>
          </a:prstGeom>
          <a:ln w="19050">
            <a:solidFill>
              <a:srgbClr val="000000">
                <a:alpha val="20000"/>
              </a:srgbClr>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1CEA7800-62BE-95AE-BBA6-8ED9F2F1D947}"/>
              </a:ext>
            </a:extLst>
          </p:cNvPr>
          <p:cNvGrpSpPr/>
          <p:nvPr/>
        </p:nvGrpSpPr>
        <p:grpSpPr>
          <a:xfrm>
            <a:off x="7041246" y="4402627"/>
            <a:ext cx="1287068" cy="1282551"/>
            <a:chOff x="609600" y="3945834"/>
            <a:chExt cx="1287068" cy="1282551"/>
          </a:xfrm>
        </p:grpSpPr>
        <p:sp>
          <p:nvSpPr>
            <p:cNvPr id="46" name="Rectangle 45">
              <a:extLst>
                <a:ext uri="{FF2B5EF4-FFF2-40B4-BE49-F238E27FC236}">
                  <a16:creationId xmlns:a16="http://schemas.microsoft.com/office/drawing/2014/main" id="{1EDA501D-D581-1EA9-0B99-46EC6503D01A}"/>
                </a:ext>
              </a:extLst>
            </p:cNvPr>
            <p:cNvSpPr/>
            <p:nvPr/>
          </p:nvSpPr>
          <p:spPr>
            <a:xfrm>
              <a:off x="609601" y="3945834"/>
              <a:ext cx="1287067" cy="433148"/>
            </a:xfrm>
            <a:prstGeom prst="rect">
              <a:avLst/>
            </a:prstGeom>
            <a:solidFill>
              <a:schemeClr val="bg1">
                <a:lumMod val="65000"/>
              </a:schemeClr>
            </a:solidFill>
            <a:ln>
              <a:solidFill>
                <a:srgbClr val="00000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75000"/>
                  </a:schemeClr>
                </a:solidFill>
              </a:endParaRPr>
            </a:p>
          </p:txBody>
        </p:sp>
        <p:sp>
          <p:nvSpPr>
            <p:cNvPr id="47" name="Rectangle 46">
              <a:extLst>
                <a:ext uri="{FF2B5EF4-FFF2-40B4-BE49-F238E27FC236}">
                  <a16:creationId xmlns:a16="http://schemas.microsoft.com/office/drawing/2014/main" id="{3B42B2A2-BF91-29FF-72C9-98BE5DD50A6F}"/>
                </a:ext>
              </a:extLst>
            </p:cNvPr>
            <p:cNvSpPr/>
            <p:nvPr/>
          </p:nvSpPr>
          <p:spPr>
            <a:xfrm>
              <a:off x="609600" y="4378983"/>
              <a:ext cx="1287068" cy="849402"/>
            </a:xfrm>
            <a:prstGeom prst="rect">
              <a:avLst/>
            </a:prstGeom>
            <a:solidFill>
              <a:schemeClr val="bg1"/>
            </a:solidFill>
            <a:ln>
              <a:solidFill>
                <a:srgbClr val="00000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65000"/>
                  </a:schemeClr>
                </a:solidFill>
              </a:endParaRPr>
            </a:p>
          </p:txBody>
        </p:sp>
      </p:grpSp>
      <p:cxnSp>
        <p:nvCxnSpPr>
          <p:cNvPr id="51" name="Elbow Connector 50">
            <a:extLst>
              <a:ext uri="{FF2B5EF4-FFF2-40B4-BE49-F238E27FC236}">
                <a16:creationId xmlns:a16="http://schemas.microsoft.com/office/drawing/2014/main" id="{E9DA28B8-507D-E258-E26E-82A487B52A7A}"/>
              </a:ext>
            </a:extLst>
          </p:cNvPr>
          <p:cNvCxnSpPr>
            <a:cxnSpLocks/>
          </p:cNvCxnSpPr>
          <p:nvPr/>
        </p:nvCxnSpPr>
        <p:spPr>
          <a:xfrm flipV="1">
            <a:off x="8011790" y="4135137"/>
            <a:ext cx="1470140" cy="1255780"/>
          </a:xfrm>
          <a:prstGeom prst="bentConnector3">
            <a:avLst>
              <a:gd name="adj1" fmla="val 50000"/>
            </a:avLst>
          </a:prstGeom>
          <a:ln w="19050">
            <a:solidFill>
              <a:srgbClr val="000000">
                <a:alpha val="20000"/>
              </a:srgb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257FE66E-8C47-9E38-52D7-A808F49078D9}"/>
              </a:ext>
            </a:extLst>
          </p:cNvPr>
          <p:cNvSpPr/>
          <p:nvPr/>
        </p:nvSpPr>
        <p:spPr>
          <a:xfrm>
            <a:off x="9481930" y="3918563"/>
            <a:ext cx="1232747" cy="433148"/>
          </a:xfrm>
          <a:prstGeom prst="rect">
            <a:avLst/>
          </a:prstGeom>
          <a:solidFill>
            <a:schemeClr val="bg1"/>
          </a:solidFill>
          <a:ln>
            <a:solidFill>
              <a:srgbClr val="00000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65000"/>
                </a:schemeClr>
              </a:solidFill>
            </a:endParaRPr>
          </a:p>
        </p:txBody>
      </p:sp>
      <p:cxnSp>
        <p:nvCxnSpPr>
          <p:cNvPr id="2" name="Elbow Connector 1">
            <a:extLst>
              <a:ext uri="{FF2B5EF4-FFF2-40B4-BE49-F238E27FC236}">
                <a16:creationId xmlns:a16="http://schemas.microsoft.com/office/drawing/2014/main" id="{E88B7C59-87FB-ED84-B5C0-623B1E640591}"/>
              </a:ext>
            </a:extLst>
          </p:cNvPr>
          <p:cNvCxnSpPr>
            <a:cxnSpLocks/>
          </p:cNvCxnSpPr>
          <p:nvPr/>
        </p:nvCxnSpPr>
        <p:spPr>
          <a:xfrm flipV="1">
            <a:off x="5271259" y="3117067"/>
            <a:ext cx="1822770" cy="729376"/>
          </a:xfrm>
          <a:prstGeom prst="bentConnector3">
            <a:avLst/>
          </a:prstGeom>
          <a:ln w="19050">
            <a:solidFill>
              <a:srgbClr val="000000">
                <a:alpha val="20000"/>
              </a:srgb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6C55376-EE91-5084-BD34-2EBFF54287F3}"/>
              </a:ext>
            </a:extLst>
          </p:cNvPr>
          <p:cNvSpPr/>
          <p:nvPr/>
        </p:nvSpPr>
        <p:spPr>
          <a:xfrm>
            <a:off x="7100203" y="2900493"/>
            <a:ext cx="1232747" cy="433148"/>
          </a:xfrm>
          <a:prstGeom prst="rect">
            <a:avLst/>
          </a:prstGeom>
          <a:solidFill>
            <a:schemeClr val="bg1"/>
          </a:solidFill>
          <a:ln>
            <a:solidFill>
              <a:srgbClr val="00000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65000"/>
                </a:schemeClr>
              </a:solidFill>
            </a:endParaRPr>
          </a:p>
        </p:txBody>
      </p:sp>
      <p:sp>
        <p:nvSpPr>
          <p:cNvPr id="23" name="Rectangle 22">
            <a:extLst>
              <a:ext uri="{FF2B5EF4-FFF2-40B4-BE49-F238E27FC236}">
                <a16:creationId xmlns:a16="http://schemas.microsoft.com/office/drawing/2014/main" id="{01693F78-73A7-CF89-44B5-28EC7994718D}"/>
              </a:ext>
            </a:extLst>
          </p:cNvPr>
          <p:cNvSpPr/>
          <p:nvPr/>
        </p:nvSpPr>
        <p:spPr>
          <a:xfrm>
            <a:off x="4315790"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000</a:t>
            </a:r>
          </a:p>
        </p:txBody>
      </p:sp>
      <p:sp>
        <p:nvSpPr>
          <p:cNvPr id="24" name="Rectangle 23">
            <a:extLst>
              <a:ext uri="{FF2B5EF4-FFF2-40B4-BE49-F238E27FC236}">
                <a16:creationId xmlns:a16="http://schemas.microsoft.com/office/drawing/2014/main" id="{63520538-4C5C-952B-F925-1998D648B2BC}"/>
              </a:ext>
            </a:extLst>
          </p:cNvPr>
          <p:cNvSpPr/>
          <p:nvPr/>
        </p:nvSpPr>
        <p:spPr>
          <a:xfrm>
            <a:off x="4725486"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001</a:t>
            </a:r>
          </a:p>
        </p:txBody>
      </p:sp>
      <p:sp>
        <p:nvSpPr>
          <p:cNvPr id="25" name="Rectangle 24">
            <a:extLst>
              <a:ext uri="{FF2B5EF4-FFF2-40B4-BE49-F238E27FC236}">
                <a16:creationId xmlns:a16="http://schemas.microsoft.com/office/drawing/2014/main" id="{C7836D68-1C15-1880-1057-7D5929FC6102}"/>
              </a:ext>
            </a:extLst>
          </p:cNvPr>
          <p:cNvSpPr/>
          <p:nvPr/>
        </p:nvSpPr>
        <p:spPr>
          <a:xfrm>
            <a:off x="5133856"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010</a:t>
            </a:r>
          </a:p>
        </p:txBody>
      </p:sp>
      <p:sp>
        <p:nvSpPr>
          <p:cNvPr id="26" name="Rectangle 25">
            <a:extLst>
              <a:ext uri="{FF2B5EF4-FFF2-40B4-BE49-F238E27FC236}">
                <a16:creationId xmlns:a16="http://schemas.microsoft.com/office/drawing/2014/main" id="{857865A2-E45C-82A3-FB9C-30B4A96F497C}"/>
              </a:ext>
            </a:extLst>
          </p:cNvPr>
          <p:cNvSpPr/>
          <p:nvPr/>
        </p:nvSpPr>
        <p:spPr>
          <a:xfrm>
            <a:off x="554355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a:t>
            </a:r>
          </a:p>
        </p:txBody>
      </p:sp>
      <p:sp>
        <p:nvSpPr>
          <p:cNvPr id="27" name="Rectangle 26">
            <a:extLst>
              <a:ext uri="{FF2B5EF4-FFF2-40B4-BE49-F238E27FC236}">
                <a16:creationId xmlns:a16="http://schemas.microsoft.com/office/drawing/2014/main" id="{2E3A952A-0486-2525-60EC-2F394FC53A42}"/>
              </a:ext>
            </a:extLst>
          </p:cNvPr>
          <p:cNvSpPr/>
          <p:nvPr/>
        </p:nvSpPr>
        <p:spPr>
          <a:xfrm>
            <a:off x="595192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28" name="Rectangle 27">
            <a:extLst>
              <a:ext uri="{FF2B5EF4-FFF2-40B4-BE49-F238E27FC236}">
                <a16:creationId xmlns:a16="http://schemas.microsoft.com/office/drawing/2014/main" id="{1B829D25-8931-52A2-744B-B045683C8270}"/>
              </a:ext>
            </a:extLst>
          </p:cNvPr>
          <p:cNvSpPr/>
          <p:nvPr/>
        </p:nvSpPr>
        <p:spPr>
          <a:xfrm>
            <a:off x="6361618"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101</a:t>
            </a:r>
          </a:p>
        </p:txBody>
      </p:sp>
      <p:sp>
        <p:nvSpPr>
          <p:cNvPr id="29" name="Rectangle 28">
            <a:extLst>
              <a:ext uri="{FF2B5EF4-FFF2-40B4-BE49-F238E27FC236}">
                <a16:creationId xmlns:a16="http://schemas.microsoft.com/office/drawing/2014/main" id="{8A49E5BC-448A-F97A-7BE5-BF02A6E87684}"/>
              </a:ext>
            </a:extLst>
          </p:cNvPr>
          <p:cNvSpPr/>
          <p:nvPr/>
        </p:nvSpPr>
        <p:spPr>
          <a:xfrm>
            <a:off x="6769988"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110</a:t>
            </a:r>
          </a:p>
        </p:txBody>
      </p:sp>
      <p:sp>
        <p:nvSpPr>
          <p:cNvPr id="31" name="Rectangle 30">
            <a:extLst>
              <a:ext uri="{FF2B5EF4-FFF2-40B4-BE49-F238E27FC236}">
                <a16:creationId xmlns:a16="http://schemas.microsoft.com/office/drawing/2014/main" id="{1056B2A5-55DD-557B-03AA-91DF317EB165}"/>
              </a:ext>
            </a:extLst>
          </p:cNvPr>
          <p:cNvSpPr/>
          <p:nvPr/>
        </p:nvSpPr>
        <p:spPr>
          <a:xfrm>
            <a:off x="7179684"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Tree>
    <p:extLst>
      <p:ext uri="{BB962C8B-B14F-4D97-AF65-F5344CB8AC3E}">
        <p14:creationId xmlns:p14="http://schemas.microsoft.com/office/powerpoint/2010/main" val="2912245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E86FEE2-E543-DBEC-FA85-2B053487CE49}"/>
            </a:ext>
          </a:extLst>
        </p:cNvPr>
        <p:cNvGrpSpPr/>
        <p:nvPr/>
      </p:nvGrpSpPr>
      <p:grpSpPr>
        <a:xfrm>
          <a:off x="0" y="0"/>
          <a:ext cx="0" cy="0"/>
          <a:chOff x="0" y="0"/>
          <a:chExt cx="0" cy="0"/>
        </a:xfrm>
      </p:grpSpPr>
      <p:sp>
        <p:nvSpPr>
          <p:cNvPr id="241" name="Google Shape;241;p13">
            <a:extLst>
              <a:ext uri="{FF2B5EF4-FFF2-40B4-BE49-F238E27FC236}">
                <a16:creationId xmlns:a16="http://schemas.microsoft.com/office/drawing/2014/main" id="{3BB49790-1F30-7288-E35E-089D9795DB41}"/>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FAEAD0A9-8FA0-6332-0B2A-DB1117E3FE19}"/>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20B60335-4BA7-6A71-5B6E-DF75AC1F3604}"/>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937B4C4B-5A24-35DB-DD86-34A95C02C4CA}"/>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sp>
        <p:nvSpPr>
          <p:cNvPr id="11" name="Rectangle 10">
            <a:extLst>
              <a:ext uri="{FF2B5EF4-FFF2-40B4-BE49-F238E27FC236}">
                <a16:creationId xmlns:a16="http://schemas.microsoft.com/office/drawing/2014/main" id="{C4697A22-2AA3-7DE9-DE56-A6E13AC88654}"/>
              </a:ext>
            </a:extLst>
          </p:cNvPr>
          <p:cNvSpPr/>
          <p:nvPr/>
        </p:nvSpPr>
        <p:spPr>
          <a:xfrm>
            <a:off x="4315791" y="1472707"/>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cxnSp>
        <p:nvCxnSpPr>
          <p:cNvPr id="20" name="Straight Arrow Connector 19">
            <a:extLst>
              <a:ext uri="{FF2B5EF4-FFF2-40B4-BE49-F238E27FC236}">
                <a16:creationId xmlns:a16="http://schemas.microsoft.com/office/drawing/2014/main" id="{2030F0B9-587B-24EE-207D-087D7A141060}"/>
              </a:ext>
            </a:extLst>
          </p:cNvPr>
          <p:cNvCxnSpPr>
            <a:cxnSpLocks/>
          </p:cNvCxnSpPr>
          <p:nvPr/>
        </p:nvCxnSpPr>
        <p:spPr>
          <a:xfrm>
            <a:off x="4930334" y="2339003"/>
            <a:ext cx="0" cy="848404"/>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D23A2C0A-1DAB-C59C-38B3-C233674D0240}"/>
              </a:ext>
            </a:extLst>
          </p:cNvPr>
          <p:cNvSpPr/>
          <p:nvPr/>
        </p:nvSpPr>
        <p:spPr>
          <a:xfrm>
            <a:off x="4315791" y="3187406"/>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C471304A-AFE7-FAE2-BCC6-E19DDB48FD8C}"/>
              </a:ext>
            </a:extLst>
          </p:cNvPr>
          <p:cNvSpPr/>
          <p:nvPr/>
        </p:nvSpPr>
        <p:spPr>
          <a:xfrm>
            <a:off x="4315790" y="3620555"/>
            <a:ext cx="1287068" cy="1215220"/>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a:p>
            <a:pPr algn="ctr"/>
            <a:r>
              <a:rPr lang="en-US" dirty="0">
                <a:solidFill>
                  <a:schemeClr val="tx1"/>
                </a:solidFill>
              </a:rPr>
              <a:t>Metadata</a:t>
            </a:r>
          </a:p>
          <a:p>
            <a:pPr algn="ctr"/>
            <a:r>
              <a:rPr lang="en-US" dirty="0">
                <a:solidFill>
                  <a:schemeClr val="tx1"/>
                </a:solidFill>
              </a:rPr>
              <a:t>“BAR”</a:t>
            </a:r>
          </a:p>
          <a:p>
            <a:pPr algn="ctr"/>
            <a:r>
              <a:rPr lang="en-US" dirty="0">
                <a:solidFill>
                  <a:schemeClr val="tx1"/>
                </a:solidFill>
              </a:rPr>
              <a:t>Next</a:t>
            </a:r>
          </a:p>
        </p:txBody>
      </p:sp>
      <p:cxnSp>
        <p:nvCxnSpPr>
          <p:cNvPr id="30" name="Elbow Connector 29">
            <a:extLst>
              <a:ext uri="{FF2B5EF4-FFF2-40B4-BE49-F238E27FC236}">
                <a16:creationId xmlns:a16="http://schemas.microsoft.com/office/drawing/2014/main" id="{6346A918-3AA2-64FE-90DB-808D060ABE1F}"/>
              </a:ext>
            </a:extLst>
          </p:cNvPr>
          <p:cNvCxnSpPr>
            <a:cxnSpLocks/>
            <a:endCxn id="36" idx="1"/>
          </p:cNvCxnSpPr>
          <p:nvPr/>
        </p:nvCxnSpPr>
        <p:spPr>
          <a:xfrm flipV="1">
            <a:off x="5256355" y="4286850"/>
            <a:ext cx="1332789" cy="275214"/>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D749BEEA-72BC-057F-B136-6451B96BBD18}"/>
              </a:ext>
            </a:extLst>
          </p:cNvPr>
          <p:cNvGrpSpPr/>
          <p:nvPr/>
        </p:nvGrpSpPr>
        <p:grpSpPr>
          <a:xfrm>
            <a:off x="6589144" y="3429000"/>
            <a:ext cx="1287068" cy="1282551"/>
            <a:chOff x="4315790" y="4902105"/>
            <a:chExt cx="1287068" cy="1282551"/>
          </a:xfrm>
        </p:grpSpPr>
        <p:sp>
          <p:nvSpPr>
            <p:cNvPr id="35" name="Rectangle 34">
              <a:extLst>
                <a:ext uri="{FF2B5EF4-FFF2-40B4-BE49-F238E27FC236}">
                  <a16:creationId xmlns:a16="http://schemas.microsoft.com/office/drawing/2014/main" id="{31523A35-73B0-E0F2-A880-988C3709831C}"/>
                </a:ext>
              </a:extLst>
            </p:cNvPr>
            <p:cNvSpPr/>
            <p:nvPr/>
          </p:nvSpPr>
          <p:spPr>
            <a:xfrm>
              <a:off x="4315791" y="4902105"/>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36" name="Rectangle 35">
              <a:extLst>
                <a:ext uri="{FF2B5EF4-FFF2-40B4-BE49-F238E27FC236}">
                  <a16:creationId xmlns:a16="http://schemas.microsoft.com/office/drawing/2014/main" id="{AFC64FE0-69D7-5321-7D65-87E3BA27F2CC}"/>
                </a:ext>
              </a:extLst>
            </p:cNvPr>
            <p:cNvSpPr/>
            <p:nvPr/>
          </p:nvSpPr>
          <p:spPr>
            <a:xfrm>
              <a:off x="4315790" y="5335254"/>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a:t>
              </a:r>
            </a:p>
            <a:p>
              <a:pPr algn="ctr"/>
              <a:r>
                <a:rPr lang="en-US" dirty="0">
                  <a:solidFill>
                    <a:schemeClr val="tx1"/>
                  </a:solidFill>
                </a:rPr>
                <a:t>Metadata</a:t>
              </a:r>
            </a:p>
            <a:p>
              <a:pPr algn="ctr"/>
              <a:r>
                <a:rPr lang="en-US" dirty="0">
                  <a:solidFill>
                    <a:schemeClr val="tx1"/>
                  </a:solidFill>
                </a:rPr>
                <a:t>…</a:t>
              </a:r>
            </a:p>
          </p:txBody>
        </p:sp>
      </p:grpSp>
      <p:cxnSp>
        <p:nvCxnSpPr>
          <p:cNvPr id="38" name="Elbow Connector 37">
            <a:extLst>
              <a:ext uri="{FF2B5EF4-FFF2-40B4-BE49-F238E27FC236}">
                <a16:creationId xmlns:a16="http://schemas.microsoft.com/office/drawing/2014/main" id="{7519059F-DD29-F166-977C-07512457F4C3}"/>
              </a:ext>
            </a:extLst>
          </p:cNvPr>
          <p:cNvCxnSpPr>
            <a:cxnSpLocks/>
          </p:cNvCxnSpPr>
          <p:nvPr/>
        </p:nvCxnSpPr>
        <p:spPr>
          <a:xfrm flipV="1">
            <a:off x="2570344" y="1694260"/>
            <a:ext cx="1739481" cy="149314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BE5F624-1599-CF7B-320B-89B765761C66}"/>
              </a:ext>
            </a:extLst>
          </p:cNvPr>
          <p:cNvSpPr/>
          <p:nvPr/>
        </p:nvSpPr>
        <p:spPr>
          <a:xfrm>
            <a:off x="4315790"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000</a:t>
            </a:r>
          </a:p>
        </p:txBody>
      </p:sp>
      <p:sp>
        <p:nvSpPr>
          <p:cNvPr id="24" name="Rectangle 23">
            <a:extLst>
              <a:ext uri="{FF2B5EF4-FFF2-40B4-BE49-F238E27FC236}">
                <a16:creationId xmlns:a16="http://schemas.microsoft.com/office/drawing/2014/main" id="{8758B4EC-2AED-1042-74FA-F3E234B19B60}"/>
              </a:ext>
            </a:extLst>
          </p:cNvPr>
          <p:cNvSpPr/>
          <p:nvPr/>
        </p:nvSpPr>
        <p:spPr>
          <a:xfrm>
            <a:off x="4725486"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001</a:t>
            </a:r>
          </a:p>
        </p:txBody>
      </p:sp>
      <p:sp>
        <p:nvSpPr>
          <p:cNvPr id="25" name="Rectangle 24">
            <a:extLst>
              <a:ext uri="{FF2B5EF4-FFF2-40B4-BE49-F238E27FC236}">
                <a16:creationId xmlns:a16="http://schemas.microsoft.com/office/drawing/2014/main" id="{3B225AC5-41C7-33AA-5F2B-AF3B4A85F716}"/>
              </a:ext>
            </a:extLst>
          </p:cNvPr>
          <p:cNvSpPr/>
          <p:nvPr/>
        </p:nvSpPr>
        <p:spPr>
          <a:xfrm>
            <a:off x="5133856" y="1905856"/>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010</a:t>
            </a:r>
          </a:p>
        </p:txBody>
      </p:sp>
      <p:sp>
        <p:nvSpPr>
          <p:cNvPr id="26" name="Rectangle 25">
            <a:extLst>
              <a:ext uri="{FF2B5EF4-FFF2-40B4-BE49-F238E27FC236}">
                <a16:creationId xmlns:a16="http://schemas.microsoft.com/office/drawing/2014/main" id="{CA9EF9A7-6435-F72A-688B-493F2715939A}"/>
              </a:ext>
            </a:extLst>
          </p:cNvPr>
          <p:cNvSpPr/>
          <p:nvPr/>
        </p:nvSpPr>
        <p:spPr>
          <a:xfrm>
            <a:off x="554355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a:t>
            </a:r>
          </a:p>
        </p:txBody>
      </p:sp>
      <p:sp>
        <p:nvSpPr>
          <p:cNvPr id="27" name="Rectangle 26">
            <a:extLst>
              <a:ext uri="{FF2B5EF4-FFF2-40B4-BE49-F238E27FC236}">
                <a16:creationId xmlns:a16="http://schemas.microsoft.com/office/drawing/2014/main" id="{A71BDF26-BE44-23BA-5C1E-205FAB2CE4F4}"/>
              </a:ext>
            </a:extLst>
          </p:cNvPr>
          <p:cNvSpPr/>
          <p:nvPr/>
        </p:nvSpPr>
        <p:spPr>
          <a:xfrm>
            <a:off x="5951922"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28" name="Rectangle 27">
            <a:extLst>
              <a:ext uri="{FF2B5EF4-FFF2-40B4-BE49-F238E27FC236}">
                <a16:creationId xmlns:a16="http://schemas.microsoft.com/office/drawing/2014/main" id="{7A4207DD-49EA-75B8-A749-0B49638CEB73}"/>
              </a:ext>
            </a:extLst>
          </p:cNvPr>
          <p:cNvSpPr/>
          <p:nvPr/>
        </p:nvSpPr>
        <p:spPr>
          <a:xfrm>
            <a:off x="6361618"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101</a:t>
            </a:r>
          </a:p>
        </p:txBody>
      </p:sp>
      <p:sp>
        <p:nvSpPr>
          <p:cNvPr id="29" name="Rectangle 28">
            <a:extLst>
              <a:ext uri="{FF2B5EF4-FFF2-40B4-BE49-F238E27FC236}">
                <a16:creationId xmlns:a16="http://schemas.microsoft.com/office/drawing/2014/main" id="{88EC56DC-C246-064C-8B0F-A42F03530EE1}"/>
              </a:ext>
            </a:extLst>
          </p:cNvPr>
          <p:cNvSpPr/>
          <p:nvPr/>
        </p:nvSpPr>
        <p:spPr>
          <a:xfrm>
            <a:off x="6769988" y="1905855"/>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110</a:t>
            </a:r>
          </a:p>
        </p:txBody>
      </p:sp>
      <p:sp>
        <p:nvSpPr>
          <p:cNvPr id="31" name="Rectangle 30">
            <a:extLst>
              <a:ext uri="{FF2B5EF4-FFF2-40B4-BE49-F238E27FC236}">
                <a16:creationId xmlns:a16="http://schemas.microsoft.com/office/drawing/2014/main" id="{68D906FE-FA71-4A68-4DEF-799B1E9E02C1}"/>
              </a:ext>
            </a:extLst>
          </p:cNvPr>
          <p:cNvSpPr/>
          <p:nvPr/>
        </p:nvSpPr>
        <p:spPr>
          <a:xfrm>
            <a:off x="7179684" y="1905854"/>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Tree>
    <p:extLst>
      <p:ext uri="{BB962C8B-B14F-4D97-AF65-F5344CB8AC3E}">
        <p14:creationId xmlns:p14="http://schemas.microsoft.com/office/powerpoint/2010/main" val="144410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22C70AF-8E44-4C19-A80A-E1178F83AEE8}"/>
            </a:ext>
          </a:extLst>
        </p:cNvPr>
        <p:cNvGrpSpPr/>
        <p:nvPr/>
      </p:nvGrpSpPr>
      <p:grpSpPr>
        <a:xfrm>
          <a:off x="0" y="0"/>
          <a:ext cx="0" cy="0"/>
          <a:chOff x="0" y="0"/>
          <a:chExt cx="0" cy="0"/>
        </a:xfrm>
      </p:grpSpPr>
      <p:sp>
        <p:nvSpPr>
          <p:cNvPr id="241" name="Google Shape;241;p13">
            <a:extLst>
              <a:ext uri="{FF2B5EF4-FFF2-40B4-BE49-F238E27FC236}">
                <a16:creationId xmlns:a16="http://schemas.microsoft.com/office/drawing/2014/main" id="{C8EE74BC-D7CC-3DA5-2A54-4CFCB1669FA9}"/>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A974ED7D-C406-3F0D-03D8-0618CAC83576}"/>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DE3E4CAC-12EB-DB87-9569-170B99BBD523}"/>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28127D7D-1BE5-7503-1365-40E0905A22EE}"/>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sp>
        <p:nvSpPr>
          <p:cNvPr id="11" name="Rectangle 10">
            <a:extLst>
              <a:ext uri="{FF2B5EF4-FFF2-40B4-BE49-F238E27FC236}">
                <a16:creationId xmlns:a16="http://schemas.microsoft.com/office/drawing/2014/main" id="{02CB0FBA-29A5-D1C1-0D6A-C86E1AFAC792}"/>
              </a:ext>
            </a:extLst>
          </p:cNvPr>
          <p:cNvSpPr/>
          <p:nvPr/>
        </p:nvSpPr>
        <p:spPr>
          <a:xfrm>
            <a:off x="4456176" y="1082116"/>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sp>
        <p:nvSpPr>
          <p:cNvPr id="21" name="Rectangle 20">
            <a:extLst>
              <a:ext uri="{FF2B5EF4-FFF2-40B4-BE49-F238E27FC236}">
                <a16:creationId xmlns:a16="http://schemas.microsoft.com/office/drawing/2014/main" id="{7D916AA1-FE57-9F74-CE75-4619C5EA227B}"/>
              </a:ext>
            </a:extLst>
          </p:cNvPr>
          <p:cNvSpPr/>
          <p:nvPr/>
        </p:nvSpPr>
        <p:spPr>
          <a:xfrm>
            <a:off x="4015998" y="3198253"/>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311F3403-2887-A219-8272-E8F28601E008}"/>
              </a:ext>
            </a:extLst>
          </p:cNvPr>
          <p:cNvSpPr/>
          <p:nvPr/>
        </p:nvSpPr>
        <p:spPr>
          <a:xfrm>
            <a:off x="4015997" y="3631402"/>
            <a:ext cx="1287068" cy="1100533"/>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a:p>
            <a:pPr algn="ctr"/>
            <a:r>
              <a:rPr lang="en-US" dirty="0">
                <a:solidFill>
                  <a:schemeClr val="tx1"/>
                </a:solidFill>
              </a:rPr>
              <a:t>Metadata</a:t>
            </a:r>
          </a:p>
          <a:p>
            <a:pPr algn="ctr"/>
            <a:r>
              <a:rPr lang="en-US" dirty="0">
                <a:solidFill>
                  <a:schemeClr val="tx1"/>
                </a:solidFill>
              </a:rPr>
              <a:t>“BAR”</a:t>
            </a:r>
          </a:p>
        </p:txBody>
      </p:sp>
      <p:cxnSp>
        <p:nvCxnSpPr>
          <p:cNvPr id="38" name="Elbow Connector 37">
            <a:extLst>
              <a:ext uri="{FF2B5EF4-FFF2-40B4-BE49-F238E27FC236}">
                <a16:creationId xmlns:a16="http://schemas.microsoft.com/office/drawing/2014/main" id="{2FB61F52-6363-DDD2-CF00-DF14507E48F3}"/>
              </a:ext>
            </a:extLst>
          </p:cNvPr>
          <p:cNvCxnSpPr>
            <a:cxnSpLocks/>
            <a:endCxn id="11" idx="1"/>
          </p:cNvCxnSpPr>
          <p:nvPr/>
        </p:nvCxnSpPr>
        <p:spPr>
          <a:xfrm flipV="1">
            <a:off x="2552202" y="1298690"/>
            <a:ext cx="1903974" cy="188871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2B97CFA-122F-625A-BBCA-F17CB868FE64}"/>
              </a:ext>
            </a:extLst>
          </p:cNvPr>
          <p:cNvSpPr/>
          <p:nvPr/>
        </p:nvSpPr>
        <p:spPr>
          <a:xfrm>
            <a:off x="4456175" y="1515014"/>
            <a:ext cx="2863563"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Bucket 000</a:t>
            </a:r>
          </a:p>
        </p:txBody>
      </p:sp>
      <p:sp>
        <p:nvSpPr>
          <p:cNvPr id="8" name="Rectangle 7">
            <a:extLst>
              <a:ext uri="{FF2B5EF4-FFF2-40B4-BE49-F238E27FC236}">
                <a16:creationId xmlns:a16="http://schemas.microsoft.com/office/drawing/2014/main" id="{FCEA180F-8113-0D5D-7633-B5A1CE637DE0}"/>
              </a:ext>
            </a:extLst>
          </p:cNvPr>
          <p:cNvSpPr/>
          <p:nvPr/>
        </p:nvSpPr>
        <p:spPr>
          <a:xfrm>
            <a:off x="7319738" y="1514889"/>
            <a:ext cx="2862568"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Bucket 001</a:t>
            </a:r>
          </a:p>
        </p:txBody>
      </p:sp>
      <p:cxnSp>
        <p:nvCxnSpPr>
          <p:cNvPr id="32" name="Straight Arrow Connector 31">
            <a:extLst>
              <a:ext uri="{FF2B5EF4-FFF2-40B4-BE49-F238E27FC236}">
                <a16:creationId xmlns:a16="http://schemas.microsoft.com/office/drawing/2014/main" id="{A19D5736-0785-567A-DD28-52F4BF13F5B3}"/>
              </a:ext>
            </a:extLst>
          </p:cNvPr>
          <p:cNvCxnSpPr>
            <a:cxnSpLocks/>
          </p:cNvCxnSpPr>
          <p:nvPr/>
        </p:nvCxnSpPr>
        <p:spPr>
          <a:xfrm>
            <a:off x="4659532" y="2389008"/>
            <a:ext cx="84" cy="806345"/>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40" name="Rectangle 39">
            <a:extLst>
              <a:ext uri="{FF2B5EF4-FFF2-40B4-BE49-F238E27FC236}">
                <a16:creationId xmlns:a16="http://schemas.microsoft.com/office/drawing/2014/main" id="{01C11C31-DF1D-CDFE-27C8-716CF1E5BD0C}"/>
              </a:ext>
            </a:extLst>
          </p:cNvPr>
          <p:cNvSpPr/>
          <p:nvPr/>
        </p:nvSpPr>
        <p:spPr>
          <a:xfrm>
            <a:off x="5506421" y="3198253"/>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41" name="Rectangle 40">
            <a:extLst>
              <a:ext uri="{FF2B5EF4-FFF2-40B4-BE49-F238E27FC236}">
                <a16:creationId xmlns:a16="http://schemas.microsoft.com/office/drawing/2014/main" id="{28035E0E-70A8-CEEA-2A30-67DE68C82D18}"/>
              </a:ext>
            </a:extLst>
          </p:cNvPr>
          <p:cNvSpPr/>
          <p:nvPr/>
        </p:nvSpPr>
        <p:spPr>
          <a:xfrm>
            <a:off x="5506420" y="3631402"/>
            <a:ext cx="1287068" cy="1100533"/>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“HELLO”</a:t>
            </a:r>
          </a:p>
          <a:p>
            <a:pPr algn="ctr"/>
            <a:r>
              <a:rPr lang="en-US" dirty="0">
                <a:solidFill>
                  <a:schemeClr val="tx1"/>
                </a:solidFill>
              </a:rPr>
              <a:t>Metadata</a:t>
            </a:r>
          </a:p>
          <a:p>
            <a:pPr algn="ctr"/>
            <a:r>
              <a:rPr lang="en-US" dirty="0">
                <a:solidFill>
                  <a:schemeClr val="tx1"/>
                </a:solidFill>
              </a:rPr>
              <a:t>“”</a:t>
            </a:r>
          </a:p>
        </p:txBody>
      </p:sp>
      <p:cxnSp>
        <p:nvCxnSpPr>
          <p:cNvPr id="44" name="Elbow Connector 43">
            <a:extLst>
              <a:ext uri="{FF2B5EF4-FFF2-40B4-BE49-F238E27FC236}">
                <a16:creationId xmlns:a16="http://schemas.microsoft.com/office/drawing/2014/main" id="{E384B3FB-8C42-E522-0946-42B9D7CC4AE9}"/>
              </a:ext>
            </a:extLst>
          </p:cNvPr>
          <p:cNvCxnSpPr>
            <a:cxnSpLocks/>
            <a:endCxn id="40" idx="0"/>
          </p:cNvCxnSpPr>
          <p:nvPr/>
        </p:nvCxnSpPr>
        <p:spPr>
          <a:xfrm rot="16200000" flipH="1">
            <a:off x="5200995" y="2249292"/>
            <a:ext cx="817193" cy="1080727"/>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283E723A-282E-3B06-D02D-EE13FC878515}"/>
              </a:ext>
            </a:extLst>
          </p:cNvPr>
          <p:cNvSpPr/>
          <p:nvPr/>
        </p:nvSpPr>
        <p:spPr>
          <a:xfrm>
            <a:off x="4462567"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sp>
        <p:nvSpPr>
          <p:cNvPr id="54" name="Rectangle 53">
            <a:extLst>
              <a:ext uri="{FF2B5EF4-FFF2-40B4-BE49-F238E27FC236}">
                <a16:creationId xmlns:a16="http://schemas.microsoft.com/office/drawing/2014/main" id="{5732E4C5-E49B-0765-B668-E741A1375A30}"/>
              </a:ext>
            </a:extLst>
          </p:cNvPr>
          <p:cNvSpPr/>
          <p:nvPr/>
        </p:nvSpPr>
        <p:spPr>
          <a:xfrm>
            <a:off x="4872263"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55" name="Rectangle 54">
            <a:extLst>
              <a:ext uri="{FF2B5EF4-FFF2-40B4-BE49-F238E27FC236}">
                <a16:creationId xmlns:a16="http://schemas.microsoft.com/office/drawing/2014/main" id="{5EFE8FD0-9D50-4E84-035B-75155962D099}"/>
              </a:ext>
            </a:extLst>
          </p:cNvPr>
          <p:cNvSpPr/>
          <p:nvPr/>
        </p:nvSpPr>
        <p:spPr>
          <a:xfrm>
            <a:off x="5280633"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
        <p:nvSpPr>
          <p:cNvPr id="56" name="Rectangle 55">
            <a:extLst>
              <a:ext uri="{FF2B5EF4-FFF2-40B4-BE49-F238E27FC236}">
                <a16:creationId xmlns:a16="http://schemas.microsoft.com/office/drawing/2014/main" id="{A6D312BB-EA40-71F3-C856-23EE76C7664B}"/>
              </a:ext>
            </a:extLst>
          </p:cNvPr>
          <p:cNvSpPr/>
          <p:nvPr/>
        </p:nvSpPr>
        <p:spPr>
          <a:xfrm>
            <a:off x="569032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57" name="Rectangle 56">
            <a:extLst>
              <a:ext uri="{FF2B5EF4-FFF2-40B4-BE49-F238E27FC236}">
                <a16:creationId xmlns:a16="http://schemas.microsoft.com/office/drawing/2014/main" id="{2740E480-6ED2-DC82-BA53-BDBF5B9A327F}"/>
              </a:ext>
            </a:extLst>
          </p:cNvPr>
          <p:cNvSpPr/>
          <p:nvPr/>
        </p:nvSpPr>
        <p:spPr>
          <a:xfrm>
            <a:off x="609869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
        <p:nvSpPr>
          <p:cNvPr id="58" name="Rectangle 57">
            <a:extLst>
              <a:ext uri="{FF2B5EF4-FFF2-40B4-BE49-F238E27FC236}">
                <a16:creationId xmlns:a16="http://schemas.microsoft.com/office/drawing/2014/main" id="{D332835A-5990-7DEC-20F6-6A802501A9AE}"/>
              </a:ext>
            </a:extLst>
          </p:cNvPr>
          <p:cNvSpPr/>
          <p:nvPr/>
        </p:nvSpPr>
        <p:spPr>
          <a:xfrm>
            <a:off x="6508395"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a:t>
            </a:r>
          </a:p>
        </p:txBody>
      </p:sp>
      <p:sp>
        <p:nvSpPr>
          <p:cNvPr id="59" name="Rectangle 58">
            <a:extLst>
              <a:ext uri="{FF2B5EF4-FFF2-40B4-BE49-F238E27FC236}">
                <a16:creationId xmlns:a16="http://schemas.microsoft.com/office/drawing/2014/main" id="{5C7A89B3-E9CC-7A01-91C8-F8E0D1E5C3DD}"/>
              </a:ext>
            </a:extLst>
          </p:cNvPr>
          <p:cNvSpPr/>
          <p:nvPr/>
        </p:nvSpPr>
        <p:spPr>
          <a:xfrm>
            <a:off x="6916765"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a:t>
            </a:r>
          </a:p>
        </p:txBody>
      </p:sp>
      <p:sp>
        <p:nvSpPr>
          <p:cNvPr id="196" name="Rectangle 195">
            <a:extLst>
              <a:ext uri="{FF2B5EF4-FFF2-40B4-BE49-F238E27FC236}">
                <a16:creationId xmlns:a16="http://schemas.microsoft.com/office/drawing/2014/main" id="{D8D69E9F-E05C-C20A-7236-EDABBEBA194A}"/>
              </a:ext>
            </a:extLst>
          </p:cNvPr>
          <p:cNvSpPr/>
          <p:nvPr/>
        </p:nvSpPr>
        <p:spPr>
          <a:xfrm>
            <a:off x="7318412"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sp>
        <p:nvSpPr>
          <p:cNvPr id="197" name="Rectangle 196">
            <a:extLst>
              <a:ext uri="{FF2B5EF4-FFF2-40B4-BE49-F238E27FC236}">
                <a16:creationId xmlns:a16="http://schemas.microsoft.com/office/drawing/2014/main" id="{CEB2D27B-BDF7-5603-93E0-CE5F0F2E58E5}"/>
              </a:ext>
            </a:extLst>
          </p:cNvPr>
          <p:cNvSpPr/>
          <p:nvPr/>
        </p:nvSpPr>
        <p:spPr>
          <a:xfrm>
            <a:off x="7728108"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198" name="Rectangle 197">
            <a:extLst>
              <a:ext uri="{FF2B5EF4-FFF2-40B4-BE49-F238E27FC236}">
                <a16:creationId xmlns:a16="http://schemas.microsoft.com/office/drawing/2014/main" id="{B2446A93-52B9-7130-3B70-A176D5A5B276}"/>
              </a:ext>
            </a:extLst>
          </p:cNvPr>
          <p:cNvSpPr/>
          <p:nvPr/>
        </p:nvSpPr>
        <p:spPr>
          <a:xfrm>
            <a:off x="8136478"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
        <p:nvSpPr>
          <p:cNvPr id="199" name="Rectangle 198">
            <a:extLst>
              <a:ext uri="{FF2B5EF4-FFF2-40B4-BE49-F238E27FC236}">
                <a16:creationId xmlns:a16="http://schemas.microsoft.com/office/drawing/2014/main" id="{D3E46C9D-6001-5953-20D3-1B7B1EE317F1}"/>
              </a:ext>
            </a:extLst>
          </p:cNvPr>
          <p:cNvSpPr/>
          <p:nvPr/>
        </p:nvSpPr>
        <p:spPr>
          <a:xfrm>
            <a:off x="8546174"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200" name="Rectangle 199">
            <a:extLst>
              <a:ext uri="{FF2B5EF4-FFF2-40B4-BE49-F238E27FC236}">
                <a16:creationId xmlns:a16="http://schemas.microsoft.com/office/drawing/2014/main" id="{21D8FDEC-2674-9603-E95C-390681930A94}"/>
              </a:ext>
            </a:extLst>
          </p:cNvPr>
          <p:cNvSpPr/>
          <p:nvPr/>
        </p:nvSpPr>
        <p:spPr>
          <a:xfrm>
            <a:off x="8954544"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
        <p:nvSpPr>
          <p:cNvPr id="201" name="Rectangle 200">
            <a:extLst>
              <a:ext uri="{FF2B5EF4-FFF2-40B4-BE49-F238E27FC236}">
                <a16:creationId xmlns:a16="http://schemas.microsoft.com/office/drawing/2014/main" id="{451D2D9A-0333-9133-D4B5-2A26F980FBC4}"/>
              </a:ext>
            </a:extLst>
          </p:cNvPr>
          <p:cNvSpPr/>
          <p:nvPr/>
        </p:nvSpPr>
        <p:spPr>
          <a:xfrm>
            <a:off x="9364240"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a:t>
            </a:r>
          </a:p>
        </p:txBody>
      </p:sp>
      <p:sp>
        <p:nvSpPr>
          <p:cNvPr id="202" name="Rectangle 201">
            <a:extLst>
              <a:ext uri="{FF2B5EF4-FFF2-40B4-BE49-F238E27FC236}">
                <a16:creationId xmlns:a16="http://schemas.microsoft.com/office/drawing/2014/main" id="{4A7B1646-D6C1-78E5-5CE5-C38DE52172A6}"/>
              </a:ext>
            </a:extLst>
          </p:cNvPr>
          <p:cNvSpPr/>
          <p:nvPr/>
        </p:nvSpPr>
        <p:spPr>
          <a:xfrm>
            <a:off x="9772610"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a:t>
            </a:r>
          </a:p>
        </p:txBody>
      </p:sp>
    </p:spTree>
    <p:extLst>
      <p:ext uri="{BB962C8B-B14F-4D97-AF65-F5344CB8AC3E}">
        <p14:creationId xmlns:p14="http://schemas.microsoft.com/office/powerpoint/2010/main" val="129417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9B009D7-761D-E063-D753-7641C7AEA7B5}"/>
            </a:ext>
          </a:extLst>
        </p:cNvPr>
        <p:cNvGrpSpPr/>
        <p:nvPr/>
      </p:nvGrpSpPr>
      <p:grpSpPr>
        <a:xfrm>
          <a:off x="0" y="0"/>
          <a:ext cx="0" cy="0"/>
          <a:chOff x="0" y="0"/>
          <a:chExt cx="0" cy="0"/>
        </a:xfrm>
      </p:grpSpPr>
      <p:sp>
        <p:nvSpPr>
          <p:cNvPr id="241" name="Google Shape;241;p13">
            <a:extLst>
              <a:ext uri="{FF2B5EF4-FFF2-40B4-BE49-F238E27FC236}">
                <a16:creationId xmlns:a16="http://schemas.microsoft.com/office/drawing/2014/main" id="{387DDBE2-33CB-35BE-A885-F714DFA3C58F}"/>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latin typeface="+mj-lt"/>
              </a:rPr>
              <a:t>A new hash table</a:t>
            </a:r>
            <a:endParaRPr dirty="0">
              <a:latin typeface="+mj-lt"/>
            </a:endParaRPr>
          </a:p>
        </p:txBody>
      </p:sp>
      <p:grpSp>
        <p:nvGrpSpPr>
          <p:cNvPr id="39" name="Group 38">
            <a:extLst>
              <a:ext uri="{FF2B5EF4-FFF2-40B4-BE49-F238E27FC236}">
                <a16:creationId xmlns:a16="http://schemas.microsoft.com/office/drawing/2014/main" id="{7367B3A6-0F4D-4046-FD68-6391C859B1B1}"/>
              </a:ext>
            </a:extLst>
          </p:cNvPr>
          <p:cNvGrpSpPr/>
          <p:nvPr/>
        </p:nvGrpSpPr>
        <p:grpSpPr>
          <a:xfrm>
            <a:off x="1547430" y="2337503"/>
            <a:ext cx="1287068" cy="1282551"/>
            <a:chOff x="609600" y="3945834"/>
            <a:chExt cx="1287068" cy="1282551"/>
          </a:xfrm>
        </p:grpSpPr>
        <p:sp>
          <p:nvSpPr>
            <p:cNvPr id="5" name="Rectangle 4">
              <a:extLst>
                <a:ext uri="{FF2B5EF4-FFF2-40B4-BE49-F238E27FC236}">
                  <a16:creationId xmlns:a16="http://schemas.microsoft.com/office/drawing/2014/main" id="{8E1592B8-F795-986C-7573-3B6F06430A24}"/>
                </a:ext>
              </a:extLst>
            </p:cNvPr>
            <p:cNvSpPr/>
            <p:nvPr/>
          </p:nvSpPr>
          <p:spPr>
            <a:xfrm>
              <a:off x="609601" y="3945834"/>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Dictionary</a:t>
              </a:r>
            </a:p>
          </p:txBody>
        </p:sp>
        <p:sp>
          <p:nvSpPr>
            <p:cNvPr id="6" name="Rectangle 5">
              <a:extLst>
                <a:ext uri="{FF2B5EF4-FFF2-40B4-BE49-F238E27FC236}">
                  <a16:creationId xmlns:a16="http://schemas.microsoft.com/office/drawing/2014/main" id="{4A914465-0920-217A-A60B-83522ADB353A}"/>
                </a:ext>
              </a:extLst>
            </p:cNvPr>
            <p:cNvSpPr/>
            <p:nvPr/>
          </p:nvSpPr>
          <p:spPr>
            <a:xfrm>
              <a:off x="609600" y="4378983"/>
              <a:ext cx="1287068" cy="849402"/>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Metadata</a:t>
              </a:r>
            </a:p>
            <a:p>
              <a:pPr algn="ctr"/>
              <a:r>
                <a:rPr lang="en-US" dirty="0">
                  <a:solidFill>
                    <a:schemeClr val="tx1"/>
                  </a:solidFill>
                </a:rPr>
                <a:t>Table[0]</a:t>
              </a:r>
            </a:p>
            <a:p>
              <a:pPr algn="ctr"/>
              <a:r>
                <a:rPr lang="en-US" dirty="0">
                  <a:solidFill>
                    <a:schemeClr val="tx1"/>
                  </a:solidFill>
                </a:rPr>
                <a:t>Table[1]</a:t>
              </a:r>
            </a:p>
          </p:txBody>
        </p:sp>
      </p:grpSp>
      <p:sp>
        <p:nvSpPr>
          <p:cNvPr id="11" name="Rectangle 10">
            <a:extLst>
              <a:ext uri="{FF2B5EF4-FFF2-40B4-BE49-F238E27FC236}">
                <a16:creationId xmlns:a16="http://schemas.microsoft.com/office/drawing/2014/main" id="{F19747D0-D1A1-D89D-06A9-0B625A65B512}"/>
              </a:ext>
            </a:extLst>
          </p:cNvPr>
          <p:cNvSpPr/>
          <p:nvPr/>
        </p:nvSpPr>
        <p:spPr>
          <a:xfrm>
            <a:off x="4456176" y="1082116"/>
            <a:ext cx="1630166"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 Array</a:t>
            </a:r>
          </a:p>
        </p:txBody>
      </p:sp>
      <p:sp>
        <p:nvSpPr>
          <p:cNvPr id="21" name="Rectangle 20">
            <a:extLst>
              <a:ext uri="{FF2B5EF4-FFF2-40B4-BE49-F238E27FC236}">
                <a16:creationId xmlns:a16="http://schemas.microsoft.com/office/drawing/2014/main" id="{78FD4A5B-3D12-EE75-BDBE-631BE8D78779}"/>
              </a:ext>
            </a:extLst>
          </p:cNvPr>
          <p:cNvSpPr/>
          <p:nvPr/>
        </p:nvSpPr>
        <p:spPr>
          <a:xfrm>
            <a:off x="4015998" y="3198253"/>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22" name="Rectangle 21">
            <a:extLst>
              <a:ext uri="{FF2B5EF4-FFF2-40B4-BE49-F238E27FC236}">
                <a16:creationId xmlns:a16="http://schemas.microsoft.com/office/drawing/2014/main" id="{72738D77-BBE2-D728-3B1D-B04A2A918BA4}"/>
              </a:ext>
            </a:extLst>
          </p:cNvPr>
          <p:cNvSpPr/>
          <p:nvPr/>
        </p:nvSpPr>
        <p:spPr>
          <a:xfrm>
            <a:off x="4015997" y="3631402"/>
            <a:ext cx="1287068" cy="1100533"/>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“FOO”</a:t>
            </a:r>
          </a:p>
          <a:p>
            <a:pPr algn="ctr"/>
            <a:r>
              <a:rPr lang="en-US" dirty="0">
                <a:solidFill>
                  <a:schemeClr val="tx1"/>
                </a:solidFill>
              </a:rPr>
              <a:t>Metadata</a:t>
            </a:r>
          </a:p>
          <a:p>
            <a:pPr algn="ctr"/>
            <a:r>
              <a:rPr lang="en-US" dirty="0">
                <a:solidFill>
                  <a:schemeClr val="tx1"/>
                </a:solidFill>
              </a:rPr>
              <a:t>“BAR”</a:t>
            </a:r>
          </a:p>
        </p:txBody>
      </p:sp>
      <p:cxnSp>
        <p:nvCxnSpPr>
          <p:cNvPr id="38" name="Elbow Connector 37">
            <a:extLst>
              <a:ext uri="{FF2B5EF4-FFF2-40B4-BE49-F238E27FC236}">
                <a16:creationId xmlns:a16="http://schemas.microsoft.com/office/drawing/2014/main" id="{D1CFF739-5315-4814-2927-BD3CCF927B3D}"/>
              </a:ext>
            </a:extLst>
          </p:cNvPr>
          <p:cNvCxnSpPr>
            <a:cxnSpLocks/>
            <a:endCxn id="11" idx="1"/>
          </p:cNvCxnSpPr>
          <p:nvPr/>
        </p:nvCxnSpPr>
        <p:spPr>
          <a:xfrm flipV="1">
            <a:off x="2552202" y="1298690"/>
            <a:ext cx="1903974" cy="1888715"/>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D58F246-B7EC-9485-CE91-CD2272645D21}"/>
              </a:ext>
            </a:extLst>
          </p:cNvPr>
          <p:cNvCxnSpPr>
            <a:cxnSpLocks/>
          </p:cNvCxnSpPr>
          <p:nvPr/>
        </p:nvCxnSpPr>
        <p:spPr>
          <a:xfrm>
            <a:off x="4659532" y="2389008"/>
            <a:ext cx="84" cy="806345"/>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40" name="Rectangle 39">
            <a:extLst>
              <a:ext uri="{FF2B5EF4-FFF2-40B4-BE49-F238E27FC236}">
                <a16:creationId xmlns:a16="http://schemas.microsoft.com/office/drawing/2014/main" id="{75949399-3D39-8DA0-1CFE-73D84414C225}"/>
              </a:ext>
            </a:extLst>
          </p:cNvPr>
          <p:cNvSpPr/>
          <p:nvPr/>
        </p:nvSpPr>
        <p:spPr>
          <a:xfrm>
            <a:off x="5506421" y="3198253"/>
            <a:ext cx="1287067" cy="433148"/>
          </a:xfrm>
          <a:prstGeom prst="rect">
            <a:avLst/>
          </a:prstGeom>
          <a:solidFill>
            <a:schemeClr val="bg1">
              <a:lumMod val="6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Dict</a:t>
            </a:r>
            <a:r>
              <a:rPr lang="en-US" dirty="0">
                <a:solidFill>
                  <a:schemeClr val="tx1"/>
                </a:solidFill>
              </a:rPr>
              <a:t> Entry</a:t>
            </a:r>
          </a:p>
        </p:txBody>
      </p:sp>
      <p:sp>
        <p:nvSpPr>
          <p:cNvPr id="41" name="Rectangle 40">
            <a:extLst>
              <a:ext uri="{FF2B5EF4-FFF2-40B4-BE49-F238E27FC236}">
                <a16:creationId xmlns:a16="http://schemas.microsoft.com/office/drawing/2014/main" id="{428EB51B-7549-6EB5-294E-977F48C1A3F6}"/>
              </a:ext>
            </a:extLst>
          </p:cNvPr>
          <p:cNvSpPr/>
          <p:nvPr/>
        </p:nvSpPr>
        <p:spPr>
          <a:xfrm>
            <a:off x="5506420" y="3631402"/>
            <a:ext cx="1287068" cy="1100533"/>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“HELLO”</a:t>
            </a:r>
          </a:p>
          <a:p>
            <a:pPr algn="ctr"/>
            <a:r>
              <a:rPr lang="en-US" dirty="0">
                <a:solidFill>
                  <a:schemeClr val="tx1"/>
                </a:solidFill>
              </a:rPr>
              <a:t>Metadata</a:t>
            </a:r>
          </a:p>
          <a:p>
            <a:pPr algn="ctr"/>
            <a:r>
              <a:rPr lang="en-US" dirty="0">
                <a:solidFill>
                  <a:schemeClr val="tx1"/>
                </a:solidFill>
              </a:rPr>
              <a:t>“”</a:t>
            </a:r>
          </a:p>
        </p:txBody>
      </p:sp>
      <p:cxnSp>
        <p:nvCxnSpPr>
          <p:cNvPr id="44" name="Elbow Connector 43">
            <a:extLst>
              <a:ext uri="{FF2B5EF4-FFF2-40B4-BE49-F238E27FC236}">
                <a16:creationId xmlns:a16="http://schemas.microsoft.com/office/drawing/2014/main" id="{6EF7969E-0D41-CDB9-35E5-C92042A83AE0}"/>
              </a:ext>
            </a:extLst>
          </p:cNvPr>
          <p:cNvCxnSpPr>
            <a:cxnSpLocks/>
            <a:endCxn id="40" idx="0"/>
          </p:cNvCxnSpPr>
          <p:nvPr/>
        </p:nvCxnSpPr>
        <p:spPr>
          <a:xfrm rot="16200000" flipH="1">
            <a:off x="5200995" y="2249292"/>
            <a:ext cx="817193" cy="1080727"/>
          </a:xfrm>
          <a:prstGeom prst="bentConnector3">
            <a:avLst>
              <a:gd name="adj1" fmla="val 50000"/>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78D6F14D-239E-B11D-4754-A764C115E148}"/>
              </a:ext>
            </a:extLst>
          </p:cNvPr>
          <p:cNvCxnSpPr>
            <a:cxnSpLocks/>
          </p:cNvCxnSpPr>
          <p:nvPr/>
        </p:nvCxnSpPr>
        <p:spPr>
          <a:xfrm>
            <a:off x="5477598" y="2381058"/>
            <a:ext cx="0" cy="256078"/>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D145F48-0D30-6273-7AF7-177D6AF53B30}"/>
              </a:ext>
            </a:extLst>
          </p:cNvPr>
          <p:cNvCxnSpPr>
            <a:cxnSpLocks/>
          </p:cNvCxnSpPr>
          <p:nvPr/>
        </p:nvCxnSpPr>
        <p:spPr>
          <a:xfrm>
            <a:off x="5887294" y="2389008"/>
            <a:ext cx="0" cy="256078"/>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080A7F2-C338-243A-E47A-2344080A4F27}"/>
              </a:ext>
            </a:extLst>
          </p:cNvPr>
          <p:cNvCxnSpPr>
            <a:cxnSpLocks/>
          </p:cNvCxnSpPr>
          <p:nvPr/>
        </p:nvCxnSpPr>
        <p:spPr>
          <a:xfrm>
            <a:off x="6295664" y="2386818"/>
            <a:ext cx="0" cy="256078"/>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8AF9432-4EFD-9755-C311-F4C81E984285}"/>
              </a:ext>
            </a:extLst>
          </p:cNvPr>
          <p:cNvCxnSpPr>
            <a:cxnSpLocks/>
          </p:cNvCxnSpPr>
          <p:nvPr/>
        </p:nvCxnSpPr>
        <p:spPr>
          <a:xfrm>
            <a:off x="6709810" y="2381058"/>
            <a:ext cx="0" cy="256078"/>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BA19AC7-CB04-FC5D-978D-3E9812EC44DE}"/>
              </a:ext>
            </a:extLst>
          </p:cNvPr>
          <p:cNvCxnSpPr>
            <a:cxnSpLocks/>
          </p:cNvCxnSpPr>
          <p:nvPr/>
        </p:nvCxnSpPr>
        <p:spPr>
          <a:xfrm>
            <a:off x="7108241" y="2389008"/>
            <a:ext cx="0" cy="256078"/>
          </a:xfrm>
          <a:prstGeom prst="straightConnector1">
            <a:avLst/>
          </a:prstGeom>
          <a:ln w="19050">
            <a:headEnd type="oval"/>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E13B2D6C-FA18-808A-62F6-73D8D1079E2B}"/>
              </a:ext>
            </a:extLst>
          </p:cNvPr>
          <p:cNvSpPr/>
          <p:nvPr/>
        </p:nvSpPr>
        <p:spPr>
          <a:xfrm>
            <a:off x="4456175" y="1515014"/>
            <a:ext cx="3278491"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Bucket 000</a:t>
            </a:r>
          </a:p>
        </p:txBody>
      </p:sp>
      <p:sp>
        <p:nvSpPr>
          <p:cNvPr id="34" name="Rectangle 33">
            <a:extLst>
              <a:ext uri="{FF2B5EF4-FFF2-40B4-BE49-F238E27FC236}">
                <a16:creationId xmlns:a16="http://schemas.microsoft.com/office/drawing/2014/main" id="{D56C7B0E-E0EC-58AD-0595-133BC761C8EC}"/>
              </a:ext>
            </a:extLst>
          </p:cNvPr>
          <p:cNvSpPr/>
          <p:nvPr/>
        </p:nvSpPr>
        <p:spPr>
          <a:xfrm>
            <a:off x="4462567"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sp>
        <p:nvSpPr>
          <p:cNvPr id="35" name="Rectangle 34">
            <a:extLst>
              <a:ext uri="{FF2B5EF4-FFF2-40B4-BE49-F238E27FC236}">
                <a16:creationId xmlns:a16="http://schemas.microsoft.com/office/drawing/2014/main" id="{7D8285CB-EE45-0561-49C9-789874BA0247}"/>
              </a:ext>
            </a:extLst>
          </p:cNvPr>
          <p:cNvSpPr/>
          <p:nvPr/>
        </p:nvSpPr>
        <p:spPr>
          <a:xfrm>
            <a:off x="4872263"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36" name="Rectangle 35">
            <a:extLst>
              <a:ext uri="{FF2B5EF4-FFF2-40B4-BE49-F238E27FC236}">
                <a16:creationId xmlns:a16="http://schemas.microsoft.com/office/drawing/2014/main" id="{B403FA09-3740-A0B2-E0A6-46FF0DA8820A}"/>
              </a:ext>
            </a:extLst>
          </p:cNvPr>
          <p:cNvSpPr/>
          <p:nvPr/>
        </p:nvSpPr>
        <p:spPr>
          <a:xfrm>
            <a:off x="5280633"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
        <p:nvSpPr>
          <p:cNvPr id="37" name="Rectangle 36">
            <a:extLst>
              <a:ext uri="{FF2B5EF4-FFF2-40B4-BE49-F238E27FC236}">
                <a16:creationId xmlns:a16="http://schemas.microsoft.com/office/drawing/2014/main" id="{FF7BFD7F-101B-85EA-169D-1788FC4853A9}"/>
              </a:ext>
            </a:extLst>
          </p:cNvPr>
          <p:cNvSpPr/>
          <p:nvPr/>
        </p:nvSpPr>
        <p:spPr>
          <a:xfrm>
            <a:off x="569032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42" name="Rectangle 41">
            <a:extLst>
              <a:ext uri="{FF2B5EF4-FFF2-40B4-BE49-F238E27FC236}">
                <a16:creationId xmlns:a16="http://schemas.microsoft.com/office/drawing/2014/main" id="{F1D2D0F0-EDF8-534B-40AA-21AA35047E0D}"/>
              </a:ext>
            </a:extLst>
          </p:cNvPr>
          <p:cNvSpPr/>
          <p:nvPr/>
        </p:nvSpPr>
        <p:spPr>
          <a:xfrm>
            <a:off x="609869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
        <p:nvSpPr>
          <p:cNvPr id="43" name="Rectangle 42">
            <a:extLst>
              <a:ext uri="{FF2B5EF4-FFF2-40B4-BE49-F238E27FC236}">
                <a16:creationId xmlns:a16="http://schemas.microsoft.com/office/drawing/2014/main" id="{4ACA477C-B8D7-7CD2-0651-9F3157DC9731}"/>
              </a:ext>
            </a:extLst>
          </p:cNvPr>
          <p:cNvSpPr/>
          <p:nvPr/>
        </p:nvSpPr>
        <p:spPr>
          <a:xfrm>
            <a:off x="6508395"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a:t>
            </a:r>
          </a:p>
        </p:txBody>
      </p:sp>
      <p:sp>
        <p:nvSpPr>
          <p:cNvPr id="45" name="Rectangle 44">
            <a:extLst>
              <a:ext uri="{FF2B5EF4-FFF2-40B4-BE49-F238E27FC236}">
                <a16:creationId xmlns:a16="http://schemas.microsoft.com/office/drawing/2014/main" id="{D69856E4-034F-EED7-929B-2BF8E6B0E25A}"/>
              </a:ext>
            </a:extLst>
          </p:cNvPr>
          <p:cNvSpPr/>
          <p:nvPr/>
        </p:nvSpPr>
        <p:spPr>
          <a:xfrm>
            <a:off x="6916765"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a:t>
            </a:r>
          </a:p>
        </p:txBody>
      </p:sp>
      <p:sp>
        <p:nvSpPr>
          <p:cNvPr id="53" name="Rectangle 52">
            <a:extLst>
              <a:ext uri="{FF2B5EF4-FFF2-40B4-BE49-F238E27FC236}">
                <a16:creationId xmlns:a16="http://schemas.microsoft.com/office/drawing/2014/main" id="{E6DBA2DC-D813-FDCE-BFB3-55FDC0DDDA48}"/>
              </a:ext>
            </a:extLst>
          </p:cNvPr>
          <p:cNvSpPr/>
          <p:nvPr/>
        </p:nvSpPr>
        <p:spPr>
          <a:xfrm>
            <a:off x="7324970"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X</a:t>
            </a:r>
          </a:p>
        </p:txBody>
      </p:sp>
      <p:sp>
        <p:nvSpPr>
          <p:cNvPr id="54" name="Rectangle 53">
            <a:extLst>
              <a:ext uri="{FF2B5EF4-FFF2-40B4-BE49-F238E27FC236}">
                <a16:creationId xmlns:a16="http://schemas.microsoft.com/office/drawing/2014/main" id="{A58AAA6C-F8BA-3392-33B0-4DBA18E9113B}"/>
              </a:ext>
            </a:extLst>
          </p:cNvPr>
          <p:cNvSpPr/>
          <p:nvPr/>
        </p:nvSpPr>
        <p:spPr>
          <a:xfrm>
            <a:off x="7729495" y="1515014"/>
            <a:ext cx="3278491"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Bucket 001</a:t>
            </a:r>
          </a:p>
        </p:txBody>
      </p:sp>
      <p:sp>
        <p:nvSpPr>
          <p:cNvPr id="55" name="Rectangle 54">
            <a:extLst>
              <a:ext uri="{FF2B5EF4-FFF2-40B4-BE49-F238E27FC236}">
                <a16:creationId xmlns:a16="http://schemas.microsoft.com/office/drawing/2014/main" id="{C35AF64B-70D8-A2FF-FD47-A4B29873BA0E}"/>
              </a:ext>
            </a:extLst>
          </p:cNvPr>
          <p:cNvSpPr/>
          <p:nvPr/>
        </p:nvSpPr>
        <p:spPr>
          <a:xfrm>
            <a:off x="7735887"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sp>
        <p:nvSpPr>
          <p:cNvPr id="56" name="Rectangle 55">
            <a:extLst>
              <a:ext uri="{FF2B5EF4-FFF2-40B4-BE49-F238E27FC236}">
                <a16:creationId xmlns:a16="http://schemas.microsoft.com/office/drawing/2014/main" id="{423456C5-DD13-0854-7B61-E54A9AEA495A}"/>
              </a:ext>
            </a:extLst>
          </p:cNvPr>
          <p:cNvSpPr/>
          <p:nvPr/>
        </p:nvSpPr>
        <p:spPr>
          <a:xfrm>
            <a:off x="8145583"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57" name="Rectangle 56">
            <a:extLst>
              <a:ext uri="{FF2B5EF4-FFF2-40B4-BE49-F238E27FC236}">
                <a16:creationId xmlns:a16="http://schemas.microsoft.com/office/drawing/2014/main" id="{DC6019F5-83F6-6355-4CD9-989E8B40BAA9}"/>
              </a:ext>
            </a:extLst>
          </p:cNvPr>
          <p:cNvSpPr/>
          <p:nvPr/>
        </p:nvSpPr>
        <p:spPr>
          <a:xfrm>
            <a:off x="8553953" y="194501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
        <p:nvSpPr>
          <p:cNvPr id="58" name="Rectangle 57">
            <a:extLst>
              <a:ext uri="{FF2B5EF4-FFF2-40B4-BE49-F238E27FC236}">
                <a16:creationId xmlns:a16="http://schemas.microsoft.com/office/drawing/2014/main" id="{6B5D60AC-A72C-9C69-E9C1-ABFE02EA95C0}"/>
              </a:ext>
            </a:extLst>
          </p:cNvPr>
          <p:cNvSpPr/>
          <p:nvPr/>
        </p:nvSpPr>
        <p:spPr>
          <a:xfrm>
            <a:off x="896364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59" name="Rectangle 58">
            <a:extLst>
              <a:ext uri="{FF2B5EF4-FFF2-40B4-BE49-F238E27FC236}">
                <a16:creationId xmlns:a16="http://schemas.microsoft.com/office/drawing/2014/main" id="{219037AC-EE5C-A7F5-99E2-5BBF4C7CFC31}"/>
              </a:ext>
            </a:extLst>
          </p:cNvPr>
          <p:cNvSpPr/>
          <p:nvPr/>
        </p:nvSpPr>
        <p:spPr>
          <a:xfrm>
            <a:off x="9372019"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
        <p:nvSpPr>
          <p:cNvPr id="60" name="Rectangle 59">
            <a:extLst>
              <a:ext uri="{FF2B5EF4-FFF2-40B4-BE49-F238E27FC236}">
                <a16:creationId xmlns:a16="http://schemas.microsoft.com/office/drawing/2014/main" id="{DDBBC69D-81EE-0D41-BB5E-FC9805CDB0A9}"/>
              </a:ext>
            </a:extLst>
          </p:cNvPr>
          <p:cNvSpPr/>
          <p:nvPr/>
        </p:nvSpPr>
        <p:spPr>
          <a:xfrm>
            <a:off x="9781715"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a:t>
            </a:r>
          </a:p>
        </p:txBody>
      </p:sp>
      <p:sp>
        <p:nvSpPr>
          <p:cNvPr id="61" name="Rectangle 60">
            <a:extLst>
              <a:ext uri="{FF2B5EF4-FFF2-40B4-BE49-F238E27FC236}">
                <a16:creationId xmlns:a16="http://schemas.microsoft.com/office/drawing/2014/main" id="{D967CD1D-5BC9-4444-79F9-BA133CBD7057}"/>
              </a:ext>
            </a:extLst>
          </p:cNvPr>
          <p:cNvSpPr/>
          <p:nvPr/>
        </p:nvSpPr>
        <p:spPr>
          <a:xfrm>
            <a:off x="10190085" y="194500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a:t>
            </a:r>
          </a:p>
        </p:txBody>
      </p:sp>
      <p:sp>
        <p:nvSpPr>
          <p:cNvPr id="62" name="Rectangle 61">
            <a:extLst>
              <a:ext uri="{FF2B5EF4-FFF2-40B4-BE49-F238E27FC236}">
                <a16:creationId xmlns:a16="http://schemas.microsoft.com/office/drawing/2014/main" id="{76F70A33-01A3-1803-768F-A14842871B1C}"/>
              </a:ext>
            </a:extLst>
          </p:cNvPr>
          <p:cNvSpPr/>
          <p:nvPr/>
        </p:nvSpPr>
        <p:spPr>
          <a:xfrm>
            <a:off x="10598290" y="1945008"/>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X</a:t>
            </a:r>
          </a:p>
        </p:txBody>
      </p:sp>
      <p:sp>
        <p:nvSpPr>
          <p:cNvPr id="63" name="Rectangle 62">
            <a:extLst>
              <a:ext uri="{FF2B5EF4-FFF2-40B4-BE49-F238E27FC236}">
                <a16:creationId xmlns:a16="http://schemas.microsoft.com/office/drawing/2014/main" id="{895197F0-FB18-FDAE-D692-68144A5EC42F}"/>
              </a:ext>
            </a:extLst>
          </p:cNvPr>
          <p:cNvSpPr/>
          <p:nvPr/>
        </p:nvSpPr>
        <p:spPr>
          <a:xfrm>
            <a:off x="7732773" y="4046695"/>
            <a:ext cx="3278491"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Bucket 000 (</a:t>
            </a:r>
            <a:r>
              <a:rPr lang="en-US" dirty="0" err="1">
                <a:solidFill>
                  <a:schemeClr val="tx1"/>
                </a:solidFill>
              </a:rPr>
              <a:t>cont</a:t>
            </a:r>
            <a:r>
              <a:rPr lang="en-US" dirty="0">
                <a:solidFill>
                  <a:schemeClr val="tx1"/>
                </a:solidFill>
              </a:rPr>
              <a:t>)</a:t>
            </a:r>
          </a:p>
        </p:txBody>
      </p:sp>
      <p:sp>
        <p:nvSpPr>
          <p:cNvPr id="192" name="Rectangle 191">
            <a:extLst>
              <a:ext uri="{FF2B5EF4-FFF2-40B4-BE49-F238E27FC236}">
                <a16:creationId xmlns:a16="http://schemas.microsoft.com/office/drawing/2014/main" id="{A3056D0D-5FAB-F57F-5618-B34878F6848E}"/>
              </a:ext>
            </a:extLst>
          </p:cNvPr>
          <p:cNvSpPr/>
          <p:nvPr/>
        </p:nvSpPr>
        <p:spPr>
          <a:xfrm>
            <a:off x="7739165" y="4476691"/>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sp>
        <p:nvSpPr>
          <p:cNvPr id="193" name="Rectangle 192">
            <a:extLst>
              <a:ext uri="{FF2B5EF4-FFF2-40B4-BE49-F238E27FC236}">
                <a16:creationId xmlns:a16="http://schemas.microsoft.com/office/drawing/2014/main" id="{8B2AAA67-BEEE-8188-DFAC-19C27E5145FC}"/>
              </a:ext>
            </a:extLst>
          </p:cNvPr>
          <p:cNvSpPr/>
          <p:nvPr/>
        </p:nvSpPr>
        <p:spPr>
          <a:xfrm>
            <a:off x="8148861" y="447669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sp>
        <p:nvSpPr>
          <p:cNvPr id="194" name="Rectangle 193">
            <a:extLst>
              <a:ext uri="{FF2B5EF4-FFF2-40B4-BE49-F238E27FC236}">
                <a16:creationId xmlns:a16="http://schemas.microsoft.com/office/drawing/2014/main" id="{CBD5CAAE-CBC6-93ED-ED3D-B1A1E9B1DF63}"/>
              </a:ext>
            </a:extLst>
          </p:cNvPr>
          <p:cNvSpPr/>
          <p:nvPr/>
        </p:nvSpPr>
        <p:spPr>
          <a:xfrm>
            <a:off x="8557231" y="4476691"/>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sp>
        <p:nvSpPr>
          <p:cNvPr id="195" name="Rectangle 194">
            <a:extLst>
              <a:ext uri="{FF2B5EF4-FFF2-40B4-BE49-F238E27FC236}">
                <a16:creationId xmlns:a16="http://schemas.microsoft.com/office/drawing/2014/main" id="{8AD5221A-FEA6-E65B-BD07-1935CFE876FB}"/>
              </a:ext>
            </a:extLst>
          </p:cNvPr>
          <p:cNvSpPr/>
          <p:nvPr/>
        </p:nvSpPr>
        <p:spPr>
          <a:xfrm>
            <a:off x="8966927" y="447669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196" name="Rectangle 195">
            <a:extLst>
              <a:ext uri="{FF2B5EF4-FFF2-40B4-BE49-F238E27FC236}">
                <a16:creationId xmlns:a16="http://schemas.microsoft.com/office/drawing/2014/main" id="{B5B916FE-2906-0AC9-95FB-505B96C1458F}"/>
              </a:ext>
            </a:extLst>
          </p:cNvPr>
          <p:cNvSpPr/>
          <p:nvPr/>
        </p:nvSpPr>
        <p:spPr>
          <a:xfrm>
            <a:off x="9375297" y="447669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a:t>
            </a:r>
          </a:p>
        </p:txBody>
      </p:sp>
      <p:sp>
        <p:nvSpPr>
          <p:cNvPr id="197" name="Rectangle 196">
            <a:extLst>
              <a:ext uri="{FF2B5EF4-FFF2-40B4-BE49-F238E27FC236}">
                <a16:creationId xmlns:a16="http://schemas.microsoft.com/office/drawing/2014/main" id="{ECCCEC5F-1D7E-A00A-5639-BECB044A8984}"/>
              </a:ext>
            </a:extLst>
          </p:cNvPr>
          <p:cNvSpPr/>
          <p:nvPr/>
        </p:nvSpPr>
        <p:spPr>
          <a:xfrm>
            <a:off x="9784993" y="447668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a:t>
            </a:r>
          </a:p>
        </p:txBody>
      </p:sp>
      <p:sp>
        <p:nvSpPr>
          <p:cNvPr id="198" name="Rectangle 197">
            <a:extLst>
              <a:ext uri="{FF2B5EF4-FFF2-40B4-BE49-F238E27FC236}">
                <a16:creationId xmlns:a16="http://schemas.microsoft.com/office/drawing/2014/main" id="{32B27416-CB08-447E-26F7-2815C6AE4657}"/>
              </a:ext>
            </a:extLst>
          </p:cNvPr>
          <p:cNvSpPr/>
          <p:nvPr/>
        </p:nvSpPr>
        <p:spPr>
          <a:xfrm>
            <a:off x="10193363" y="4476690"/>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a:t>
            </a:r>
          </a:p>
        </p:txBody>
      </p:sp>
      <p:sp>
        <p:nvSpPr>
          <p:cNvPr id="199" name="Rectangle 198">
            <a:extLst>
              <a:ext uri="{FF2B5EF4-FFF2-40B4-BE49-F238E27FC236}">
                <a16:creationId xmlns:a16="http://schemas.microsoft.com/office/drawing/2014/main" id="{37BB0290-09E1-4A3D-06B6-158B0993A9DC}"/>
              </a:ext>
            </a:extLst>
          </p:cNvPr>
          <p:cNvSpPr/>
          <p:nvPr/>
        </p:nvSpPr>
        <p:spPr>
          <a:xfrm>
            <a:off x="10601568" y="4476689"/>
            <a:ext cx="409696" cy="433148"/>
          </a:xfrm>
          <a:prstGeom prst="rect">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X</a:t>
            </a:r>
          </a:p>
        </p:txBody>
      </p:sp>
      <p:cxnSp>
        <p:nvCxnSpPr>
          <p:cNvPr id="200" name="Elbow Connector 199">
            <a:extLst>
              <a:ext uri="{FF2B5EF4-FFF2-40B4-BE49-F238E27FC236}">
                <a16:creationId xmlns:a16="http://schemas.microsoft.com/office/drawing/2014/main" id="{1EC70B66-328F-4484-61DE-0CF92BA87081}"/>
              </a:ext>
            </a:extLst>
          </p:cNvPr>
          <p:cNvCxnSpPr>
            <a:cxnSpLocks/>
            <a:endCxn id="63" idx="1"/>
          </p:cNvCxnSpPr>
          <p:nvPr/>
        </p:nvCxnSpPr>
        <p:spPr>
          <a:xfrm rot="16200000" flipH="1">
            <a:off x="6689907" y="3220403"/>
            <a:ext cx="1882212" cy="203520"/>
          </a:xfrm>
          <a:prstGeom prst="bentConnector2">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19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4"/>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a:t>A new hash table</a:t>
            </a:r>
            <a:endParaRPr/>
          </a:p>
        </p:txBody>
      </p:sp>
      <p:pic>
        <p:nvPicPr>
          <p:cNvPr id="250" name="Google Shape;250;p14" descr="memory usage with expire"/>
          <p:cNvPicPr preferRelativeResize="0"/>
          <p:nvPr/>
        </p:nvPicPr>
        <p:blipFill rotWithShape="1">
          <a:blip r:embed="rId3">
            <a:alphaModFix/>
          </a:blip>
          <a:srcRect/>
          <a:stretch/>
        </p:blipFill>
        <p:spPr>
          <a:xfrm>
            <a:off x="2802562" y="1617785"/>
            <a:ext cx="6586876" cy="39319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2"/>
          <p:cNvSpPr txBox="1">
            <a:spLocks noGrp="1"/>
          </p:cNvSpPr>
          <p:nvPr>
            <p:ph type="title"/>
          </p:nvPr>
        </p:nvSpPr>
        <p:spPr>
          <a:xfrm>
            <a:off x="609600" y="3124301"/>
            <a:ext cx="9194800" cy="609398"/>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lt1"/>
              </a:buClr>
              <a:buSzPts val="4400"/>
              <a:buFont typeface="Play"/>
              <a:buNone/>
            </a:pPr>
            <a:r>
              <a:rPr lang="en-US" dirty="0"/>
              <a:t>Performance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B4168394-5122-92D2-B270-6ED15912B87B}"/>
            </a:ext>
          </a:extLst>
        </p:cNvPr>
        <p:cNvGrpSpPr/>
        <p:nvPr/>
      </p:nvGrpSpPr>
      <p:grpSpPr>
        <a:xfrm>
          <a:off x="0" y="0"/>
          <a:ext cx="0" cy="0"/>
          <a:chOff x="0" y="0"/>
          <a:chExt cx="0" cy="0"/>
        </a:xfrm>
      </p:grpSpPr>
      <p:sp>
        <p:nvSpPr>
          <p:cNvPr id="204" name="Google Shape;204;p8">
            <a:extLst>
              <a:ext uri="{FF2B5EF4-FFF2-40B4-BE49-F238E27FC236}">
                <a16:creationId xmlns:a16="http://schemas.microsoft.com/office/drawing/2014/main" id="{5DA4E851-8D38-74E3-3456-193155366DED}"/>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Thread scalable command processing</a:t>
            </a:r>
            <a:endParaRPr dirty="0"/>
          </a:p>
        </p:txBody>
      </p:sp>
      <p:sp>
        <p:nvSpPr>
          <p:cNvPr id="3" name="TextBox 2">
            <a:extLst>
              <a:ext uri="{FF2B5EF4-FFF2-40B4-BE49-F238E27FC236}">
                <a16:creationId xmlns:a16="http://schemas.microsoft.com/office/drawing/2014/main" id="{A96B6976-8604-7323-0D54-7D80A6C2505C}"/>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cxnSp>
        <p:nvCxnSpPr>
          <p:cNvPr id="7" name="Straight Arrow Connector 6">
            <a:extLst>
              <a:ext uri="{FF2B5EF4-FFF2-40B4-BE49-F238E27FC236}">
                <a16:creationId xmlns:a16="http://schemas.microsoft.com/office/drawing/2014/main" id="{9809634D-B2A7-737F-8FC0-E8B1A084D109}"/>
              </a:ext>
            </a:extLst>
          </p:cNvPr>
          <p:cNvCxnSpPr>
            <a:cxnSpLocks/>
            <a:stCxn id="3" idx="2"/>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E486E458-3D2A-1365-EBBA-6308B6D7D74D}"/>
              </a:ext>
            </a:extLst>
          </p:cNvPr>
          <p:cNvSpPr/>
          <p:nvPr/>
        </p:nvSpPr>
        <p:spPr>
          <a:xfrm>
            <a:off x="2026488" y="323713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520EA42A-C85F-9E26-5904-9A9DD7116F76}"/>
              </a:ext>
            </a:extLst>
          </p:cNvPr>
          <p:cNvSpPr/>
          <p:nvPr/>
        </p:nvSpPr>
        <p:spPr>
          <a:xfrm>
            <a:off x="2026488" y="253609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4ACD480-E50B-1D9F-4276-542E43936E9B}"/>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E1FBF140-23D6-9040-CBA9-5E1EDFA6E576}"/>
              </a:ext>
            </a:extLst>
          </p:cNvPr>
          <p:cNvSpPr/>
          <p:nvPr/>
        </p:nvSpPr>
        <p:spPr>
          <a:xfrm>
            <a:off x="2026488" y="463921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5" name="Rectangle 14">
            <a:extLst>
              <a:ext uri="{FF2B5EF4-FFF2-40B4-BE49-F238E27FC236}">
                <a16:creationId xmlns:a16="http://schemas.microsoft.com/office/drawing/2014/main" id="{B1D723CF-8682-65AF-F6C1-5A83F1CCB50E}"/>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Tree>
    <p:extLst>
      <p:ext uri="{BB962C8B-B14F-4D97-AF65-F5344CB8AC3E}">
        <p14:creationId xmlns:p14="http://schemas.microsoft.com/office/powerpoint/2010/main" val="4013034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5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D7E97F79-46C6-811E-D34B-C365A7C70162}"/>
            </a:ext>
          </a:extLst>
        </p:cNvPr>
        <p:cNvGrpSpPr/>
        <p:nvPr/>
      </p:nvGrpSpPr>
      <p:grpSpPr>
        <a:xfrm>
          <a:off x="0" y="0"/>
          <a:ext cx="0" cy="0"/>
          <a:chOff x="0" y="0"/>
          <a:chExt cx="0" cy="0"/>
        </a:xfrm>
      </p:grpSpPr>
      <p:cxnSp>
        <p:nvCxnSpPr>
          <p:cNvPr id="35" name="Straight Arrow Connector 34">
            <a:extLst>
              <a:ext uri="{FF2B5EF4-FFF2-40B4-BE49-F238E27FC236}">
                <a16:creationId xmlns:a16="http://schemas.microsoft.com/office/drawing/2014/main" id="{ED40E30B-6A19-E643-12AE-304B7B62CA58}"/>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1635135-8F96-92A3-2F71-D2FDF4311C98}"/>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0249E35F-E488-02D0-338C-4760A01557D6}"/>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9F91FB1B-7E1C-DE36-BCC8-668E392BCAE4}"/>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CD65EBA5-D518-59EF-4662-F5E43023282E}"/>
              </a:ext>
            </a:extLst>
          </p:cNvPr>
          <p:cNvSpPr/>
          <p:nvPr/>
        </p:nvSpPr>
        <p:spPr>
          <a:xfrm>
            <a:off x="5435601" y="324731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24B549CF-AF68-1191-6B8E-AAD410CF8293}"/>
              </a:ext>
            </a:extLst>
          </p:cNvPr>
          <p:cNvSpPr/>
          <p:nvPr/>
        </p:nvSpPr>
        <p:spPr>
          <a:xfrm>
            <a:off x="5435601" y="254627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08AA768-AF67-E8BC-CB74-A06578674FA8}"/>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FA5F99D9-7C8A-4F8E-35F5-C0BE9D5DBF2C}"/>
              </a:ext>
            </a:extLst>
          </p:cNvPr>
          <p:cNvSpPr/>
          <p:nvPr/>
        </p:nvSpPr>
        <p:spPr>
          <a:xfrm>
            <a:off x="5435601" y="464939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E343D248-3ED8-8F95-1577-84D8B3B3200D}"/>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41D5D44D-0518-9583-1E0E-D4B67151BE74}"/>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cxnSp>
        <p:nvCxnSpPr>
          <p:cNvPr id="18" name="Straight Arrow Connector 17">
            <a:extLst>
              <a:ext uri="{FF2B5EF4-FFF2-40B4-BE49-F238E27FC236}">
                <a16:creationId xmlns:a16="http://schemas.microsoft.com/office/drawing/2014/main" id="{47909952-3B7B-E04E-F3E8-A3055BECFF2F}"/>
              </a:ext>
            </a:extLst>
          </p:cNvPr>
          <p:cNvCxnSpPr>
            <a:cxnSpLocks/>
          </p:cNvCxnSpPr>
          <p:nvPr/>
        </p:nvCxnSpPr>
        <p:spPr>
          <a:xfrm>
            <a:off x="2686888" y="2433234"/>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670D54-FFA5-EE64-0FAB-0102E678C11B}"/>
              </a:ext>
            </a:extLst>
          </p:cNvPr>
          <p:cNvCxnSpPr>
            <a:cxnSpLocks/>
          </p:cNvCxnSpPr>
          <p:nvPr/>
        </p:nvCxnSpPr>
        <p:spPr>
          <a:xfrm flipH="1">
            <a:off x="2686888" y="3843580"/>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C31E20F-D9FD-974C-305B-B51D8B82324B}"/>
              </a:ext>
            </a:extLst>
          </p:cNvPr>
          <p:cNvCxnSpPr>
            <a:cxnSpLocks/>
          </p:cNvCxnSpPr>
          <p:nvPr/>
        </p:nvCxnSpPr>
        <p:spPr>
          <a:xfrm>
            <a:off x="2686888" y="4530671"/>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DCD1772-0EAF-AB10-B0EF-BBFB1CDC7EB3}"/>
              </a:ext>
            </a:extLst>
          </p:cNvPr>
          <p:cNvCxnSpPr>
            <a:cxnSpLocks/>
          </p:cNvCxnSpPr>
          <p:nvPr/>
        </p:nvCxnSpPr>
        <p:spPr>
          <a:xfrm flipH="1">
            <a:off x="2686888" y="5230019"/>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454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506BCF67-BCA9-2474-543F-22EAAEF12A9F}"/>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1169313F-48E8-BF5D-1F21-1725A7AFE54D}"/>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49B939F-9477-245C-949D-6C868F35CFCE}"/>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67351335-8BAD-91DC-147A-141D3D89FDF3}"/>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C1610955-5162-9D7F-2AD9-BF8850B12DD2}"/>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E9122D66-3A2C-0D7F-EA80-ABAADD20AD68}"/>
              </a:ext>
            </a:extLst>
          </p:cNvPr>
          <p:cNvSpPr/>
          <p:nvPr/>
        </p:nvSpPr>
        <p:spPr>
          <a:xfrm>
            <a:off x="5435600" y="254289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2D1B9D47-B0DC-3606-803B-A3B4111EC1F5}"/>
              </a:ext>
            </a:extLst>
          </p:cNvPr>
          <p:cNvSpPr/>
          <p:nvPr/>
        </p:nvSpPr>
        <p:spPr>
          <a:xfrm>
            <a:off x="5435601"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EA8E4E83-11A0-CACC-0B9D-F8457F9D73D1}"/>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68A31131-E8D9-0FAB-A014-2CF73A5A0D68}"/>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F48D26AE-22AA-90BC-178A-3099F79677DF}"/>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C2374E7B-EC91-B813-A8E4-31421E5A41D5}"/>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 name="Rectangle 1">
            <a:extLst>
              <a:ext uri="{FF2B5EF4-FFF2-40B4-BE49-F238E27FC236}">
                <a16:creationId xmlns:a16="http://schemas.microsoft.com/office/drawing/2014/main" id="{CA9313AE-5D4C-08C2-E19F-26E3662D8E95}"/>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BE6DD505-0AF6-DFE8-894F-1CF6D8B75D65}"/>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A608CFBF-B0F5-DBFE-8C4E-984E64597028}"/>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5" name="Rectangle 14">
            <a:extLst>
              <a:ext uri="{FF2B5EF4-FFF2-40B4-BE49-F238E27FC236}">
                <a16:creationId xmlns:a16="http://schemas.microsoft.com/office/drawing/2014/main" id="{1331C0FE-9079-574B-A629-45353941DBB9}"/>
              </a:ext>
            </a:extLst>
          </p:cNvPr>
          <p:cNvSpPr/>
          <p:nvPr/>
        </p:nvSpPr>
        <p:spPr>
          <a:xfrm>
            <a:off x="5435600"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6" name="Rectangle 15">
            <a:extLst>
              <a:ext uri="{FF2B5EF4-FFF2-40B4-BE49-F238E27FC236}">
                <a16:creationId xmlns:a16="http://schemas.microsoft.com/office/drawing/2014/main" id="{E838802B-24B4-B88B-B1B4-0A483C7E4D82}"/>
              </a:ext>
            </a:extLst>
          </p:cNvPr>
          <p:cNvSpPr/>
          <p:nvPr/>
        </p:nvSpPr>
        <p:spPr>
          <a:xfrm>
            <a:off x="2026488" y="466975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7" name="Rectangle 16">
            <a:extLst>
              <a:ext uri="{FF2B5EF4-FFF2-40B4-BE49-F238E27FC236}">
                <a16:creationId xmlns:a16="http://schemas.microsoft.com/office/drawing/2014/main" id="{DA233E90-82A1-7E86-E653-A074BDCA8CF5}"/>
              </a:ext>
            </a:extLst>
          </p:cNvPr>
          <p:cNvSpPr/>
          <p:nvPr/>
        </p:nvSpPr>
        <p:spPr>
          <a:xfrm>
            <a:off x="2026489" y="396506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9" name="Rectangle 18">
            <a:extLst>
              <a:ext uri="{FF2B5EF4-FFF2-40B4-BE49-F238E27FC236}">
                <a16:creationId xmlns:a16="http://schemas.microsoft.com/office/drawing/2014/main" id="{A0220357-53E2-2B2D-226B-E87F91A57CC5}"/>
              </a:ext>
            </a:extLst>
          </p:cNvPr>
          <p:cNvSpPr/>
          <p:nvPr/>
        </p:nvSpPr>
        <p:spPr>
          <a:xfrm>
            <a:off x="2026488" y="5381209"/>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Tree>
    <p:extLst>
      <p:ext uri="{BB962C8B-B14F-4D97-AF65-F5344CB8AC3E}">
        <p14:creationId xmlns:p14="http://schemas.microsoft.com/office/powerpoint/2010/main" val="1839777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44F03354-6456-5331-82B8-A83FB8615658}"/>
            </a:ext>
          </a:extLst>
        </p:cNvPr>
        <p:cNvGrpSpPr/>
        <p:nvPr/>
      </p:nvGrpSpPr>
      <p:grpSpPr>
        <a:xfrm>
          <a:off x="0" y="0"/>
          <a:ext cx="0" cy="0"/>
          <a:chOff x="0" y="0"/>
          <a:chExt cx="0" cy="0"/>
        </a:xfrm>
      </p:grpSpPr>
      <p:cxnSp>
        <p:nvCxnSpPr>
          <p:cNvPr id="38" name="Straight Arrow Connector 37">
            <a:extLst>
              <a:ext uri="{FF2B5EF4-FFF2-40B4-BE49-F238E27FC236}">
                <a16:creationId xmlns:a16="http://schemas.microsoft.com/office/drawing/2014/main" id="{5AFC6699-5D4D-D11B-5D9B-B5455AA89130}"/>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5B49CD53-974D-14A9-6386-B62DEEAA60B5}"/>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E86F0E1-84F6-A3BA-4DF6-DB52F951FD35}"/>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C44F9162-3707-223B-1869-4077994316B5}"/>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565B1B13-196D-53AB-6D95-E2184E66ECD8}"/>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12" name="Rectangle 11">
            <a:extLst>
              <a:ext uri="{FF2B5EF4-FFF2-40B4-BE49-F238E27FC236}">
                <a16:creationId xmlns:a16="http://schemas.microsoft.com/office/drawing/2014/main" id="{CF82C673-4929-FDA8-1E21-3524D7387A5E}"/>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4B7F1217-DFD6-73D1-CC97-012D5ED53A95}"/>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B415253F-2875-9C6D-BE6C-9F4C89236C01}"/>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8D3E1B0C-FF3F-2CD9-407A-006644880684}"/>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 name="Rectangle 1">
            <a:extLst>
              <a:ext uri="{FF2B5EF4-FFF2-40B4-BE49-F238E27FC236}">
                <a16:creationId xmlns:a16="http://schemas.microsoft.com/office/drawing/2014/main" id="{A9B62178-294C-03FC-7C2C-3DD8EA290C00}"/>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6DB929D1-11CB-1FA4-7426-4D13FC50A504}"/>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3077EF21-4435-A904-FEEE-20393EEBB2B4}"/>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29" name="Rectangle 28">
            <a:extLst>
              <a:ext uri="{FF2B5EF4-FFF2-40B4-BE49-F238E27FC236}">
                <a16:creationId xmlns:a16="http://schemas.microsoft.com/office/drawing/2014/main" id="{AEA1643A-06EA-9620-D764-DF18EAF43BAA}"/>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30" name="Rectangle 29">
            <a:extLst>
              <a:ext uri="{FF2B5EF4-FFF2-40B4-BE49-F238E27FC236}">
                <a16:creationId xmlns:a16="http://schemas.microsoft.com/office/drawing/2014/main" id="{3A6839E8-6810-3E62-B705-E82E0F606D5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1" name="Rectangle 30">
            <a:extLst>
              <a:ext uri="{FF2B5EF4-FFF2-40B4-BE49-F238E27FC236}">
                <a16:creationId xmlns:a16="http://schemas.microsoft.com/office/drawing/2014/main" id="{DF61AC68-5FF3-E1DD-C5C5-7519E5C61EB1}"/>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32" name="Rectangle 31">
            <a:extLst>
              <a:ext uri="{FF2B5EF4-FFF2-40B4-BE49-F238E27FC236}">
                <a16:creationId xmlns:a16="http://schemas.microsoft.com/office/drawing/2014/main" id="{CAD6213B-2F08-999F-070E-C373E43A5CD0}"/>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33" name="Rectangle 32">
            <a:extLst>
              <a:ext uri="{FF2B5EF4-FFF2-40B4-BE49-F238E27FC236}">
                <a16:creationId xmlns:a16="http://schemas.microsoft.com/office/drawing/2014/main" id="{B6BB9B95-515E-F789-0CBD-024CAB13BFE3}"/>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4" name="Rectangle 33">
            <a:extLst>
              <a:ext uri="{FF2B5EF4-FFF2-40B4-BE49-F238E27FC236}">
                <a16:creationId xmlns:a16="http://schemas.microsoft.com/office/drawing/2014/main" id="{64A2CE64-CBF3-29F6-88E2-7A7B61A6BBFB}"/>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35" name="TextBox 34">
            <a:extLst>
              <a:ext uri="{FF2B5EF4-FFF2-40B4-BE49-F238E27FC236}">
                <a16:creationId xmlns:a16="http://schemas.microsoft.com/office/drawing/2014/main" id="{B84721BD-8222-E5D1-66AA-8086C13ED357}"/>
              </a:ext>
            </a:extLst>
          </p:cNvPr>
          <p:cNvSpPr txBox="1"/>
          <p:nvPr/>
        </p:nvSpPr>
        <p:spPr>
          <a:xfrm>
            <a:off x="8729900" y="1243168"/>
            <a:ext cx="1550424" cy="400110"/>
          </a:xfrm>
          <a:prstGeom prst="rect">
            <a:avLst/>
          </a:prstGeom>
          <a:noFill/>
        </p:spPr>
        <p:txBody>
          <a:bodyPr wrap="none" rtlCol="0">
            <a:spAutoFit/>
          </a:bodyPr>
          <a:lstStyle/>
          <a:p>
            <a:r>
              <a:rPr lang="en-US" sz="2000" dirty="0">
                <a:latin typeface="+mn-lt"/>
              </a:rPr>
              <a:t>IO Thread 2</a:t>
            </a:r>
          </a:p>
        </p:txBody>
      </p:sp>
    </p:spTree>
    <p:extLst>
      <p:ext uri="{BB962C8B-B14F-4D97-AF65-F5344CB8AC3E}">
        <p14:creationId xmlns:p14="http://schemas.microsoft.com/office/powerpoint/2010/main" val="2656781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6B1464FE-0A3D-8F3D-3B2B-328D94D301D5}"/>
            </a:ext>
          </a:extLst>
        </p:cNvPr>
        <p:cNvGrpSpPr/>
        <p:nvPr/>
      </p:nvGrpSpPr>
      <p:grpSpPr>
        <a:xfrm>
          <a:off x="0" y="0"/>
          <a:ext cx="0" cy="0"/>
          <a:chOff x="0" y="0"/>
          <a:chExt cx="0" cy="0"/>
        </a:xfrm>
      </p:grpSpPr>
      <p:cxnSp>
        <p:nvCxnSpPr>
          <p:cNvPr id="33" name="Straight Arrow Connector 32">
            <a:extLst>
              <a:ext uri="{FF2B5EF4-FFF2-40B4-BE49-F238E27FC236}">
                <a16:creationId xmlns:a16="http://schemas.microsoft.com/office/drawing/2014/main" id="{79A85B11-3BF7-6519-3A00-9BCCCDFF4CA3}"/>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658F49ED-A353-A4C3-F42A-9BC7361DDF3E}"/>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660186D0-A621-4ACC-3A80-EA240BE1AB42}"/>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9B468260-7137-CF1E-6E4E-6F626E58FA69}"/>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DF88132F-F2EA-08A5-192D-C3145A5F4C84}"/>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09396504-883C-481A-CDE9-DC176826CE59}"/>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3A8C5709-BC27-4269-C836-D2A4E097180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110B780-EBCB-E8F1-F1DC-BBC30784A610}"/>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E09EF20B-97FF-DA75-DA16-09952FE556A4}"/>
              </a:ext>
            </a:extLst>
          </p:cNvPr>
          <p:cNvSpPr/>
          <p:nvPr/>
        </p:nvSpPr>
        <p:spPr>
          <a:xfrm>
            <a:off x="5427707" y="3881377"/>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932D0EAB-8B19-BB53-ADE3-BD415BFCA520}"/>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2" name="Rectangle 1">
            <a:extLst>
              <a:ext uri="{FF2B5EF4-FFF2-40B4-BE49-F238E27FC236}">
                <a16:creationId xmlns:a16="http://schemas.microsoft.com/office/drawing/2014/main" id="{239FBF1A-ECFC-D09A-1C48-983E23C1F181}"/>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251733B8-8094-1B65-67A3-ACE1DE4CEA55}"/>
              </a:ext>
            </a:extLst>
          </p:cNvPr>
          <p:cNvSpPr/>
          <p:nvPr/>
        </p:nvSpPr>
        <p:spPr>
          <a:xfrm>
            <a:off x="5431653" y="318008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C2542870-6FE9-386D-EAAB-9ED9B59D48BA}"/>
              </a:ext>
            </a:extLst>
          </p:cNvPr>
          <p:cNvSpPr/>
          <p:nvPr/>
        </p:nvSpPr>
        <p:spPr>
          <a:xfrm>
            <a:off x="5431654" y="2475385"/>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5" name="Rectangle 14">
            <a:extLst>
              <a:ext uri="{FF2B5EF4-FFF2-40B4-BE49-F238E27FC236}">
                <a16:creationId xmlns:a16="http://schemas.microsoft.com/office/drawing/2014/main" id="{BA8C6282-5CFA-AC02-1279-9840EA26736E}"/>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6" name="Rectangle 15">
            <a:extLst>
              <a:ext uri="{FF2B5EF4-FFF2-40B4-BE49-F238E27FC236}">
                <a16:creationId xmlns:a16="http://schemas.microsoft.com/office/drawing/2014/main" id="{78242C8E-D31D-688F-043F-F3C0F443EDBB}"/>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7" name="Rectangle 16">
            <a:extLst>
              <a:ext uri="{FF2B5EF4-FFF2-40B4-BE49-F238E27FC236}">
                <a16:creationId xmlns:a16="http://schemas.microsoft.com/office/drawing/2014/main" id="{7068AE74-8683-CB44-108C-40F4E39A2D4B}"/>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9" name="Rectangle 18">
            <a:extLst>
              <a:ext uri="{FF2B5EF4-FFF2-40B4-BE49-F238E27FC236}">
                <a16:creationId xmlns:a16="http://schemas.microsoft.com/office/drawing/2014/main" id="{D3BF260D-815A-8A80-E7AB-BFD501EEE01F}"/>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8" name="TextBox 17">
            <a:extLst>
              <a:ext uri="{FF2B5EF4-FFF2-40B4-BE49-F238E27FC236}">
                <a16:creationId xmlns:a16="http://schemas.microsoft.com/office/drawing/2014/main" id="{175FA9B4-8F44-5720-1D2E-D1F5734E1CC0}"/>
              </a:ext>
            </a:extLst>
          </p:cNvPr>
          <p:cNvSpPr txBox="1"/>
          <p:nvPr/>
        </p:nvSpPr>
        <p:spPr>
          <a:xfrm>
            <a:off x="8729900" y="1243168"/>
            <a:ext cx="1550424" cy="400110"/>
          </a:xfrm>
          <a:prstGeom prst="rect">
            <a:avLst/>
          </a:prstGeom>
          <a:noFill/>
        </p:spPr>
        <p:txBody>
          <a:bodyPr wrap="none" rtlCol="0">
            <a:spAutoFit/>
          </a:bodyPr>
          <a:lstStyle/>
          <a:p>
            <a:r>
              <a:rPr lang="en-US" sz="2000" dirty="0">
                <a:latin typeface="+mn-lt"/>
              </a:rPr>
              <a:t>IO Thread 2</a:t>
            </a:r>
          </a:p>
        </p:txBody>
      </p:sp>
      <p:sp>
        <p:nvSpPr>
          <p:cNvPr id="24" name="Rectangle 23">
            <a:extLst>
              <a:ext uri="{FF2B5EF4-FFF2-40B4-BE49-F238E27FC236}">
                <a16:creationId xmlns:a16="http://schemas.microsoft.com/office/drawing/2014/main" id="{5B6BF134-68A1-ECAF-EA9C-992FD0B12169}"/>
              </a:ext>
            </a:extLst>
          </p:cNvPr>
          <p:cNvSpPr/>
          <p:nvPr/>
        </p:nvSpPr>
        <p:spPr>
          <a:xfrm>
            <a:off x="2026488" y="3952262"/>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5" name="Rectangle 24">
            <a:extLst>
              <a:ext uri="{FF2B5EF4-FFF2-40B4-BE49-F238E27FC236}">
                <a16:creationId xmlns:a16="http://schemas.microsoft.com/office/drawing/2014/main" id="{4C41ACFD-8BF9-21EC-0623-4D74F6068B9D}"/>
              </a:ext>
            </a:extLst>
          </p:cNvPr>
          <p:cNvSpPr/>
          <p:nvPr/>
        </p:nvSpPr>
        <p:spPr>
          <a:xfrm>
            <a:off x="2026488"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6" name="Rectangle 25">
            <a:extLst>
              <a:ext uri="{FF2B5EF4-FFF2-40B4-BE49-F238E27FC236}">
                <a16:creationId xmlns:a16="http://schemas.microsoft.com/office/drawing/2014/main" id="{EDA84D00-595E-4C27-89C5-AEE4A0A8CB87}"/>
              </a:ext>
            </a:extLst>
          </p:cNvPr>
          <p:cNvSpPr/>
          <p:nvPr/>
        </p:nvSpPr>
        <p:spPr>
          <a:xfrm>
            <a:off x="2026488" y="18327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3" name="Rectangle 22">
            <a:extLst>
              <a:ext uri="{FF2B5EF4-FFF2-40B4-BE49-F238E27FC236}">
                <a16:creationId xmlns:a16="http://schemas.microsoft.com/office/drawing/2014/main" id="{93BD489A-8115-5256-B56E-326BB2117F6F}"/>
              </a:ext>
            </a:extLst>
          </p:cNvPr>
          <p:cNvSpPr/>
          <p:nvPr/>
        </p:nvSpPr>
        <p:spPr>
          <a:xfrm>
            <a:off x="5431654"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7" name="Rectangle 26">
            <a:extLst>
              <a:ext uri="{FF2B5EF4-FFF2-40B4-BE49-F238E27FC236}">
                <a16:creationId xmlns:a16="http://schemas.microsoft.com/office/drawing/2014/main" id="{5F5D34E0-5B38-C5A2-7E98-F1663860BD9D}"/>
              </a:ext>
            </a:extLst>
          </p:cNvPr>
          <p:cNvSpPr/>
          <p:nvPr/>
        </p:nvSpPr>
        <p:spPr>
          <a:xfrm>
            <a:off x="5427706" y="528397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28" name="Rectangle 27">
            <a:extLst>
              <a:ext uri="{FF2B5EF4-FFF2-40B4-BE49-F238E27FC236}">
                <a16:creationId xmlns:a16="http://schemas.microsoft.com/office/drawing/2014/main" id="{9467B169-8FC7-C1EB-D00B-BCC8BA747260}"/>
              </a:ext>
            </a:extLst>
          </p:cNvPr>
          <p:cNvSpPr/>
          <p:nvPr/>
        </p:nvSpPr>
        <p:spPr>
          <a:xfrm>
            <a:off x="5427706" y="458267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6" name="Rectangle 35">
            <a:extLst>
              <a:ext uri="{FF2B5EF4-FFF2-40B4-BE49-F238E27FC236}">
                <a16:creationId xmlns:a16="http://schemas.microsoft.com/office/drawing/2014/main" id="{72DA592F-99AD-EAA3-F120-27E39DB82BE7}"/>
              </a:ext>
            </a:extLst>
          </p:cNvPr>
          <p:cNvSpPr/>
          <p:nvPr/>
        </p:nvSpPr>
        <p:spPr>
          <a:xfrm>
            <a:off x="2026488" y="536841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Tree>
    <p:extLst>
      <p:ext uri="{BB962C8B-B14F-4D97-AF65-F5344CB8AC3E}">
        <p14:creationId xmlns:p14="http://schemas.microsoft.com/office/powerpoint/2010/main" val="670526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1"/>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Multithreaded performance</a:t>
            </a:r>
            <a:endParaRPr dirty="0"/>
          </a:p>
        </p:txBody>
      </p:sp>
      <p:pic>
        <p:nvPicPr>
          <p:cNvPr id="229" name="Google Shape;229;p11" descr="Performance comparison between existing I/O threading implementation and the new I/O threading implementation available in Valkey 8."/>
          <p:cNvPicPr preferRelativeResize="0"/>
          <p:nvPr/>
        </p:nvPicPr>
        <p:blipFill rotWithShape="1">
          <a:blip r:embed="rId3">
            <a:alphaModFix/>
          </a:blip>
          <a:srcRect/>
          <a:stretch/>
        </p:blipFill>
        <p:spPr>
          <a:xfrm>
            <a:off x="2619425" y="1041895"/>
            <a:ext cx="6953150" cy="5416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77E7BE-1A78-75DF-8A0E-50731A5E846E}"/>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58415259-91B5-C935-6BB7-F51E23AA1D25}"/>
              </a:ext>
            </a:extLst>
          </p:cNvPr>
          <p:cNvSpPr>
            <a:spLocks noGrp="1"/>
          </p:cNvSpPr>
          <p:nvPr>
            <p:ph type="body" idx="2"/>
          </p:nvPr>
        </p:nvSpPr>
        <p:spPr/>
        <p:txBody>
          <a:bodyPr/>
          <a:lstStyle/>
          <a:p>
            <a:endParaRPr lang="en-US"/>
          </a:p>
        </p:txBody>
      </p:sp>
      <p:sp>
        <p:nvSpPr>
          <p:cNvPr id="4" name="Text Placeholder 3">
            <a:extLst>
              <a:ext uri="{FF2B5EF4-FFF2-40B4-BE49-F238E27FC236}">
                <a16:creationId xmlns:a16="http://schemas.microsoft.com/office/drawing/2014/main" id="{278918E4-8DFA-0D91-467A-B00DA259B7D4}"/>
              </a:ext>
            </a:extLst>
          </p:cNvPr>
          <p:cNvSpPr>
            <a:spLocks noGrp="1"/>
          </p:cNvSpPr>
          <p:nvPr>
            <p:ph type="body" idx="3"/>
          </p:nvPr>
        </p:nvSpPr>
        <p:spPr/>
        <p:txBody>
          <a:bodyPr/>
          <a:lstStyle/>
          <a:p>
            <a:endParaRPr lang="en-US"/>
          </a:p>
        </p:txBody>
      </p:sp>
      <p:sp>
        <p:nvSpPr>
          <p:cNvPr id="5" name="Text Placeholder 4">
            <a:extLst>
              <a:ext uri="{FF2B5EF4-FFF2-40B4-BE49-F238E27FC236}">
                <a16:creationId xmlns:a16="http://schemas.microsoft.com/office/drawing/2014/main" id="{C5A6A332-B058-44E6-3E71-7BB914ED47DA}"/>
              </a:ext>
            </a:extLst>
          </p:cNvPr>
          <p:cNvSpPr>
            <a:spLocks noGrp="1"/>
          </p:cNvSpPr>
          <p:nvPr>
            <p:ph type="body" idx="4"/>
          </p:nvPr>
        </p:nvSpPr>
        <p:spPr/>
        <p:txBody>
          <a:bodyPr/>
          <a:lstStyle/>
          <a:p>
            <a:endParaRPr lang="en-US"/>
          </a:p>
        </p:txBody>
      </p:sp>
    </p:spTree>
    <p:extLst>
      <p:ext uri="{BB962C8B-B14F-4D97-AF65-F5344CB8AC3E}">
        <p14:creationId xmlns:p14="http://schemas.microsoft.com/office/powerpoint/2010/main" val="9906505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423"/>
        <p:cNvGrpSpPr/>
        <p:nvPr/>
      </p:nvGrpSpPr>
      <p:grpSpPr>
        <a:xfrm>
          <a:off x="0" y="0"/>
          <a:ext cx="0" cy="0"/>
          <a:chOff x="0" y="0"/>
          <a:chExt cx="0" cy="0"/>
        </a:xfrm>
      </p:grpSpPr>
      <p:sp>
        <p:nvSpPr>
          <p:cNvPr id="424" name="Google Shape;424;p26"/>
          <p:cNvSpPr txBox="1">
            <a:spLocks noGrp="1"/>
          </p:cNvSpPr>
          <p:nvPr>
            <p:ph type="body" idx="1"/>
          </p:nvPr>
        </p:nvSpPr>
        <p:spPr>
          <a:xfrm>
            <a:off x="609597" y="1839354"/>
            <a:ext cx="6477003" cy="184666"/>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Clr>
                <a:schemeClr val="accent5"/>
              </a:buClr>
              <a:buSzPts val="1080"/>
              <a:buNone/>
            </a:pPr>
            <a:endParaRPr/>
          </a:p>
        </p:txBody>
      </p:sp>
      <p:sp>
        <p:nvSpPr>
          <p:cNvPr id="425" name="Google Shape;425;p26"/>
          <p:cNvSpPr txBox="1">
            <a:spLocks noGrp="1"/>
          </p:cNvSpPr>
          <p:nvPr>
            <p:ph type="title"/>
          </p:nvPr>
        </p:nvSpPr>
        <p:spPr>
          <a:xfrm>
            <a:off x="609597" y="2200683"/>
            <a:ext cx="6477003" cy="181251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1"/>
              </a:buClr>
              <a:buSzPts val="4400"/>
              <a:buFont typeface="Play"/>
              <a:buNone/>
            </a:pPr>
            <a:endParaRPr dirty="0"/>
          </a:p>
        </p:txBody>
      </p:sp>
      <p:sp>
        <p:nvSpPr>
          <p:cNvPr id="426" name="Google Shape;426;p26"/>
          <p:cNvSpPr txBox="1">
            <a:spLocks noGrp="1"/>
          </p:cNvSpPr>
          <p:nvPr>
            <p:ph type="body" idx="2"/>
          </p:nvPr>
        </p:nvSpPr>
        <p:spPr>
          <a:xfrm>
            <a:off x="609599" y="4312975"/>
            <a:ext cx="3154681" cy="615553"/>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Clr>
                <a:schemeClr val="lt1"/>
              </a:buClr>
              <a:buSzPts val="1800"/>
              <a:buNone/>
            </a:pPr>
            <a:endParaRPr dirty="0"/>
          </a:p>
        </p:txBody>
      </p:sp>
      <p:sp>
        <p:nvSpPr>
          <p:cNvPr id="427" name="Google Shape;427;p26"/>
          <p:cNvSpPr txBox="1">
            <a:spLocks noGrp="1"/>
          </p:cNvSpPr>
          <p:nvPr>
            <p:ph type="body" idx="3"/>
          </p:nvPr>
        </p:nvSpPr>
        <p:spPr>
          <a:xfrm>
            <a:off x="609599" y="4962720"/>
            <a:ext cx="3154681"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440"/>
              <a:buNone/>
            </a:pPr>
            <a:endParaRPr/>
          </a:p>
        </p:txBody>
      </p:sp>
      <p:sp>
        <p:nvSpPr>
          <p:cNvPr id="428" name="Google Shape;428;p26"/>
          <p:cNvSpPr txBox="1">
            <a:spLocks noGrp="1"/>
          </p:cNvSpPr>
          <p:nvPr>
            <p:ph type="body" idx="4"/>
          </p:nvPr>
        </p:nvSpPr>
        <p:spPr>
          <a:xfrm>
            <a:off x="3931919" y="4312975"/>
            <a:ext cx="3154681" cy="615553"/>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Clr>
                <a:schemeClr val="lt1"/>
              </a:buClr>
              <a:buSzPts val="1800"/>
              <a:buNone/>
            </a:pPr>
            <a:endParaRPr dirty="0"/>
          </a:p>
        </p:txBody>
      </p:sp>
      <p:sp>
        <p:nvSpPr>
          <p:cNvPr id="429" name="Google Shape;429;p26"/>
          <p:cNvSpPr txBox="1">
            <a:spLocks noGrp="1"/>
          </p:cNvSpPr>
          <p:nvPr>
            <p:ph type="body" idx="5"/>
          </p:nvPr>
        </p:nvSpPr>
        <p:spPr>
          <a:xfrm>
            <a:off x="3931919" y="4962720"/>
            <a:ext cx="3154681"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44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33"/>
        <p:cNvGrpSpPr/>
        <p:nvPr/>
      </p:nvGrpSpPr>
      <p:grpSpPr>
        <a:xfrm>
          <a:off x="0" y="0"/>
          <a:ext cx="0" cy="0"/>
          <a:chOff x="0" y="0"/>
          <a:chExt cx="0" cy="0"/>
        </a:xfrm>
      </p:grpSpPr>
      <p:sp>
        <p:nvSpPr>
          <p:cNvPr id="434" name="Google Shape;434;p27"/>
          <p:cNvSpPr txBox="1">
            <a:spLocks noGrp="1"/>
          </p:cNvSpPr>
          <p:nvPr>
            <p:ph type="title"/>
          </p:nvPr>
        </p:nvSpPr>
        <p:spPr>
          <a:xfrm>
            <a:off x="609600" y="2819603"/>
            <a:ext cx="9194800" cy="1218795"/>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lt1"/>
              </a:buClr>
              <a:buSzPts val="4400"/>
              <a:buFont typeface="Play"/>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444"/>
        <p:cNvGrpSpPr/>
        <p:nvPr/>
      </p:nvGrpSpPr>
      <p:grpSpPr>
        <a:xfrm>
          <a:off x="0" y="0"/>
          <a:ext cx="0" cy="0"/>
          <a:chOff x="0" y="0"/>
          <a:chExt cx="0" cy="0"/>
        </a:xfrm>
      </p:grpSpPr>
      <p:sp>
        <p:nvSpPr>
          <p:cNvPr id="445" name="Google Shape;445;p29"/>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endParaRPr dirty="0"/>
          </a:p>
        </p:txBody>
      </p:sp>
      <p:sp>
        <p:nvSpPr>
          <p:cNvPr id="446" name="Google Shape;446;p29"/>
          <p:cNvSpPr txBox="1">
            <a:spLocks noGrp="1"/>
          </p:cNvSpPr>
          <p:nvPr>
            <p:ph type="body" idx="1"/>
          </p:nvPr>
        </p:nvSpPr>
        <p:spPr>
          <a:xfrm>
            <a:off x="609600" y="1830787"/>
            <a:ext cx="11062800" cy="418025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160"/>
              <a:buNone/>
            </a:pPr>
            <a:endParaRPr dirty="0"/>
          </a:p>
        </p:txBody>
      </p:sp>
      <p:sp>
        <p:nvSpPr>
          <p:cNvPr id="447" name="Google Shape;447;p29"/>
          <p:cNvSpPr txBox="1">
            <a:spLocks noGrp="1"/>
          </p:cNvSpPr>
          <p:nvPr>
            <p:ph type="body" idx="2"/>
          </p:nvPr>
        </p:nvSpPr>
        <p:spPr>
          <a:xfrm>
            <a:off x="619125" y="857063"/>
            <a:ext cx="11062800" cy="16927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990"/>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51"/>
        <p:cNvGrpSpPr/>
        <p:nvPr/>
      </p:nvGrpSpPr>
      <p:grpSpPr>
        <a:xfrm>
          <a:off x="0" y="0"/>
          <a:ext cx="0" cy="0"/>
          <a:chOff x="0" y="0"/>
          <a:chExt cx="0" cy="0"/>
        </a:xfrm>
      </p:grpSpPr>
      <p:sp>
        <p:nvSpPr>
          <p:cNvPr id="452" name="Google Shape;452;p30"/>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lt1"/>
              </a:buClr>
              <a:buSzPts val="3200"/>
              <a:buFont typeface="Play"/>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456"/>
        <p:cNvGrpSpPr/>
        <p:nvPr/>
      </p:nvGrpSpPr>
      <p:grpSpPr>
        <a:xfrm>
          <a:off x="0" y="0"/>
          <a:ext cx="0" cy="0"/>
          <a:chOff x="0" y="0"/>
          <a:chExt cx="0" cy="0"/>
        </a:xfrm>
      </p:grpSpPr>
      <p:sp>
        <p:nvSpPr>
          <p:cNvPr id="457" name="Google Shape;457;p31"/>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endParaRPr dirty="0"/>
          </a:p>
        </p:txBody>
      </p:sp>
      <p:sp>
        <p:nvSpPr>
          <p:cNvPr id="458" name="Google Shape;458;p31"/>
          <p:cNvSpPr txBox="1">
            <a:spLocks noGrp="1"/>
          </p:cNvSpPr>
          <p:nvPr>
            <p:ph type="body" idx="1"/>
          </p:nvPr>
        </p:nvSpPr>
        <p:spPr>
          <a:xfrm>
            <a:off x="619125" y="857063"/>
            <a:ext cx="11062800" cy="16927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99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462"/>
        <p:cNvGrpSpPr/>
        <p:nvPr/>
      </p:nvGrpSpPr>
      <p:grpSpPr>
        <a:xfrm>
          <a:off x="0" y="0"/>
          <a:ext cx="0" cy="0"/>
          <a:chOff x="0" y="0"/>
          <a:chExt cx="0" cy="0"/>
        </a:xfrm>
      </p:grpSpPr>
      <p:sp>
        <p:nvSpPr>
          <p:cNvPr id="463" name="Google Shape;463;p32"/>
          <p:cNvSpPr txBox="1">
            <a:spLocks noGrp="1"/>
          </p:cNvSpPr>
          <p:nvPr>
            <p:ph type="title"/>
          </p:nvPr>
        </p:nvSpPr>
        <p:spPr>
          <a:xfrm>
            <a:off x="609599" y="400019"/>
            <a:ext cx="6809117"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endParaRPr/>
          </a:p>
        </p:txBody>
      </p:sp>
      <p:sp>
        <p:nvSpPr>
          <p:cNvPr id="464" name="Google Shape;464;p32"/>
          <p:cNvSpPr>
            <a:spLocks noGrp="1"/>
          </p:cNvSpPr>
          <p:nvPr>
            <p:ph type="pic" idx="2"/>
          </p:nvPr>
        </p:nvSpPr>
        <p:spPr>
          <a:xfrm>
            <a:off x="7884543" y="0"/>
            <a:ext cx="4307456" cy="6858000"/>
          </a:xfrm>
          <a:prstGeom prst="rect">
            <a:avLst/>
          </a:prstGeom>
          <a:solidFill>
            <a:schemeClr val="lt2"/>
          </a:solidFill>
          <a:ln>
            <a:noFill/>
          </a:ln>
        </p:spPr>
        <p:txBody>
          <a:bodyPr/>
          <a:lstStyle/>
          <a:p>
            <a:endParaRPr lang="en-US"/>
          </a:p>
        </p:txBody>
      </p:sp>
      <p:sp>
        <p:nvSpPr>
          <p:cNvPr id="465" name="Google Shape;465;p32"/>
          <p:cNvSpPr txBox="1">
            <a:spLocks noGrp="1"/>
          </p:cNvSpPr>
          <p:nvPr>
            <p:ph type="body" idx="1"/>
          </p:nvPr>
        </p:nvSpPr>
        <p:spPr>
          <a:xfrm>
            <a:off x="609600" y="1445932"/>
            <a:ext cx="6809116" cy="456511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160"/>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400019"/>
            <a:ext cx="11062800" cy="443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800" b="1">
                <a:solidFill>
                  <a:schemeClr val="dk1"/>
                </a:solidFill>
              </a:rPr>
              <a:t>Three queries, one answer</a:t>
            </a:r>
          </a:p>
        </p:txBody>
      </p:sp>
      <p:sp>
        <p:nvSpPr>
          <p:cNvPr id="3" name="Rectangle 2"/>
          <p:cNvSpPr/>
          <p:nvPr/>
        </p:nvSpPr>
        <p:spPr>
          <a:xfrm>
            <a:off x="609600" y="1445931"/>
            <a:ext cx="3554266" cy="1500000"/>
          </a:xfrm>
          <a:prstGeom prst="rect">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92480" y="1445931"/>
            <a:ext cx="3188506"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500" b="0">
                <a:solidFill>
                  <a:schemeClr val="dk1"/>
                </a:solidFill>
              </a:rPr>
              <a:t>"GET user:1001:session"</a:t>
            </a:r>
          </a:p>
        </p:txBody>
      </p:sp>
      <p:sp>
        <p:nvSpPr>
          <p:cNvPr id="5" name="Rectangle 4"/>
          <p:cNvSpPr/>
          <p:nvPr/>
        </p:nvSpPr>
        <p:spPr>
          <a:xfrm>
            <a:off x="4363866" y="1445931"/>
            <a:ext cx="3554266" cy="1500000"/>
          </a:xfrm>
          <a:prstGeom prst="rect">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46746" y="1445931"/>
            <a:ext cx="3188506"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500" b="0">
                <a:solidFill>
                  <a:schemeClr val="dk1"/>
                </a:solidFill>
              </a:rPr>
              <a:t>"HGETALL user:1001:profile"</a:t>
            </a:r>
          </a:p>
        </p:txBody>
      </p:sp>
      <p:sp>
        <p:nvSpPr>
          <p:cNvPr id="7" name="Rectangle 6"/>
          <p:cNvSpPr/>
          <p:nvPr/>
        </p:nvSpPr>
        <p:spPr>
          <a:xfrm>
            <a:off x="8118132" y="1445931"/>
            <a:ext cx="3554266" cy="1500000"/>
          </a:xfrm>
          <a:prstGeom prst="rect">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301012" y="1445931"/>
            <a:ext cx="3188506"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500" b="0">
                <a:solidFill>
                  <a:schemeClr val="dk1"/>
                </a:solidFill>
              </a:rPr>
              <a:t>"TTL user:1001:session"</a:t>
            </a:r>
          </a:p>
        </p:txBody>
      </p:sp>
      <p:sp>
        <p:nvSpPr>
          <p:cNvPr id="9" name="Rectangle 8"/>
          <p:cNvSpPr/>
          <p:nvPr/>
        </p:nvSpPr>
        <p:spPr>
          <a:xfrm>
            <a:off x="6095280" y="3145931"/>
            <a:ext cx="914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600" y="3803131"/>
            <a:ext cx="11062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chemeClr val="dk1"/>
                </a:solidFill>
              </a:rPr>
              <a:t>Different commands. Same connection pool.</a:t>
            </a:r>
          </a:p>
        </p:txBody>
      </p:sp>
      <p:sp>
        <p:nvSpPr>
          <p:cNvPr id="11" name="Rectangle 10"/>
          <p:cNvSpPr/>
          <p:nvPr/>
        </p:nvSpPr>
        <p:spPr>
          <a:xfrm>
            <a:off x="609600" y="4353131"/>
            <a:ext cx="11062800" cy="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0">
                <a:solidFill>
                  <a:schemeClr val="dk2"/>
                </a:solidFill>
              </a:rPr>
              <a:t>Valkey GLIDE manages connections, retries, and cluster routing so your code doesn't have to.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400019"/>
            <a:ext cx="11062800" cy="443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800" b="1" dirty="0">
                <a:solidFill>
                  <a:schemeClr val="dk1"/>
                </a:solidFill>
              </a:rPr>
              <a:t>Standalone vs. Cluster mode</a:t>
            </a:r>
          </a:p>
        </p:txBody>
      </p:sp>
      <p:sp>
        <p:nvSpPr>
          <p:cNvPr id="3" name="Rectangle 2"/>
          <p:cNvSpPr/>
          <p:nvPr/>
        </p:nvSpPr>
        <p:spPr>
          <a:xfrm>
            <a:off x="609600" y="1445931"/>
            <a:ext cx="5431400" cy="280000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1445931"/>
            <a:ext cx="5431400" cy="731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92480" y="1625931"/>
            <a:ext cx="5065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chemeClr val="dk2"/>
                </a:solidFill>
              </a:rPr>
              <a:t>Standalone</a:t>
            </a:r>
          </a:p>
        </p:txBody>
      </p:sp>
      <p:sp>
        <p:nvSpPr>
          <p:cNvPr id="6" name="Rectangle 5"/>
          <p:cNvSpPr/>
          <p:nvPr/>
        </p:nvSpPr>
        <p:spPr>
          <a:xfrm>
            <a:off x="792480" y="2025931"/>
            <a:ext cx="5065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400" b="1">
                <a:solidFill>
                  <a:schemeClr val="dk2"/>
                </a:solidFill>
              </a:rPr>
              <a:t>Simple &amp; fast</a:t>
            </a:r>
          </a:p>
        </p:txBody>
      </p:sp>
      <p:sp>
        <p:nvSpPr>
          <p:cNvPr id="7" name="Rectangle 6"/>
          <p:cNvSpPr/>
          <p:nvPr/>
        </p:nvSpPr>
        <p:spPr>
          <a:xfrm>
            <a:off x="792480" y="2545931"/>
            <a:ext cx="5065640"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r>
              <a:rPr sz="1300">
                <a:solidFill>
                  <a:schemeClr val="dk1"/>
                </a:solidFill>
              </a:rPr>
              <a:t>Single node, no sharding overhead.</a:t>
            </a:r>
          </a:p>
          <a:p>
            <a:r>
              <a:rPr sz="600"/>
              <a:t> </a:t>
            </a:r>
          </a:p>
          <a:p>
            <a:r>
              <a:rPr sz="1200">
                <a:solidFill>
                  <a:schemeClr val="dk2"/>
                </a:solidFill>
              </a:rPr>
              <a:t>Best for caching, sessions, and low-traffic workloads.</a:t>
            </a:r>
          </a:p>
        </p:txBody>
      </p:sp>
      <p:sp>
        <p:nvSpPr>
          <p:cNvPr id="8" name="Rectangle 7"/>
          <p:cNvSpPr/>
          <p:nvPr/>
        </p:nvSpPr>
        <p:spPr>
          <a:xfrm>
            <a:off x="6241000" y="1445931"/>
            <a:ext cx="5431400" cy="280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1000" y="1445931"/>
            <a:ext cx="5431400" cy="7315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23880" y="1625931"/>
            <a:ext cx="5065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1400" b="1">
                <a:solidFill>
                  <a:schemeClr val="dk2"/>
                </a:solidFill>
              </a:rPr>
              <a:t>Cluster mode</a:t>
            </a:r>
          </a:p>
        </p:txBody>
      </p:sp>
      <p:sp>
        <p:nvSpPr>
          <p:cNvPr id="11" name="Rectangle 10"/>
          <p:cNvSpPr/>
          <p:nvPr/>
        </p:nvSpPr>
        <p:spPr>
          <a:xfrm>
            <a:off x="6423880" y="2025931"/>
            <a:ext cx="5065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400" b="1">
                <a:solidFill>
                  <a:schemeClr val="dk2"/>
                </a:solidFill>
              </a:rPr>
              <a:t>Scale &amp; resilience</a:t>
            </a:r>
          </a:p>
        </p:txBody>
      </p:sp>
      <p:sp>
        <p:nvSpPr>
          <p:cNvPr id="12" name="Rectangle 11"/>
          <p:cNvSpPr/>
          <p:nvPr/>
        </p:nvSpPr>
        <p:spPr>
          <a:xfrm>
            <a:off x="6423880" y="2545931"/>
            <a:ext cx="5065640"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r>
              <a:rPr sz="1300">
                <a:solidFill>
                  <a:schemeClr val="dk1"/>
                </a:solidFill>
              </a:rPr>
              <a:t>Automatic sharding across nodes.</a:t>
            </a:r>
          </a:p>
          <a:p>
            <a:r>
              <a:rPr sz="600"/>
              <a:t> </a:t>
            </a:r>
          </a:p>
          <a:p>
            <a:r>
              <a:rPr sz="1200">
                <a:solidFill>
                  <a:schemeClr val="dk2"/>
                </a:solidFill>
              </a:rPr>
              <a:t>Higher throughput, built-in failover. More operational complexity.</a:t>
            </a:r>
          </a:p>
        </p:txBody>
      </p:sp>
      <p:sp>
        <p:nvSpPr>
          <p:cNvPr id="13" name="Rectangle 12"/>
          <p:cNvSpPr/>
          <p:nvPr/>
        </p:nvSpPr>
        <p:spPr>
          <a:xfrm>
            <a:off x="609600" y="4545931"/>
            <a:ext cx="11062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dk1"/>
                </a:solidFill>
              </a:rPr>
              <a:t>Start standalone. Move to cluster when you outgrow one node.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1445931"/>
            <a:ext cx="5431400" cy="4267200"/>
          </a:xfrm>
          <a:prstGeom prst="rect">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1445931"/>
            <a:ext cx="5431400" cy="731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92480" y="1625931"/>
            <a:ext cx="5065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dk1"/>
                </a:solidFill>
              </a:rPr>
              <a:t>Standalone</a:t>
            </a:r>
          </a:p>
        </p:txBody>
      </p:sp>
      <p:sp>
        <p:nvSpPr>
          <p:cNvPr id="6" name="Rectangle 5"/>
          <p:cNvSpPr/>
          <p:nvPr/>
        </p:nvSpPr>
        <p:spPr>
          <a:xfrm>
            <a:off x="792480" y="2095931"/>
            <a:ext cx="5065640" cy="351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200">
                <a:solidFill>
                  <a:schemeClr val="dk2"/>
                </a:solidFill>
              </a:rPr>
              <a:t>When simplicity is the priority.</a:t>
            </a:r>
          </a:p>
          <a:p>
            <a:r>
              <a:rPr sz="600"/>
              <a:t> </a:t>
            </a:r>
          </a:p>
          <a:p>
            <a:pPr algn="l"/>
            <a:r>
              <a:rPr sz="1300" b="1">
                <a:solidFill>
                  <a:schemeClr val="dk1"/>
                </a:solidFill>
              </a:rPr>
              <a:t>Microsecond latency</a:t>
            </a:r>
          </a:p>
          <a:p>
            <a:pPr algn="l"/>
            <a:r>
              <a:rPr sz="1100">
                <a:solidFill>
                  <a:schemeClr val="dk2"/>
                </a:solidFill>
              </a:rPr>
              <a:t>Single node, no network hops between shards</a:t>
            </a:r>
          </a:p>
          <a:p>
            <a:r>
              <a:rPr sz="600"/>
              <a:t> </a:t>
            </a:r>
          </a:p>
          <a:p>
            <a:pPr algn="l"/>
            <a:r>
              <a:rPr sz="1300" b="1">
                <a:solidFill>
                  <a:schemeClr val="dk1"/>
                </a:solidFill>
              </a:rPr>
              <a:t>Simple operations</a:t>
            </a:r>
          </a:p>
          <a:p>
            <a:pPr algn="l"/>
            <a:r>
              <a:rPr sz="1100">
                <a:solidFill>
                  <a:schemeClr val="dk2"/>
                </a:solidFill>
              </a:rPr>
              <a:t>No cluster topology to manage</a:t>
            </a:r>
          </a:p>
          <a:p>
            <a:r>
              <a:rPr sz="600"/>
              <a:t> </a:t>
            </a:r>
          </a:p>
          <a:p>
            <a:pPr algn="l"/>
            <a:r>
              <a:rPr sz="1300" b="1">
                <a:solidFill>
                  <a:schemeClr val="dk1"/>
                </a:solidFill>
              </a:rPr>
              <a:t>Vertical scaling</a:t>
            </a:r>
          </a:p>
          <a:p>
            <a:pPr algn="l"/>
            <a:r>
              <a:rPr sz="1100">
                <a:solidFill>
                  <a:schemeClr val="dk2"/>
                </a:solidFill>
              </a:rPr>
              <a:t>Scale up RAM and CPU on one machine</a:t>
            </a:r>
          </a:p>
          <a:p>
            <a:r>
              <a:rPr sz="600"/>
              <a:t> </a:t>
            </a:r>
          </a:p>
          <a:p>
            <a:pPr algn="l"/>
            <a:r>
              <a:rPr sz="1300" b="1">
                <a:solidFill>
                  <a:schemeClr val="dk1"/>
                </a:solidFill>
              </a:rPr>
              <a:t>Best for</a:t>
            </a:r>
          </a:p>
          <a:p>
            <a:pPr algn="l"/>
            <a:r>
              <a:rPr sz="1100">
                <a:solidFill>
                  <a:schemeClr val="dk2"/>
                </a:solidFill>
              </a:rPr>
              <a:t>Caching, sessions, rate limiting, queues</a:t>
            </a:r>
          </a:p>
          <a:p>
            <a:r>
              <a:rPr sz="600"/>
              <a:t> </a:t>
            </a:r>
          </a:p>
        </p:txBody>
      </p:sp>
      <p:sp>
        <p:nvSpPr>
          <p:cNvPr id="7" name="Rectangle 6"/>
          <p:cNvSpPr/>
          <p:nvPr/>
        </p:nvSpPr>
        <p:spPr>
          <a:xfrm>
            <a:off x="6241000" y="1445931"/>
            <a:ext cx="5431400" cy="4267200"/>
          </a:xfrm>
          <a:prstGeom prst="rect">
            <a:avLst/>
          </a:prstGeom>
          <a:solidFill>
            <a:schemeClr val="l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41000" y="1445931"/>
            <a:ext cx="5431400" cy="73152"/>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23880" y="1625931"/>
            <a:ext cx="5065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dk1"/>
                </a:solidFill>
              </a:rPr>
              <a:t>Cluster</a:t>
            </a:r>
          </a:p>
        </p:txBody>
      </p:sp>
      <p:sp>
        <p:nvSpPr>
          <p:cNvPr id="10" name="Rectangle 9"/>
          <p:cNvSpPr/>
          <p:nvPr/>
        </p:nvSpPr>
        <p:spPr>
          <a:xfrm>
            <a:off x="6423880" y="2095931"/>
            <a:ext cx="5065640" cy="351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r>
              <a:rPr sz="1200">
                <a:solidFill>
                  <a:schemeClr val="dk2"/>
                </a:solidFill>
              </a:rPr>
              <a:t>When scale and availability matter.</a:t>
            </a:r>
          </a:p>
          <a:p>
            <a:r>
              <a:rPr sz="600"/>
              <a:t> </a:t>
            </a:r>
          </a:p>
          <a:p>
            <a:pPr algn="l"/>
            <a:r>
              <a:rPr sz="1300" b="1">
                <a:solidFill>
                  <a:schemeClr val="dk1"/>
                </a:solidFill>
              </a:rPr>
              <a:t>Horizontal scaling</a:t>
            </a:r>
          </a:p>
          <a:p>
            <a:pPr algn="l"/>
            <a:r>
              <a:rPr sz="1100">
                <a:solidFill>
                  <a:schemeClr val="dk2"/>
                </a:solidFill>
              </a:rPr>
              <a:t>Add nodes to grow beyond single-machine limits</a:t>
            </a:r>
          </a:p>
          <a:p>
            <a:r>
              <a:rPr sz="600"/>
              <a:t> </a:t>
            </a:r>
          </a:p>
          <a:p>
            <a:pPr algn="l"/>
            <a:r>
              <a:rPr sz="1300" b="1">
                <a:solidFill>
                  <a:schemeClr val="dk1"/>
                </a:solidFill>
              </a:rPr>
              <a:t>High availability</a:t>
            </a:r>
          </a:p>
          <a:p>
            <a:pPr algn="l"/>
            <a:r>
              <a:rPr sz="1100">
                <a:solidFill>
                  <a:schemeClr val="dk2"/>
                </a:solidFill>
              </a:rPr>
              <a:t>Automatic failover with replica promotion</a:t>
            </a:r>
          </a:p>
          <a:p>
            <a:r>
              <a:rPr sz="600"/>
              <a:t> </a:t>
            </a:r>
          </a:p>
          <a:p>
            <a:pPr algn="l"/>
            <a:r>
              <a:rPr sz="1300" b="1">
                <a:solidFill>
                  <a:schemeClr val="dk1"/>
                </a:solidFill>
              </a:rPr>
              <a:t>Data sharding</a:t>
            </a:r>
          </a:p>
          <a:p>
            <a:pPr algn="l"/>
            <a:r>
              <a:rPr sz="1100">
                <a:solidFill>
                  <a:schemeClr val="dk2"/>
                </a:solidFill>
              </a:rPr>
              <a:t>Keys distributed across slots automatically</a:t>
            </a:r>
          </a:p>
          <a:p>
            <a:r>
              <a:rPr sz="600"/>
              <a:t> </a:t>
            </a:r>
          </a:p>
          <a:p>
            <a:pPr algn="l"/>
            <a:r>
              <a:rPr sz="1300" b="1">
                <a:solidFill>
                  <a:schemeClr val="dk1"/>
                </a:solidFill>
              </a:rPr>
              <a:t>Best for</a:t>
            </a:r>
          </a:p>
          <a:p>
            <a:pPr algn="l"/>
            <a:r>
              <a:rPr sz="1100">
                <a:solidFill>
                  <a:schemeClr val="dk2"/>
                </a:solidFill>
              </a:rPr>
              <a:t>Large datasets, high throughput, production workloads</a:t>
            </a:r>
          </a:p>
          <a:p>
            <a:r>
              <a:rPr sz="600"/>
              <a:t> </a:t>
            </a:r>
          </a:p>
        </p:txBody>
      </p:sp>
      <p:sp>
        <p:nvSpPr>
          <p:cNvPr id="11" name="Rectangle 10">
            <a:extLst>
              <a:ext uri="{FF2B5EF4-FFF2-40B4-BE49-F238E27FC236}">
                <a16:creationId xmlns:a16="http://schemas.microsoft.com/office/drawing/2014/main" id="{308C0560-D0E1-CED9-47B8-6DF1CBC6CACE}"/>
              </a:ext>
            </a:extLst>
          </p:cNvPr>
          <p:cNvSpPr/>
          <p:nvPr/>
        </p:nvSpPr>
        <p:spPr>
          <a:xfrm>
            <a:off x="609600" y="400019"/>
            <a:ext cx="11062800" cy="4431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r>
              <a:rPr sz="2800" b="1" dirty="0">
                <a:solidFill>
                  <a:schemeClr val="dk1"/>
                </a:solidFill>
              </a:rPr>
              <a:t>Standalone vs. Cluster mode</a:t>
            </a:r>
          </a:p>
        </p:txBody>
      </p:sp>
    </p:spTree>
  </p:cSld>
  <p:clrMapOvr>
    <a:masterClrMapping/>
  </p:clrMapOvr>
</p:sld>
</file>

<file path=ppt/theme/theme1.xml><?xml version="1.0" encoding="utf-8"?>
<a:theme xmlns:a="http://schemas.openxmlformats.org/drawingml/2006/main" name="AWS AI Holdings">
  <a:themeElements>
    <a:clrScheme name="Valkey">
      <a:dk1>
        <a:srgbClr val="000000"/>
      </a:dk1>
      <a:lt1>
        <a:srgbClr val="FFFFFF"/>
      </a:lt1>
      <a:dk2>
        <a:srgbClr val="232F3E"/>
      </a:dk2>
      <a:lt2>
        <a:srgbClr val="F1F3F3"/>
      </a:lt2>
      <a:accent1>
        <a:srgbClr val="6983FF"/>
      </a:accent1>
      <a:accent2>
        <a:srgbClr val="1A2026"/>
      </a:accent2>
      <a:accent3>
        <a:srgbClr val="632637"/>
      </a:accent3>
      <a:accent4>
        <a:srgbClr val="30176E"/>
      </a:accent4>
      <a:accent5>
        <a:srgbClr val="BCB5E7"/>
      </a:accent5>
      <a:accent6>
        <a:srgbClr val="FBD8BF"/>
      </a:accent6>
      <a:hlink>
        <a:srgbClr val="6983FF"/>
      </a:hlink>
      <a:folHlink>
        <a:srgbClr val="6983FF"/>
      </a:folHlink>
    </a:clrScheme>
    <a:fontScheme name="Office">
      <a:majorFont>
        <a:latin typeface="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ne Brand 2022 Dark">
      <a:dk1>
        <a:srgbClr val="000000"/>
      </a:dk1>
      <a:lt1>
        <a:srgbClr val="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Office">
      <a:majorFont>
        <a:latin typeface="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15740</TotalTime>
  <Words>2755</Words>
  <Application>Microsoft Macintosh PowerPoint</Application>
  <PresentationFormat>Widescreen</PresentationFormat>
  <Paragraphs>462</Paragraphs>
  <Slides>43</Slides>
  <Notes>30</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Play</vt:lpstr>
      <vt:lpstr>Arial</vt:lpstr>
      <vt:lpstr>Century Gothic</vt:lpstr>
      <vt:lpstr>AWS AI Holdings</vt:lpstr>
      <vt:lpstr>PowerPoint Presentation</vt:lpstr>
      <vt:lpstr>Background</vt:lpstr>
      <vt:lpstr>Introducing the Valkey project</vt:lpstr>
      <vt:lpstr>Backed by industry leaders</vt:lpstr>
      <vt:lpstr>The Valkey project is thriving</vt:lpstr>
      <vt:lpstr>Latest developments in Valkey OSS</vt:lpstr>
      <vt:lpstr>Valkey 7.2 (April 2024)</vt:lpstr>
      <vt:lpstr>Valkey 8.0 (September 2024)</vt:lpstr>
      <vt:lpstr>Valkey 8.1 (April 2025)</vt:lpstr>
      <vt:lpstr>Valkey 9.0 (October 2025)</vt:lpstr>
      <vt:lpstr>Valkey 9.1 (May 2026)</vt:lpstr>
      <vt:lpstr>Get involved in the project</vt:lpstr>
      <vt:lpstr>Integrations</vt:lpstr>
      <vt:lpstr>Valkey module distribution</vt:lpstr>
      <vt:lpstr>Valkey GLIDE</vt:lpstr>
      <vt:lpstr>Migrations</vt:lpstr>
      <vt:lpstr>Migrating from Redis OSS to Valkey</vt:lpstr>
      <vt:lpstr>Strategies for migration</vt:lpstr>
      <vt:lpstr>Memory Efficiency</vt:lpstr>
      <vt:lpstr>A new hash table</vt:lpstr>
      <vt:lpstr>A new hash table</vt:lpstr>
      <vt:lpstr>A new hash table</vt:lpstr>
      <vt:lpstr>A new hash table</vt:lpstr>
      <vt:lpstr>A new hash table</vt:lpstr>
      <vt:lpstr>A new hash table</vt:lpstr>
      <vt:lpstr>A new hash table</vt:lpstr>
      <vt:lpstr>Performance</vt:lpstr>
      <vt:lpstr>Thread scalable command processing</vt:lpstr>
      <vt:lpstr>Thread scalable command processing</vt:lpstr>
      <vt:lpstr>Thread scalable command processing</vt:lpstr>
      <vt:lpstr>Thread scalable command processing</vt:lpstr>
      <vt:lpstr>Thread scalable command processing</vt:lpstr>
      <vt:lpstr>Multithreaded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Olson, Madelyn</dc:creator>
  <cp:lastModifiedBy>Olson, Madelyn</cp:lastModifiedBy>
  <cp:revision>28</cp:revision>
  <dcterms:created xsi:type="dcterms:W3CDTF">2025-04-15T18:05:46Z</dcterms:created>
  <dcterms:modified xsi:type="dcterms:W3CDTF">2026-05-22T22:50:31Z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2025-10-13T18:50:11Z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b81c3afb-3afe-4c07-b9bf-69177ff0e214</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